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5.xml" ContentType="application/vnd.openxmlformats-officedocument.presentationml.tags+xml"/>
  <Override PartName="/ppt/notesSlides/notesSlide29.xml" ContentType="application/vnd.openxmlformats-officedocument.presentationml.notesSlide+xml"/>
  <Override PartName="/ppt/tags/tag6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7.xml" ContentType="application/vnd.openxmlformats-officedocument.presentationml.tags+xml"/>
  <Override PartName="/ppt/notesSlides/notesSlide33.xml" ContentType="application/vnd.openxmlformats-officedocument.presentationml.notesSlide+xml"/>
  <Override PartName="/ppt/tags/tag8.xml" ContentType="application/vnd.openxmlformats-officedocument.presentationml.tags+xml"/>
  <Override PartName="/ppt/notesSlides/notesSlide34.xml" ContentType="application/vnd.openxmlformats-officedocument.presentationml.notesSlide+xml"/>
  <Override PartName="/ppt/tags/tag9.xml" ContentType="application/vnd.openxmlformats-officedocument.presentationml.tags+xml"/>
  <Override PartName="/ppt/notesSlides/notesSlide35.xml" ContentType="application/vnd.openxmlformats-officedocument.presentationml.notesSlide+xml"/>
  <Override PartName="/ppt/tags/tag10.xml" ContentType="application/vnd.openxmlformats-officedocument.presentationml.tags+xml"/>
  <Override PartName="/ppt/notesSlides/notesSlide36.xml" ContentType="application/vnd.openxmlformats-officedocument.presentationml.notesSlide+xml"/>
  <Override PartName="/ppt/tags/tag11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12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13.xml" ContentType="application/vnd.openxmlformats-officedocument.presentationml.tag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tags/tag14.xml" ContentType="application/vnd.openxmlformats-officedocument.presentationml.tags+xml"/>
  <Override PartName="/ppt/notesSlides/notesSlide54.xml" ContentType="application/vnd.openxmlformats-officedocument.presentationml.notesSlide+xml"/>
  <Override PartName="/ppt/tags/tag15.xml" ContentType="application/vnd.openxmlformats-officedocument.presentationml.tags+xml"/>
  <Override PartName="/ppt/notesSlides/notesSlide55.xml" ContentType="application/vnd.openxmlformats-officedocument.presentationml.notesSlide+xml"/>
  <Override PartName="/ppt/tags/tag16.xml" ContentType="application/vnd.openxmlformats-officedocument.presentationml.tags+xml"/>
  <Override PartName="/ppt/notesSlides/notesSlide56.xml" ContentType="application/vnd.openxmlformats-officedocument.presentationml.notesSlide+xml"/>
  <Override PartName="/ppt/tags/tag17.xml" ContentType="application/vnd.openxmlformats-officedocument.presentationml.tags+xml"/>
  <Override PartName="/ppt/notesSlides/notesSlide57.xml" ContentType="application/vnd.openxmlformats-officedocument.presentationml.notesSlide+xml"/>
  <Override PartName="/ppt/tags/tag18.xml" ContentType="application/vnd.openxmlformats-officedocument.presentationml.tags+xml"/>
  <Override PartName="/ppt/notesSlides/notesSlide58.xml" ContentType="application/vnd.openxmlformats-officedocument.presentationml.notesSlide+xml"/>
  <Override PartName="/ppt/tags/tag19.xml" ContentType="application/vnd.openxmlformats-officedocument.presentationml.tags+xml"/>
  <Override PartName="/ppt/notesSlides/notesSlide59.xml" ContentType="application/vnd.openxmlformats-officedocument.presentationml.notesSlide+xml"/>
  <Override PartName="/ppt/tags/tag20.xml" ContentType="application/vnd.openxmlformats-officedocument.presentationml.tags+xml"/>
  <Override PartName="/ppt/notesSlides/notesSlide60.xml" ContentType="application/vnd.openxmlformats-officedocument.presentationml.notesSlide+xml"/>
  <Override PartName="/ppt/tags/tag21.xml" ContentType="application/vnd.openxmlformats-officedocument.presentationml.tags+xml"/>
  <Override PartName="/ppt/notesSlides/notesSlide61.xml" ContentType="application/vnd.openxmlformats-officedocument.presentationml.notesSlide+xml"/>
  <Override PartName="/ppt/tags/tag22.xml" ContentType="application/vnd.openxmlformats-officedocument.presentationml.tags+xml"/>
  <Override PartName="/ppt/notesSlides/notesSlide62.xml" ContentType="application/vnd.openxmlformats-officedocument.presentationml.notesSlide+xml"/>
  <Override PartName="/ppt/tags/tag23.xml" ContentType="application/vnd.openxmlformats-officedocument.presentationml.tags+xml"/>
  <Override PartName="/ppt/notesSlides/notesSlide63.xml" ContentType="application/vnd.openxmlformats-officedocument.presentationml.notesSlide+xml"/>
  <Override PartName="/ppt/tags/tag24.xml" ContentType="application/vnd.openxmlformats-officedocument.presentationml.tags+xml"/>
  <Override PartName="/ppt/notesSlides/notesSlide64.xml" ContentType="application/vnd.openxmlformats-officedocument.presentationml.notesSlide+xml"/>
  <Override PartName="/ppt/tags/tag25.xml" ContentType="application/vnd.openxmlformats-officedocument.presentationml.tags+xml"/>
  <Override PartName="/ppt/notesSlides/notesSlide65.xml" ContentType="application/vnd.openxmlformats-officedocument.presentationml.notesSlide+xml"/>
  <Override PartName="/ppt/tags/tag26.xml" ContentType="application/vnd.openxmlformats-officedocument.presentationml.tags+xml"/>
  <Override PartName="/ppt/notesSlides/notesSlide66.xml" ContentType="application/vnd.openxmlformats-officedocument.presentationml.notesSlide+xml"/>
  <Override PartName="/ppt/tags/tag27.xml" ContentType="application/vnd.openxmlformats-officedocument.presentationml.tags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tags/tag28.xml" ContentType="application/vnd.openxmlformats-officedocument.presentationml.tags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tags/tag29.xml" ContentType="application/vnd.openxmlformats-officedocument.presentationml.tags+xml"/>
  <Override PartName="/ppt/notesSlides/notesSlide95.xml" ContentType="application/vnd.openxmlformats-officedocument.presentationml.notesSlide+xml"/>
  <Override PartName="/ppt/tags/tag30.xml" ContentType="application/vnd.openxmlformats-officedocument.presentationml.tags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tags/tag31.xml" ContentType="application/vnd.openxmlformats-officedocument.presentationml.tags+xml"/>
  <Override PartName="/ppt/notesSlides/notesSlide98.xml" ContentType="application/vnd.openxmlformats-officedocument.presentationml.notesSlide+xml"/>
  <Override PartName="/ppt/tags/tag32.xml" ContentType="application/vnd.openxmlformats-officedocument.presentationml.tags+xml"/>
  <Override PartName="/ppt/notesSlides/notesSlide99.xml" ContentType="application/vnd.openxmlformats-officedocument.presentationml.notesSlide+xml"/>
  <Override PartName="/ppt/tags/tag33.xml" ContentType="application/vnd.openxmlformats-officedocument.presentationml.tags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tags/tag34.xml" ContentType="application/vnd.openxmlformats-officedocument.presentationml.tags+xml"/>
  <Override PartName="/ppt/notesSlides/notesSlide10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170"/>
  </p:notesMasterIdLst>
  <p:sldIdLst>
    <p:sldId id="256" r:id="rId2"/>
    <p:sldId id="257" r:id="rId3"/>
    <p:sldId id="258" r:id="rId4"/>
    <p:sldId id="270" r:id="rId5"/>
    <p:sldId id="271" r:id="rId6"/>
    <p:sldId id="260" r:id="rId7"/>
    <p:sldId id="546" r:id="rId8"/>
    <p:sldId id="477" r:id="rId9"/>
    <p:sldId id="263" r:id="rId10"/>
    <p:sldId id="265" r:id="rId11"/>
    <p:sldId id="264" r:id="rId12"/>
    <p:sldId id="267" r:id="rId13"/>
    <p:sldId id="278" r:id="rId14"/>
    <p:sldId id="279" r:id="rId15"/>
    <p:sldId id="547" r:id="rId16"/>
    <p:sldId id="607" r:id="rId17"/>
    <p:sldId id="283" r:id="rId18"/>
    <p:sldId id="579" r:id="rId19"/>
    <p:sldId id="268" r:id="rId20"/>
    <p:sldId id="304" r:id="rId21"/>
    <p:sldId id="305" r:id="rId22"/>
    <p:sldId id="306" r:id="rId23"/>
    <p:sldId id="308" r:id="rId24"/>
    <p:sldId id="580" r:id="rId25"/>
    <p:sldId id="581" r:id="rId26"/>
    <p:sldId id="583" r:id="rId27"/>
    <p:sldId id="575" r:id="rId28"/>
    <p:sldId id="576" r:id="rId29"/>
    <p:sldId id="577" r:id="rId30"/>
    <p:sldId id="578" r:id="rId31"/>
    <p:sldId id="585" r:id="rId32"/>
    <p:sldId id="586" r:id="rId33"/>
    <p:sldId id="291" r:id="rId34"/>
    <p:sldId id="285" r:id="rId35"/>
    <p:sldId id="584" r:id="rId36"/>
    <p:sldId id="288" r:id="rId37"/>
    <p:sldId id="287" r:id="rId38"/>
    <p:sldId id="289" r:id="rId39"/>
    <p:sldId id="486" r:id="rId40"/>
    <p:sldId id="316" r:id="rId41"/>
    <p:sldId id="317" r:id="rId42"/>
    <p:sldId id="480" r:id="rId43"/>
    <p:sldId id="319" r:id="rId44"/>
    <p:sldId id="514" r:id="rId45"/>
    <p:sldId id="481" r:id="rId46"/>
    <p:sldId id="482" r:id="rId47"/>
    <p:sldId id="608" r:id="rId48"/>
    <p:sldId id="321" r:id="rId49"/>
    <p:sldId id="483" r:id="rId50"/>
    <p:sldId id="323" r:id="rId51"/>
    <p:sldId id="587" r:id="rId52"/>
    <p:sldId id="325" r:id="rId53"/>
    <p:sldId id="326" r:id="rId54"/>
    <p:sldId id="588" r:id="rId55"/>
    <p:sldId id="338" r:id="rId56"/>
    <p:sldId id="590" r:id="rId57"/>
    <p:sldId id="589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6" r:id="rId67"/>
    <p:sldId id="571" r:id="rId68"/>
    <p:sldId id="337" r:id="rId69"/>
    <p:sldId id="548" r:id="rId70"/>
    <p:sldId id="335" r:id="rId71"/>
    <p:sldId id="340" r:id="rId72"/>
    <p:sldId id="341" r:id="rId73"/>
    <p:sldId id="342" r:id="rId74"/>
    <p:sldId id="343" r:id="rId75"/>
    <p:sldId id="591" r:id="rId76"/>
    <p:sldId id="592" r:id="rId77"/>
    <p:sldId id="593" r:id="rId78"/>
    <p:sldId id="344" r:id="rId79"/>
    <p:sldId id="594" r:id="rId80"/>
    <p:sldId id="345" r:id="rId81"/>
    <p:sldId id="346" r:id="rId82"/>
    <p:sldId id="348" r:id="rId83"/>
    <p:sldId id="347" r:id="rId84"/>
    <p:sldId id="353" r:id="rId85"/>
    <p:sldId id="355" r:id="rId86"/>
    <p:sldId id="356" r:id="rId87"/>
    <p:sldId id="357" r:id="rId88"/>
    <p:sldId id="358" r:id="rId89"/>
    <p:sldId id="359" r:id="rId90"/>
    <p:sldId id="370" r:id="rId91"/>
    <p:sldId id="371" r:id="rId92"/>
    <p:sldId id="372" r:id="rId93"/>
    <p:sldId id="360" r:id="rId94"/>
    <p:sldId id="373" r:id="rId95"/>
    <p:sldId id="374" r:id="rId96"/>
    <p:sldId id="364" r:id="rId97"/>
    <p:sldId id="375" r:id="rId98"/>
    <p:sldId id="367" r:id="rId99"/>
    <p:sldId id="368" r:id="rId100"/>
    <p:sldId id="549" r:id="rId101"/>
    <p:sldId id="550" r:id="rId102"/>
    <p:sldId id="551" r:id="rId103"/>
    <p:sldId id="595" r:id="rId104"/>
    <p:sldId id="553" r:id="rId105"/>
    <p:sldId id="554" r:id="rId106"/>
    <p:sldId id="555" r:id="rId107"/>
    <p:sldId id="556" r:id="rId108"/>
    <p:sldId id="557" r:id="rId109"/>
    <p:sldId id="558" r:id="rId110"/>
    <p:sldId id="559" r:id="rId111"/>
    <p:sldId id="560" r:id="rId112"/>
    <p:sldId id="561" r:id="rId113"/>
    <p:sldId id="562" r:id="rId114"/>
    <p:sldId id="563" r:id="rId115"/>
    <p:sldId id="564" r:id="rId116"/>
    <p:sldId id="565" r:id="rId117"/>
    <p:sldId id="516" r:id="rId118"/>
    <p:sldId id="566" r:id="rId119"/>
    <p:sldId id="567" r:id="rId120"/>
    <p:sldId id="568" r:id="rId121"/>
    <p:sldId id="569" r:id="rId122"/>
    <p:sldId id="570" r:id="rId123"/>
    <p:sldId id="517" r:id="rId124"/>
    <p:sldId id="518" r:id="rId125"/>
    <p:sldId id="519" r:id="rId126"/>
    <p:sldId id="520" r:id="rId127"/>
    <p:sldId id="521" r:id="rId128"/>
    <p:sldId id="609" r:id="rId129"/>
    <p:sldId id="269" r:id="rId130"/>
    <p:sldId id="598" r:id="rId131"/>
    <p:sldId id="292" r:id="rId132"/>
    <p:sldId id="293" r:id="rId133"/>
    <p:sldId id="296" r:id="rId134"/>
    <p:sldId id="297" r:id="rId135"/>
    <p:sldId id="298" r:id="rId136"/>
    <p:sldId id="294" r:id="rId137"/>
    <p:sldId id="295" r:id="rId138"/>
    <p:sldId id="600" r:id="rId139"/>
    <p:sldId id="599" r:id="rId140"/>
    <p:sldId id="602" r:id="rId141"/>
    <p:sldId id="601" r:id="rId142"/>
    <p:sldId id="610" r:id="rId143"/>
    <p:sldId id="611" r:id="rId144"/>
    <p:sldId id="612" r:id="rId145"/>
    <p:sldId id="613" r:id="rId146"/>
    <p:sldId id="303" r:id="rId147"/>
    <p:sldId id="432" r:id="rId148"/>
    <p:sldId id="309" r:id="rId149"/>
    <p:sldId id="311" r:id="rId150"/>
    <p:sldId id="312" r:id="rId151"/>
    <p:sldId id="313" r:id="rId152"/>
    <p:sldId id="314" r:id="rId153"/>
    <p:sldId id="376" r:id="rId154"/>
    <p:sldId id="382" r:id="rId155"/>
    <p:sldId id="603" r:id="rId156"/>
    <p:sldId id="380" r:id="rId157"/>
    <p:sldId id="379" r:id="rId158"/>
    <p:sldId id="381" r:id="rId159"/>
    <p:sldId id="384" r:id="rId160"/>
    <p:sldId id="385" r:id="rId161"/>
    <p:sldId id="386" r:id="rId162"/>
    <p:sldId id="405" r:id="rId163"/>
    <p:sldId id="387" r:id="rId164"/>
    <p:sldId id="604" r:id="rId165"/>
    <p:sldId id="605" r:id="rId166"/>
    <p:sldId id="522" r:id="rId167"/>
    <p:sldId id="523" r:id="rId168"/>
    <p:sldId id="606" r:id="rId169"/>
  </p:sldIdLst>
  <p:sldSz cx="12192000" cy="6858000"/>
  <p:notesSz cx="6858000" cy="9144000"/>
  <p:custDataLst>
    <p:tags r:id="rId17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655D4A-5D90-476B-ACFC-70A995BADD2F}">
          <p14:sldIdLst>
            <p14:sldId id="256"/>
            <p14:sldId id="257"/>
            <p14:sldId id="258"/>
          </p14:sldIdLst>
        </p14:section>
        <p14:section name="Числа" id="{471D7F22-F0C9-48B6-AAC4-6234B014161E}">
          <p14:sldIdLst>
            <p14:sldId id="270"/>
            <p14:sldId id="271"/>
            <p14:sldId id="260"/>
            <p14:sldId id="546"/>
            <p14:sldId id="477"/>
            <p14:sldId id="263"/>
            <p14:sldId id="265"/>
            <p14:sldId id="264"/>
            <p14:sldId id="267"/>
            <p14:sldId id="278"/>
            <p14:sldId id="279"/>
            <p14:sldId id="547"/>
            <p14:sldId id="607"/>
            <p14:sldId id="283"/>
            <p14:sldId id="579"/>
            <p14:sldId id="268"/>
            <p14:sldId id="304"/>
            <p14:sldId id="305"/>
            <p14:sldId id="306"/>
            <p14:sldId id="308"/>
            <p14:sldId id="580"/>
            <p14:sldId id="581"/>
            <p14:sldId id="583"/>
          </p14:sldIdLst>
        </p14:section>
        <p14:section name="Синонимы типов" id="{6BDEA9B9-0C9D-45B3-9C6E-4C64E941890F}">
          <p14:sldIdLst>
            <p14:sldId id="575"/>
            <p14:sldId id="576"/>
            <p14:sldId id="577"/>
            <p14:sldId id="578"/>
            <p14:sldId id="585"/>
            <p14:sldId id="586"/>
          </p14:sldIdLst>
        </p14:section>
        <p14:section name="Перечислимый тип" id="{DC4353FA-E4CD-4F2E-9942-69BE90E25C5B}">
          <p14:sldIdLst>
            <p14:sldId id="291"/>
            <p14:sldId id="285"/>
            <p14:sldId id="584"/>
            <p14:sldId id="288"/>
            <p14:sldId id="287"/>
            <p14:sldId id="289"/>
          </p14:sldIdLst>
        </p14:section>
        <p14:section name="Операторы" id="{8F5EA601-4308-4A6E-AC45-B85FC39CF690}">
          <p14:sldIdLst>
            <p14:sldId id="486"/>
            <p14:sldId id="316"/>
            <p14:sldId id="317"/>
            <p14:sldId id="480"/>
            <p14:sldId id="319"/>
            <p14:sldId id="514"/>
            <p14:sldId id="481"/>
            <p14:sldId id="482"/>
            <p14:sldId id="608"/>
            <p14:sldId id="321"/>
            <p14:sldId id="483"/>
            <p14:sldId id="323"/>
            <p14:sldId id="587"/>
            <p14:sldId id="325"/>
            <p14:sldId id="326"/>
            <p14:sldId id="588"/>
            <p14:sldId id="338"/>
            <p14:sldId id="590"/>
          </p14:sldIdLst>
        </p14:section>
        <p14:section name="Преобразование типов" id="{9A87B9E3-F10F-4310-ABB3-06EA7182DCCD}">
          <p14:sldIdLst>
            <p14:sldId id="589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6"/>
            <p14:sldId id="571"/>
            <p14:sldId id="337"/>
            <p14:sldId id="548"/>
            <p14:sldId id="335"/>
          </p14:sldIdLst>
        </p14:section>
        <p14:section name="Инструкции и ветвление" id="{863392E1-A8B2-43AF-BCB0-467A97831621}">
          <p14:sldIdLst>
            <p14:sldId id="340"/>
            <p14:sldId id="341"/>
            <p14:sldId id="342"/>
            <p14:sldId id="343"/>
            <p14:sldId id="591"/>
            <p14:sldId id="592"/>
            <p14:sldId id="593"/>
            <p14:sldId id="344"/>
            <p14:sldId id="594"/>
            <p14:sldId id="345"/>
            <p14:sldId id="346"/>
            <p14:sldId id="348"/>
            <p14:sldId id="347"/>
          </p14:sldIdLst>
        </p14:section>
        <p14:section name="Циклы" id="{81D964F1-B797-499F-959E-1F236E2878D0}">
          <p14:sldIdLst>
            <p14:sldId id="353"/>
            <p14:sldId id="355"/>
            <p14:sldId id="356"/>
            <p14:sldId id="357"/>
            <p14:sldId id="358"/>
            <p14:sldId id="359"/>
            <p14:sldId id="370"/>
            <p14:sldId id="371"/>
            <p14:sldId id="372"/>
            <p14:sldId id="360"/>
            <p14:sldId id="373"/>
            <p14:sldId id="374"/>
            <p14:sldId id="364"/>
            <p14:sldId id="375"/>
            <p14:sldId id="367"/>
            <p14:sldId id="368"/>
          </p14:sldIdLst>
        </p14:section>
        <p14:section name="Функции" id="{F3CBB449-6FCC-4FE0-84E3-52D9C444FD66}">
          <p14:sldIdLst>
            <p14:sldId id="549"/>
            <p14:sldId id="550"/>
            <p14:sldId id="551"/>
            <p14:sldId id="595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16"/>
            <p14:sldId id="566"/>
            <p14:sldId id="567"/>
            <p14:sldId id="568"/>
            <p14:sldId id="569"/>
            <p14:sldId id="570"/>
            <p14:sldId id="517"/>
            <p14:sldId id="518"/>
            <p14:sldId id="519"/>
            <p14:sldId id="520"/>
            <p14:sldId id="521"/>
            <p14:sldId id="609"/>
          </p14:sldIdLst>
        </p14:section>
        <p14:section name="Структуры" id="{794BD681-6FA8-4C73-B6B5-F8CFA02DF44F}">
          <p14:sldIdLst>
            <p14:sldId id="269"/>
            <p14:sldId id="598"/>
            <p14:sldId id="292"/>
            <p14:sldId id="293"/>
            <p14:sldId id="296"/>
            <p14:sldId id="297"/>
            <p14:sldId id="298"/>
            <p14:sldId id="294"/>
            <p14:sldId id="295"/>
            <p14:sldId id="600"/>
            <p14:sldId id="599"/>
            <p14:sldId id="602"/>
            <p14:sldId id="601"/>
          </p14:sldIdLst>
        </p14:section>
        <p14:section name="Многофайловые программы" id="{665C5135-743B-4E87-BF10-13A62FC1A48D}">
          <p14:sldIdLst>
            <p14:sldId id="610"/>
            <p14:sldId id="611"/>
            <p14:sldId id="612"/>
            <p14:sldId id="613"/>
          </p14:sldIdLst>
        </p14:section>
        <p14:section name="Массивы" id="{7F261873-303A-485C-9F28-E4A09F7B0931}">
          <p14:sldIdLst>
            <p14:sldId id="303"/>
            <p14:sldId id="432"/>
            <p14:sldId id="309"/>
            <p14:sldId id="311"/>
            <p14:sldId id="312"/>
            <p14:sldId id="313"/>
            <p14:sldId id="314"/>
          </p14:sldIdLst>
        </p14:section>
        <p14:section name="Ссылки" id="{FFFE7F68-BD8C-4D86-825F-1D7EF87954E3}">
          <p14:sldIdLst>
            <p14:sldId id="376"/>
            <p14:sldId id="382"/>
            <p14:sldId id="603"/>
            <p14:sldId id="380"/>
            <p14:sldId id="379"/>
            <p14:sldId id="381"/>
            <p14:sldId id="384"/>
            <p14:sldId id="385"/>
            <p14:sldId id="386"/>
          </p14:sldIdLst>
        </p14:section>
        <p14:section name="Пространства имён" id="{6F2FE1EE-37FB-47FE-93AC-1AE796999B30}">
          <p14:sldIdLst>
            <p14:sldId id="405"/>
            <p14:sldId id="387"/>
            <p14:sldId id="604"/>
            <p14:sldId id="605"/>
            <p14:sldId id="522"/>
            <p14:sldId id="523"/>
            <p14:sldId id="6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722E03-E50A-125D-914E-77E41B71B406}" name="Alexey Malov" initials="AM" userId="S::alexey.malov@ispring.com::84d975bf-7581-4e72-b098-b36a7b6fbb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0752" autoAdjust="0"/>
  </p:normalViewPr>
  <p:slideViewPr>
    <p:cSldViewPr>
      <p:cViewPr varScale="1">
        <p:scale>
          <a:sx n="66" d="100"/>
          <a:sy n="66" d="100"/>
        </p:scale>
        <p:origin x="2232" y="2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45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215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tags" Target="tags/tag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microsoft.com/office/2018/10/relationships/authors" Target="author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DCB6D-0B48-4A3D-B663-06C3F903A9D3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1285-F988-4153-B7C5-B887A867730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36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A2%D0%B8%D0%BF_%D0%B4%D0%B0%D0%BD%D0%BD%D1%8B%D1%85" TargetMode="External"/><Relationship Id="rId7" Type="http://schemas.openxmlformats.org/officeDocument/2006/relationships/hyperlink" Target="http://ru.wikipedia.org/wiki/%D0%A7%D0%B8%D1%81%D0%BB%D0%BE_%D1%81_%D0%BF%D0%BB%D0%B0%D0%B2%D0%B0%D1%8E%D1%89%D0%B5%D0%B9_%D0%B7%D0%B0%D0%BF%D1%8F%D1%82%D0%BE%D0%B9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ru.wikipedia.org/wiki/%D0%A6%D0%B5%D0%BB%D0%BE%D0%B5_%D1%87%D0%B8%D1%81%D0%BB%D0%BE" TargetMode="External"/><Relationship Id="rId5" Type="http://schemas.openxmlformats.org/officeDocument/2006/relationships/hyperlink" Target="http://ru.wikipedia.org/wiki/%D0%9F%D0%B0%D1%81%D0%BA%D0%B0%D0%BB%D1%8C_(%D1%8F%D0%B7%D1%8B%D0%BA_%D0%BF%D1%80%D0%BE%D0%B3%D1%80%D0%B0%D0%BC%D0%BC%D0%B8%D1%80%D0%BE%D0%B2%D0%B0%D0%BD%D0%B8%D1%8F)" TargetMode="External"/><Relationship Id="rId4" Type="http://schemas.openxmlformats.org/officeDocument/2006/relationships/hyperlink" Target="http://ru.wikipedia.org/wiki/%D0%90%D0%BB%D0%B3%D0%BE%D0%BB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5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700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175C98-FB1A-41D3-B037-21C0F959CE42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 dirty="0"/>
              <a:t>Си имеет ту же систему </a:t>
            </a:r>
            <a:r>
              <a:rPr lang="ru-RU" dirty="0">
                <a:hlinkClick r:id="rId3" tooltip="Тип данных"/>
              </a:rPr>
              <a:t>типов</a:t>
            </a:r>
            <a:r>
              <a:rPr lang="ru-RU" dirty="0"/>
              <a:t>, что и другие потомки </a:t>
            </a:r>
            <a:r>
              <a:rPr lang="ru-RU" dirty="0">
                <a:hlinkClick r:id="rId4" tooltip="Алгол"/>
              </a:rPr>
              <a:t>Алгола</a:t>
            </a:r>
            <a:r>
              <a:rPr lang="ru-RU" dirty="0"/>
              <a:t>, такие как </a:t>
            </a:r>
            <a:r>
              <a:rPr lang="ru-RU" dirty="0">
                <a:hlinkClick r:id="rId5" tooltip="Паскаль (язык программирования)"/>
              </a:rPr>
              <a:t>Паскаль</a:t>
            </a:r>
            <a:r>
              <a:rPr lang="ru-RU" dirty="0"/>
              <a:t>. Существуют типы для </a:t>
            </a:r>
            <a:r>
              <a:rPr lang="ru-RU" dirty="0">
                <a:hlinkClick r:id="rId6" tooltip="Целое число"/>
              </a:rPr>
              <a:t>целых чисел</a:t>
            </a:r>
            <a:r>
              <a:rPr lang="ru-RU" dirty="0"/>
              <a:t> различных размеров, имеющих знак и не имеющих его, </a:t>
            </a:r>
            <a:r>
              <a:rPr lang="ru-RU" dirty="0">
                <a:hlinkClick r:id="rId7" tooltip="Число с плавающей запятой"/>
              </a:rPr>
              <a:t>чисел с плавающей запятой</a:t>
            </a:r>
            <a:r>
              <a:rPr lang="ru-RU" dirty="0"/>
              <a:t>, символов, перечисляемых типов (</a:t>
            </a:r>
            <a:r>
              <a:rPr lang="ru-RU" b="1" dirty="0" err="1"/>
              <a:t>enum</a:t>
            </a:r>
            <a:r>
              <a:rPr lang="ru-RU" dirty="0"/>
              <a:t>) и структур (</a:t>
            </a:r>
            <a:r>
              <a:rPr lang="ru-RU" b="1" dirty="0" err="1"/>
              <a:t>struct</a:t>
            </a:r>
            <a:r>
              <a:rPr lang="ru-RU" dirty="0"/>
              <a:t>). Кроме того, язык Си имеет тип объединения (</a:t>
            </a:r>
            <a:r>
              <a:rPr lang="ru-RU" b="1" dirty="0" err="1"/>
              <a:t>union</a:t>
            </a:r>
            <a:r>
              <a:rPr lang="ru-RU" dirty="0"/>
              <a:t>), позволяющий программисту создавать структуры, способные хранить данные разных типов, но только одного типа единовременно. </a:t>
            </a:r>
          </a:p>
          <a:p>
            <a:pPr eaLnBrk="1" hangingPunct="1"/>
            <a:r>
              <a:rPr lang="ru-RU" dirty="0"/>
              <a:t>Массивы позволяют объединить несколько элементов вышеуказанных типы данных под одним именем и предоставить к ним доступ по целочисленному </a:t>
            </a:r>
            <a:r>
              <a:rPr lang="ru-RU" dirty="0" err="1"/>
              <a:t>интексу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1094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5F1091-68D4-46A5-A62A-D6E98A60997C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ru-RU"/>
              <a:t>Целая константа, например 1234, имеет тип </a:t>
            </a:r>
            <a:r>
              <a:rPr lang="ru-RU" b="1"/>
              <a:t>int</a:t>
            </a:r>
            <a:r>
              <a:rPr lang="ru-RU"/>
              <a:t>. Константа типа </a:t>
            </a:r>
            <a:r>
              <a:rPr lang="ru-RU" b="1"/>
              <a:t>long</a:t>
            </a:r>
            <a:r>
              <a:rPr lang="ru-RU"/>
              <a:t> завершается буквой </a:t>
            </a:r>
            <a:r>
              <a:rPr lang="ru-RU" b="1"/>
              <a:t>l</a:t>
            </a:r>
            <a:r>
              <a:rPr lang="ru-RU"/>
              <a:t> или </a:t>
            </a:r>
            <a:r>
              <a:rPr lang="ru-RU" b="1"/>
              <a:t>L</a:t>
            </a:r>
            <a:r>
              <a:rPr lang="ru-RU"/>
              <a:t>, например 123456789L: слишком большое целое, которое невозможно представить как </a:t>
            </a:r>
            <a:r>
              <a:rPr lang="ru-RU" b="1"/>
              <a:t>int</a:t>
            </a:r>
            <a:r>
              <a:rPr lang="ru-RU"/>
              <a:t>, будет представлено как </a:t>
            </a:r>
            <a:r>
              <a:rPr lang="ru-RU" b="1"/>
              <a:t>long</a:t>
            </a:r>
            <a:r>
              <a:rPr lang="ru-RU"/>
              <a:t>. Беззнаковые константы заканчиваются буквой </a:t>
            </a:r>
            <a:r>
              <a:rPr lang="ru-RU" b="1"/>
              <a:t>u</a:t>
            </a:r>
            <a:r>
              <a:rPr lang="ru-RU"/>
              <a:t> или </a:t>
            </a:r>
            <a:r>
              <a:rPr lang="ru-RU" b="1"/>
              <a:t>U</a:t>
            </a:r>
            <a:r>
              <a:rPr lang="ru-RU"/>
              <a:t>, а окончание </a:t>
            </a:r>
            <a:r>
              <a:rPr lang="ru-RU" b="1"/>
              <a:t>ul</a:t>
            </a:r>
            <a:r>
              <a:rPr lang="ru-RU"/>
              <a:t> или </a:t>
            </a:r>
            <a:r>
              <a:rPr lang="ru-RU" b="1"/>
              <a:t>UL</a:t>
            </a:r>
            <a:r>
              <a:rPr lang="ru-RU"/>
              <a:t> говорит о том, что тип константы - </a:t>
            </a:r>
            <a:r>
              <a:rPr lang="ru-RU" b="1"/>
              <a:t>unsigned long</a:t>
            </a:r>
            <a:r>
              <a:rPr lang="ru-RU"/>
              <a:t>. </a:t>
            </a:r>
          </a:p>
          <a:p>
            <a:pPr eaLnBrk="1" hangingPunct="1">
              <a:buFontTx/>
              <a:buChar char="•"/>
            </a:pPr>
            <a:r>
              <a:rPr lang="ru-RU"/>
              <a:t>Константы с плавающей точкой имеют десятичную точку (123.4), или экспоненциальную часть (1е-2), или же и то и другое. Если у них нет окончания, считается, что они принадлежат к типу </a:t>
            </a:r>
            <a:r>
              <a:rPr lang="ru-RU" b="1"/>
              <a:t>double</a:t>
            </a:r>
            <a:r>
              <a:rPr lang="ru-RU"/>
              <a:t>. Окончание </a:t>
            </a:r>
            <a:r>
              <a:rPr lang="ru-RU" b="1"/>
              <a:t>f</a:t>
            </a:r>
            <a:r>
              <a:rPr lang="ru-RU"/>
              <a:t> или </a:t>
            </a:r>
            <a:r>
              <a:rPr lang="ru-RU" b="1"/>
              <a:t>F</a:t>
            </a:r>
            <a:r>
              <a:rPr lang="ru-RU"/>
              <a:t> указывает на тип </a:t>
            </a:r>
            <a:r>
              <a:rPr lang="ru-RU" b="1"/>
              <a:t>float</a:t>
            </a:r>
            <a:r>
              <a:rPr lang="ru-RU"/>
              <a:t>, а </a:t>
            </a:r>
            <a:r>
              <a:rPr lang="ru-RU" b="1"/>
              <a:t>l</a:t>
            </a:r>
            <a:r>
              <a:rPr lang="ru-RU"/>
              <a:t> или </a:t>
            </a:r>
            <a:r>
              <a:rPr lang="ru-RU" b="1"/>
              <a:t>L</a:t>
            </a:r>
            <a:r>
              <a:rPr lang="ru-RU"/>
              <a:t> - на тип </a:t>
            </a:r>
            <a:r>
              <a:rPr lang="ru-RU" b="1"/>
              <a:t>long double</a:t>
            </a:r>
            <a:r>
              <a:rPr lang="ru-RU"/>
              <a:t>. </a:t>
            </a:r>
          </a:p>
          <a:p>
            <a:pPr eaLnBrk="1" hangingPunct="1">
              <a:buFontTx/>
              <a:buChar char="•"/>
            </a:pPr>
            <a:r>
              <a:rPr lang="ru-RU"/>
              <a:t>Целое значение помимо десятичного может иметь восьмеричное или шестнадцатеричное представление. Если константа начинается с нуля, то она представлена в восьмеричном виде, если с 0x или с 0X, то - в шестнадцатеричном. Например, десятичное целое 31 можно записать как 037 или как 0X1F. Записи восьмеричной и шестнадцатеричной констант могут завершаться буквой </a:t>
            </a:r>
            <a:r>
              <a:rPr lang="ru-RU" b="1"/>
              <a:t>L</a:t>
            </a:r>
            <a:r>
              <a:rPr lang="ru-RU"/>
              <a:t> (для указания на тип </a:t>
            </a:r>
            <a:r>
              <a:rPr lang="ru-RU" b="1"/>
              <a:t>long</a:t>
            </a:r>
            <a:r>
              <a:rPr lang="ru-RU"/>
              <a:t>) и </a:t>
            </a:r>
            <a:r>
              <a:rPr lang="ru-RU" b="1"/>
              <a:t>U</a:t>
            </a:r>
            <a:r>
              <a:rPr lang="ru-RU"/>
              <a:t> (если нужно показать, что константа беззнаковая). Например, константа 0XFUL имеет значение 15 и тип </a:t>
            </a:r>
            <a:r>
              <a:rPr lang="ru-RU" b="1"/>
              <a:t>unsigned long</a:t>
            </a:r>
            <a:r>
              <a:rPr lang="ru-RU"/>
              <a:t>.</a:t>
            </a:r>
          </a:p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2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192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9C8F7C-2BA4-427E-8D0C-7F24C2D019E5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913" y="4343400"/>
            <a:ext cx="6553200" cy="4405313"/>
          </a:xfrm>
          <a:noFill/>
          <a:ln/>
        </p:spPr>
        <p:txBody>
          <a:bodyPr/>
          <a:lstStyle/>
          <a:p>
            <a:r>
              <a:rPr lang="ru-RU" sz="800" dirty="0"/>
              <a:t>Символьная константа — это </a:t>
            </a:r>
            <a:r>
              <a:rPr lang="ru-RU" sz="800" b="1" dirty="0"/>
              <a:t>целое число</a:t>
            </a:r>
            <a:r>
              <a:rPr lang="ru-RU" sz="800" dirty="0"/>
              <a:t>, записанное в виде символа в одиночных кавычках.</a:t>
            </a:r>
          </a:p>
          <a:p>
            <a:r>
              <a:rPr lang="ru-RU" sz="800" dirty="0"/>
              <a:t>Значение зависит от кодировки, но использование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'0'</a:t>
            </a:r>
            <a:r>
              <a:rPr lang="ru-RU" sz="8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ru-RU" sz="800" dirty="0"/>
              <a:t> и т.п. делает код </a:t>
            </a:r>
            <a:r>
              <a:rPr lang="ru-RU" sz="800" b="1" dirty="0"/>
              <a:t>переносимым и читаемым</a:t>
            </a:r>
            <a:r>
              <a:rPr lang="ru-RU" sz="800" dirty="0"/>
              <a:t>.</a:t>
            </a:r>
          </a:p>
          <a:p>
            <a:r>
              <a:rPr lang="ru-RU" sz="800" dirty="0"/>
              <a:t>Символьные константы участвуют в арифметических операциях как обычные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800" dirty="0"/>
              <a:t>, но чаще используются для </a:t>
            </a:r>
            <a:r>
              <a:rPr lang="ru-RU" sz="800" b="1" dirty="0"/>
              <a:t>сравнения символов</a:t>
            </a:r>
            <a:r>
              <a:rPr lang="ru-RU" sz="800" dirty="0"/>
              <a:t>.</a:t>
            </a:r>
          </a:p>
          <a:p>
            <a:r>
              <a:rPr lang="ru-RU" sz="800" dirty="0"/>
              <a:t>Escape-последовательности выглядят как два символа, но обозначают </a:t>
            </a:r>
            <a:r>
              <a:rPr lang="ru-RU" sz="800" b="1" dirty="0"/>
              <a:t>один</a:t>
            </a:r>
            <a:r>
              <a:rPr lang="ru-RU" sz="800" dirty="0"/>
              <a:t>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'\n'</a:t>
            </a:r>
            <a:r>
              <a:rPr lang="ru-RU" sz="8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'\t'</a:t>
            </a:r>
            <a:r>
              <a:rPr lang="ru-RU" sz="8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sz="800" dirty="0"/>
              <a:t>).</a:t>
            </a:r>
          </a:p>
          <a:p>
            <a:r>
              <a:rPr lang="ru-RU" sz="800" dirty="0"/>
              <a:t>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sz="800" dirty="0"/>
              <a:t> часто используют вместо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sz="800" dirty="0"/>
              <a:t>, чтобы подчеркнуть, что речь идёт именно о </a:t>
            </a:r>
            <a:r>
              <a:rPr lang="ru-RU" sz="800" b="1" dirty="0"/>
              <a:t>символе</a:t>
            </a:r>
            <a:r>
              <a:rPr lang="ru-RU" sz="800" dirty="0"/>
              <a:t>, а не числе.</a:t>
            </a:r>
          </a:p>
        </p:txBody>
      </p:sp>
    </p:spTree>
    <p:extLst>
      <p:ext uri="{BB962C8B-B14F-4D97-AF65-F5344CB8AC3E}">
        <p14:creationId xmlns:p14="http://schemas.microsoft.com/office/powerpoint/2010/main" val="1552643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311FD2-5F8F-4879-823F-D02E6507B0D9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881102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Строковые литералы в C++ хранятся как массивы символов типа 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char</a:t>
            </a:r>
            <a:r>
              <a:rPr lang="ru-RU" dirty="0"/>
              <a:t>. Каждый символ строки имеет свой собственный индекс в массиве, начиная с 0. </a:t>
            </a:r>
            <a:endParaRPr lang="en-US" dirty="0"/>
          </a:p>
          <a:p>
            <a:r>
              <a:rPr lang="ru-RU" dirty="0"/>
              <a:t>Кроме того, в конце каждой строки добавляется нулевой символ '\0', который указывает на конец строки</a:t>
            </a:r>
            <a:r>
              <a:rPr lang="en-US" dirty="0"/>
              <a:t>.</a:t>
            </a:r>
          </a:p>
          <a:p>
            <a:r>
              <a:rPr lang="ru-RU" dirty="0"/>
              <a:t>Важно отметить, что строковые литералы в C++ являются неизменяемыми, и попытки изменения символов в строковом литерале могут привести к неопределенному поведению. Если вам нужна изменяемая строка, вы можете использовать класс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r>
              <a:rPr lang="ru-RU" dirty="0"/>
              <a:t> из стандартной библиотеки C++.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158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6C360D-8BEA-4BDD-A4FB-DC9C20ABA885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6331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857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Помимо привычных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, в C++ есть набор </a:t>
            </a:r>
            <a:r>
              <a:rPr lang="ru-RU" b="1" dirty="0"/>
              <a:t>специализированных целочисленных типов</a:t>
            </a:r>
            <a:r>
              <a:rPr lang="ru-RU" dirty="0"/>
              <a:t>, определённых в заголовке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cstdint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 Они нужны, когда важны </a:t>
            </a:r>
            <a:r>
              <a:rPr lang="ru-RU" b="1" dirty="0"/>
              <a:t>размер, диапазон или переносимость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size_t</a:t>
            </a:r>
            <a:r>
              <a:rPr lang="ru-RU" dirty="0"/>
              <a:t> — это беззнаковый тип, предназначенный для хранения </a:t>
            </a:r>
            <a:r>
              <a:rPr lang="ru-RU" b="1" dirty="0"/>
              <a:t>размеров объектов и индексов</a:t>
            </a:r>
            <a:r>
              <a:rPr lang="ru-RU" dirty="0"/>
              <a:t>. Именно его возвращают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dirty="0"/>
              <a:t> и большинство контейнеров стандартной библиотеки.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Типы вида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int8_t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int16_t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int32_t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int64_t</a:t>
            </a:r>
            <a:r>
              <a:rPr lang="ru-RU" dirty="0"/>
              <a:t> и их беззнаковые версии гарантируют </a:t>
            </a:r>
            <a:r>
              <a:rPr lang="ru-RU" b="1" dirty="0"/>
              <a:t>точную разрядность</a:t>
            </a:r>
            <a:r>
              <a:rPr lang="ru-RU" dirty="0"/>
              <a:t>. Если такой тип существует на платформе, он имеет ровно указанное число бит. Их используют, когда важен формат данных, например при работе с файлами, сетевыми протоколами или бинарными структурами.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fastN_t</a:t>
            </a:r>
            <a:r>
              <a:rPr lang="ru-RU" dirty="0"/>
              <a:t> обозначают </a:t>
            </a:r>
            <a:r>
              <a:rPr lang="ru-RU" b="1" dirty="0"/>
              <a:t>самый быстрый тип</a:t>
            </a:r>
            <a:r>
              <a:rPr lang="ru-RU" dirty="0"/>
              <a:t>, который имеет разрядность </a:t>
            </a:r>
            <a:r>
              <a:rPr lang="ru-RU" b="1" dirty="0"/>
              <a:t>не меньше N бит</a:t>
            </a:r>
            <a:r>
              <a:rPr lang="ru-RU" dirty="0"/>
              <a:t>. Разрядность может быть больше, зато обеспечивается лучшая производительность на конкретной архитектуре.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leastN_t</a:t>
            </a:r>
            <a:r>
              <a:rPr lang="ru-RU" dirty="0"/>
              <a:t> гарантируют </a:t>
            </a:r>
            <a:r>
              <a:rPr lang="ru-RU" b="1" dirty="0"/>
              <a:t>минимальную разрядность не меньше N бит</a:t>
            </a:r>
            <a:r>
              <a:rPr lang="ru-RU" dirty="0"/>
              <a:t>, но не обещают максимальную скорость — они полезны, когда важна компактность и переносимость.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intmax_t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uintmax_t</a:t>
            </a:r>
            <a:r>
              <a:rPr lang="ru-RU" dirty="0"/>
              <a:t> — это </a:t>
            </a:r>
            <a:r>
              <a:rPr lang="ru-RU" b="1" dirty="0"/>
              <a:t>самые большие целочисленные типы</a:t>
            </a:r>
            <a:r>
              <a:rPr lang="ru-RU" dirty="0"/>
              <a:t>, доступные на платформе. Их используют в обобщённом коде, когда нужен гарантированно максимальный диапазон.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intptr_t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uintptr_t</a:t>
            </a:r>
            <a:r>
              <a:rPr lang="ru-RU" dirty="0"/>
              <a:t> — специальные типы, способные хранить </a:t>
            </a:r>
            <a:r>
              <a:rPr lang="ru-RU" b="1" dirty="0"/>
              <a:t>адрес указателя в виде целого числа</a:t>
            </a:r>
            <a:r>
              <a:rPr lang="ru-RU" dirty="0"/>
              <a:t>. Они применяются редко и в основном в низкоуровневом коде.</a:t>
            </a:r>
          </a:p>
          <a:p>
            <a:r>
              <a:rPr lang="ru-RU" dirty="0"/>
              <a:t>Подробное описание всех этих типов есть в стандарте и на </a:t>
            </a:r>
            <a:r>
              <a:rPr lang="ru-RU" dirty="0" err="1"/>
              <a:t>cppreference</a:t>
            </a:r>
            <a:r>
              <a:rPr lang="ru-RU" dirty="0"/>
              <a:t> — ссылка приведена на слайде.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089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0124FA-1881-44BD-85B1-55F49811BD9F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Типы с плавающей запятой предназначены для представления </a:t>
            </a:r>
            <a:r>
              <a:rPr lang="ru-RU" b="1" dirty="0"/>
              <a:t>вещественных чисел</a:t>
            </a:r>
            <a:r>
              <a:rPr lang="ru-RU" dirty="0"/>
              <a:t>, но с конечной точностью.</a:t>
            </a:r>
          </a:p>
          <a:p>
            <a:r>
              <a:rPr lang="ru-RU" dirty="0"/>
              <a:t>Стандарт C++ </a:t>
            </a:r>
            <a:r>
              <a:rPr lang="ru-RU" b="1" dirty="0"/>
              <a:t>не фиксирует точные размеры</a:t>
            </a:r>
            <a:r>
              <a:rPr lang="ru-RU" dirty="0"/>
              <a:t>, а гарантирует только их относительный порядок.</a:t>
            </a:r>
          </a:p>
          <a:p>
            <a:r>
              <a:rPr lang="ru-RU" dirty="0"/>
              <a:t>На практике (x86):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 — 4 байта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— 8 байт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— 10 байт (у MSVC — 8 байт)</a:t>
            </a:r>
          </a:p>
          <a:p>
            <a:r>
              <a:rPr lang="ru-RU" dirty="0"/>
              <a:t>Вещественные типы поддерживают специальные значения: бесконечности, отрицательный ноль и </a:t>
            </a:r>
            <a:r>
              <a:rPr lang="ru-RU" dirty="0" err="1"/>
              <a:t>NaN</a:t>
            </a:r>
            <a:r>
              <a:rPr lang="ru-RU" dirty="0"/>
              <a:t>.</a:t>
            </a:r>
          </a:p>
          <a:p>
            <a:r>
              <a:rPr lang="ru-RU" dirty="0" err="1"/>
              <a:t>NaN</a:t>
            </a:r>
            <a:r>
              <a:rPr lang="ru-RU" dirty="0"/>
              <a:t> не сравним на равенство </a:t>
            </a:r>
            <a:r>
              <a:rPr lang="ru-RU" b="1" dirty="0"/>
              <a:t>ни с чем</a:t>
            </a:r>
            <a:r>
              <a:rPr lang="ru-RU" dirty="0"/>
              <a:t>, включая самого себя — это важно при проверках и отладке.</a:t>
            </a:r>
          </a:p>
        </p:txBody>
      </p:sp>
    </p:spTree>
    <p:extLst>
      <p:ext uri="{BB962C8B-B14F-4D97-AF65-F5344CB8AC3E}">
        <p14:creationId xmlns:p14="http://schemas.microsoft.com/office/powerpoint/2010/main" val="3563585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Локальные переменные объявляются внутри блока кода, например внутри функции, и существуют только в пределах этого блока.</a:t>
            </a:r>
            <a:br>
              <a:rPr lang="ru-RU" dirty="0"/>
            </a:br>
            <a:r>
              <a:rPr lang="ru-RU" dirty="0"/>
              <a:t>Переменную можно объявить отдельно, а затем присвоить ей значение, либо сразу совместить объявление с инициализацией — второй вариант используется чаще.</a:t>
            </a:r>
          </a:p>
          <a:p>
            <a:r>
              <a:rPr lang="ru-RU" dirty="0"/>
              <a:t>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объявляет константу — значение, которое нельзя изменить после инициализации.</a:t>
            </a:r>
            <a:br>
              <a:rPr lang="ru-RU" dirty="0"/>
            </a:br>
            <a:r>
              <a:rPr lang="ru-RU" dirty="0"/>
              <a:t>В отличие от обычной переменной, константа </a:t>
            </a:r>
            <a:r>
              <a:rPr lang="ru-RU" b="1" dirty="0"/>
              <a:t>обязательно должна быть проинициализирована при объявлении</a:t>
            </a:r>
            <a:r>
              <a:rPr lang="ru-RU" dirty="0"/>
              <a:t>.</a:t>
            </a:r>
          </a:p>
          <a:p>
            <a:r>
              <a:rPr lang="ru-RU" dirty="0"/>
              <a:t>Инициализация константы может выполняться не только литералом, но и результатом выражения, если все его операнды известны на момент компиляции.</a:t>
            </a:r>
          </a:p>
          <a:p>
            <a:r>
              <a:rPr lang="ru-RU" dirty="0"/>
              <a:t>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повышает читаемость кода, защищает от ошибок и позволяет компилятору выполнять дополнительные оптимизации.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469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позволяет компилятору </a:t>
            </a:r>
            <a:r>
              <a:rPr lang="ru-RU" b="1" dirty="0"/>
              <a:t>автоматически вывести тип переменной</a:t>
            </a:r>
            <a:r>
              <a:rPr lang="ru-RU" dirty="0"/>
              <a:t> из выражения инициализации.</a:t>
            </a:r>
            <a:br>
              <a:rPr lang="ru-RU" dirty="0"/>
            </a:br>
            <a:r>
              <a:rPr lang="ru-RU" dirty="0"/>
              <a:t>Тип определяется </a:t>
            </a:r>
            <a:r>
              <a:rPr lang="ru-RU" b="1" dirty="0"/>
              <a:t>строго на этапе компиляции</a:t>
            </a:r>
            <a:r>
              <a:rPr lang="ru-RU" dirty="0"/>
              <a:t>, никакой динамики здесь нет.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всегда требует инициализатор — без него тип вывести невозможно.</a:t>
            </a:r>
            <a:br>
              <a:rPr lang="ru-RU" dirty="0"/>
            </a:br>
            <a:r>
              <a:rPr lang="ru-RU" dirty="0"/>
              <a:t>При этом выводимый тип подчиняется обычным правилам языка: учитывается тип литерала, результат выражения и возвращаемое значение функции.</a:t>
            </a:r>
          </a:p>
          <a:p>
            <a:r>
              <a:rPr lang="ru-RU" dirty="0"/>
              <a:t>Квалификатор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при использовании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</a:t>
            </a:r>
            <a:r>
              <a:rPr lang="ru-RU" b="1" dirty="0"/>
              <a:t>не выводится автоматически</a:t>
            </a:r>
            <a:r>
              <a:rPr lang="ru-RU" dirty="0"/>
              <a:t> — его нужно указывать явно, если он важен.</a:t>
            </a:r>
          </a:p>
          <a:p>
            <a:r>
              <a:rPr lang="ru-RU" dirty="0"/>
              <a:t>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улучшает читаемость кода, особенно при работе со сложными типами, и снижает риск ошибок при изменении выражений.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547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Область видимости переменной в C++ ограничена блоком кода, в котором она объявлена — обычно это фигурные скобки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{}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За пределами этого блока переменная недоступна.</a:t>
            </a:r>
          </a:p>
          <a:p>
            <a:r>
              <a:rPr lang="ru-RU" dirty="0"/>
              <a:t>Во вложенном блоке можно объявить переменную с тем же именем, что и во внешнем. Такая переменная </a:t>
            </a:r>
            <a:r>
              <a:rPr lang="ru-RU" b="1" dirty="0"/>
              <a:t>скрывает</a:t>
            </a:r>
            <a:r>
              <a:rPr lang="ru-RU" dirty="0"/>
              <a:t> внешнюю на время действия внутреннего блока.</a:t>
            </a:r>
          </a:p>
          <a:p>
            <a:r>
              <a:rPr lang="ru-RU" dirty="0"/>
              <a:t>При этом тип переменной во внутреннем блоке может отличаться от типа одноимённой переменной снаружи — компилятор считает их разными сущностями.</a:t>
            </a:r>
          </a:p>
          <a:p>
            <a:r>
              <a:rPr lang="ru-RU" dirty="0"/>
              <a:t>После выхода из внутреннего блока снова становится видна внешняя переменная.</a:t>
            </a:r>
          </a:p>
          <a:p>
            <a:r>
              <a:rPr lang="ru-RU" dirty="0"/>
              <a:t>Хотя такое перекрытие имён допустимо, на практике его </a:t>
            </a:r>
            <a:r>
              <a:rPr lang="ru-RU" b="1" dirty="0"/>
              <a:t>лучше избегать</a:t>
            </a:r>
            <a:r>
              <a:rPr lang="ru-RU" dirty="0"/>
              <a:t>, так как оно ухудшает читаемость кода и может приводить к ошибкам.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1301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Глобальные переменные объявляются </a:t>
            </a:r>
            <a:r>
              <a:rPr lang="ru-RU" b="1" dirty="0"/>
              <a:t>вне функций</a:t>
            </a:r>
            <a:r>
              <a:rPr lang="ru-RU" dirty="0"/>
              <a:t> и видны во всём файле, а при необходимости — и в других файлах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локальных переменных, глобальные переменные </a:t>
            </a:r>
            <a:r>
              <a:rPr lang="ru-RU" b="1" dirty="0"/>
              <a:t>по умолчанию инициализируются нулём</a:t>
            </a:r>
            <a:r>
              <a:rPr lang="ru-RU" dirty="0"/>
              <a:t>, если начальное значение не указано явно.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Глобальная переменная существует на протяжении </a:t>
            </a:r>
            <a:r>
              <a:rPr lang="ru-RU" b="1" dirty="0"/>
              <a:t>всего времени работы программы</a:t>
            </a:r>
            <a:r>
              <a:rPr lang="ru-RU" dirty="0"/>
              <a:t>, поэтому её значение сохраняется между вызовами функций.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Хотя глобальные переменные удобны, их следует использовать </a:t>
            </a:r>
            <a:r>
              <a:rPr lang="ru-RU" b="1" dirty="0"/>
              <a:t>осторожно</a:t>
            </a:r>
            <a:r>
              <a:rPr lang="ru-RU" dirty="0"/>
              <a:t>: они создают неявные зависимости между частями программы и усложняют сопровождение кода. В большинстве случаев предпочтительнее передавать данные через параметры функций или использовать локальные переменные.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6657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ввода и вывода чисел в C++ используются стандартные потоки из заголовка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iostream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</a:t>
            </a:r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dirty="0"/>
              <a:t> считывает данные из входного потока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ru-RU" dirty="0"/>
              <a:t> и пытается преобразовать их к типу переменной.</a:t>
            </a:r>
            <a:br>
              <a:rPr lang="ru-RU" dirty="0"/>
            </a:br>
            <a:r>
              <a:rPr lang="ru-RU" dirty="0"/>
              <a:t>Если преобразование не удалось, поток переходит в состояние ошибки, что можно проверить в условии.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dirty="0"/>
              <a:t> используется для обычного вывода результатов программы,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cerr</a:t>
            </a:r>
            <a:r>
              <a:rPr lang="ru-RU" dirty="0"/>
              <a:t> — для вывода сообщений об ошибках.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cerr</a:t>
            </a:r>
            <a:r>
              <a:rPr lang="ru-RU" dirty="0"/>
              <a:t> не буферизуется, поэтому сообщения об ошибках выводятся сразу.</a:t>
            </a:r>
          </a:p>
          <a:p>
            <a:r>
              <a:rPr lang="ru-RU" dirty="0"/>
              <a:t>Разделение обычного вывода и сообщений об ошибках упрощает отладку и позволяет перенаправлять потоки независимо друг от друга.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154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работы со строками обычно используется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getline</a:t>
            </a:r>
            <a:r>
              <a:rPr lang="ru-RU" dirty="0"/>
              <a:t> читает </a:t>
            </a:r>
            <a:r>
              <a:rPr lang="ru-RU" b="1" dirty="0"/>
              <a:t>всю строку целиком</a:t>
            </a:r>
            <a:r>
              <a:rPr lang="ru-RU" dirty="0"/>
              <a:t> из входного потока до символа перевода строки и подходит для ввода текста с пробелами.</a:t>
            </a:r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dirty="0"/>
              <a:t> для строк работает иначе: он считывает данные </a:t>
            </a:r>
            <a:r>
              <a:rPr lang="ru-RU" b="1" dirty="0"/>
              <a:t>до первого пробельного символа</a:t>
            </a:r>
            <a:r>
              <a:rPr lang="ru-RU" dirty="0"/>
              <a:t>, поэтому удобен для чтения отдельных слов.</a:t>
            </a:r>
          </a:p>
          <a:p>
            <a:r>
              <a:rPr lang="ru-RU" dirty="0"/>
              <a:t>Важно помнить, что при смешивании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getline</a:t>
            </a:r>
            <a:r>
              <a:rPr lang="ru-RU" dirty="0"/>
              <a:t> и оператора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dirty="0"/>
              <a:t> могут возникать проблемы из-за символа перевода строки, оставшегося во входном потоке. В таких случаях требуется дополнительно очистить или обработать ввод.</a:t>
            </a:r>
          </a:p>
          <a:p>
            <a:r>
              <a:rPr lang="ru-RU" dirty="0"/>
              <a:t>Выбор способа ввода зависит от того, нужно ли читать всю строку или отдельные слова.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35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можно задавать </a:t>
            </a:r>
            <a:r>
              <a:rPr lang="ru-RU" b="1" dirty="0"/>
              <a:t>синонимы типов</a:t>
            </a:r>
            <a:r>
              <a:rPr lang="ru-RU" dirty="0"/>
              <a:t> — альтернативные имена для уже существующих типов. Для этого используется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.</a:t>
            </a:r>
          </a:p>
          <a:p>
            <a:r>
              <a:rPr lang="ru-RU" dirty="0"/>
              <a:t>Синоним типа не создаёт новый тип, а лишь вводит более удобное или осмысленное имя для существующего. Это особенно полезно, когда исходный тип сложный или часто используется.</a:t>
            </a:r>
          </a:p>
          <a:p>
            <a:r>
              <a:rPr lang="ru-RU" dirty="0"/>
              <a:t>Синонимы типов применяются для повышения читаемости кода, упрощения шаблонных конструкций и улучшения переносимости программ, например при абстрагировании от платформенно-зависимых типов.</a:t>
            </a:r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, синтаксис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 более нагляден и лучше работает с шаблонами, поэтому в современном C++ он является предпочтительным.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406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 вводится синоним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Matrix3x3d</a:t>
            </a:r>
            <a:r>
              <a:rPr lang="ru-RU" dirty="0"/>
              <a:t> для достаточно сложного типа — двумерного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из чисел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Благодаря синониму код становится заметно </a:t>
            </a:r>
            <a:r>
              <a:rPr lang="ru-RU" b="1" dirty="0"/>
              <a:t>короче и понятнее</a:t>
            </a:r>
            <a:r>
              <a:rPr lang="ru-RU" dirty="0"/>
              <a:t>: мы оперируем понятием «матрица 3×3», а не вложенными контейнерами.</a:t>
            </a:r>
          </a:p>
          <a:p>
            <a:endParaRPr lang="ru-RU" dirty="0"/>
          </a:p>
          <a:p>
            <a:r>
              <a:rPr lang="ru-RU" dirty="0"/>
              <a:t>Синоним типа не создаёт новый тип, поэтому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Matrix3x3d</a:t>
            </a:r>
            <a:r>
              <a:rPr lang="ru-RU" dirty="0"/>
              <a:t> полностью совместим с исходным типом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3&gt;, 3&gt;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Использование </a:t>
            </a:r>
            <a:r>
              <a:rPr lang="ru-RU" dirty="0" err="1"/>
              <a:t>range-based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позволяет обходить элементы матрицы без привязки к конкретному представлению данных, что дополнительно улучшает читаемость и снижает вероятность ошибок.</a:t>
            </a:r>
          </a:p>
          <a:p>
            <a:endParaRPr lang="ru-RU" dirty="0"/>
          </a:p>
          <a:p>
            <a:r>
              <a:rPr lang="ru-RU" dirty="0"/>
              <a:t>Такой подход особенно полезен в численных и графических задачах, где сложные типы данных используются многократно.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2643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синоним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 используется вместе с шаблонами, что позволяет описать </a:t>
            </a:r>
            <a:r>
              <a:rPr lang="ru-RU" b="1" dirty="0"/>
              <a:t>обобщённый тип матрицы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MatrixT</a:t>
            </a:r>
            <a:r>
              <a:rPr lang="ru-RU" dirty="0"/>
              <a:t> — это шаблонный синоним для двумерного массива, параметризованный типом элементов и размерами матрицы.</a:t>
            </a:r>
            <a:br>
              <a:rPr lang="ru-RU" dirty="0"/>
            </a:br>
            <a:r>
              <a:rPr lang="ru-RU" dirty="0"/>
              <a:t>Размеры и тип элементов задаются </a:t>
            </a:r>
            <a:r>
              <a:rPr lang="ru-RU" b="1" dirty="0"/>
              <a:t>на этапе компиляции</a:t>
            </a:r>
            <a:r>
              <a:rPr lang="ru-RU" dirty="0"/>
              <a:t>, поэтому структура данных не имеет накладных расходов.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PrintMatrix</a:t>
            </a:r>
            <a:r>
              <a:rPr lang="ru-RU" dirty="0"/>
              <a:t> также шаблонная и может работать с матрицами </a:t>
            </a:r>
            <a:r>
              <a:rPr lang="ru-RU" b="1" dirty="0"/>
              <a:t>любого типа и размера</a:t>
            </a:r>
            <a:r>
              <a:rPr lang="ru-RU" dirty="0"/>
              <a:t>, если элементы поддерживают вывод в поток.</a:t>
            </a:r>
          </a:p>
          <a:p>
            <a:r>
              <a:rPr lang="ru-RU" dirty="0"/>
              <a:t>Такой подход позволяет писать </a:t>
            </a:r>
            <a:r>
              <a:rPr lang="ru-RU" b="1" dirty="0" err="1"/>
              <a:t>типобезопасный</a:t>
            </a:r>
            <a:r>
              <a:rPr lang="ru-RU" b="1" dirty="0"/>
              <a:t> и </a:t>
            </a:r>
            <a:r>
              <a:rPr lang="ru-RU" b="1" dirty="0" err="1"/>
              <a:t>переиспользуемый</a:t>
            </a:r>
            <a:r>
              <a:rPr lang="ru-RU" b="1" dirty="0"/>
              <a:t> код</a:t>
            </a:r>
            <a:r>
              <a:rPr lang="ru-RU" dirty="0"/>
              <a:t>, не жертвуя производительностью и читаемостью.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4561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сохранилось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, унаследованное из языка C. Оно позволяет задавать синонимы типов, но имеет менее наглядный синтаксис.</a:t>
            </a:r>
          </a:p>
          <a:p>
            <a:r>
              <a:rPr lang="ru-RU" dirty="0"/>
              <a:t>Главное ограничение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 — с его помощью </a:t>
            </a:r>
            <a:r>
              <a:rPr lang="ru-RU" b="1" dirty="0"/>
              <a:t>нельзя объявлять шаблонные синонимы типов</a:t>
            </a:r>
            <a:r>
              <a:rPr lang="ru-RU" dirty="0"/>
              <a:t>, что существенно снижает его гибкость в современном C++.</a:t>
            </a:r>
          </a:p>
          <a:p>
            <a:r>
              <a:rPr lang="ru-RU" dirty="0"/>
              <a:t>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 чаще встречается в устаревших кодовых базах или в заголовочных файлах, написанных на чистом C.</a:t>
            </a:r>
          </a:p>
          <a:p>
            <a:r>
              <a:rPr lang="ru-RU" dirty="0"/>
              <a:t>В современном C++ рекомендуется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: он читается проще, поддерживает шаблоны и лучше подходит для обобщённого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3389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 для задания синонима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</a:t>
            </a:r>
            <a:r>
              <a:rPr lang="ru-RU" dirty="0"/>
              <a:t> для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.</a:t>
            </a:r>
            <a:r>
              <a:rPr lang="en-US" dirty="0"/>
              <a:t> </a:t>
            </a:r>
            <a:br>
              <a:rPr lang="ru-RU" dirty="0"/>
            </a:br>
            <a:r>
              <a:rPr lang="ru-RU" dirty="0"/>
              <a:t>Такой приём позволяет оперировать </a:t>
            </a:r>
            <a:r>
              <a:rPr lang="ru-RU" b="1" dirty="0"/>
              <a:t>абстрактным числовым типом</a:t>
            </a:r>
            <a:r>
              <a:rPr lang="ru-RU" dirty="0"/>
              <a:t>, не привязываясь жёстко к конкретной реализации.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</a:t>
            </a:r>
            <a:r>
              <a:rPr lang="ru-RU" dirty="0"/>
              <a:t> используется в описании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Vec3</a:t>
            </a:r>
            <a:r>
              <a:rPr lang="ru-RU" dirty="0"/>
              <a:t> и во всех вычислениях с векторами. Если в будущем потребуется повысить точность и заменить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достаточно изменить определение синонима в одном месте.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Функции используют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для вывода возвращаемого типа, что упрощает код и избавляет от дублирования сложных выражений.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Пример иллюстрирует, что синонимы типов повышают </a:t>
            </a:r>
            <a:r>
              <a:rPr lang="ru-RU" b="1" dirty="0"/>
              <a:t>гибкость, читаемость и </a:t>
            </a:r>
            <a:r>
              <a:rPr lang="ru-RU" b="1" dirty="0" err="1"/>
              <a:t>сопровождаемость</a:t>
            </a:r>
            <a:r>
              <a:rPr lang="ru-RU" dirty="0"/>
              <a:t> кода, даже при использовании устаревшего синтаксиса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2890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9027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Перечислимый тип данных,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, задаёт </a:t>
            </a:r>
            <a:r>
              <a:rPr lang="ru-RU" b="1" dirty="0"/>
              <a:t>ограниченный набор именованных целочисленных значений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используется там, где переменная может принимать одно значение из заранее известного набора, например день недели, состояние системы или режим работы.</a:t>
            </a:r>
          </a:p>
          <a:p>
            <a:endParaRPr lang="ru-RU" dirty="0"/>
          </a:p>
          <a:p>
            <a:r>
              <a:rPr lang="ru-RU" dirty="0"/>
              <a:t>Имена элементов перечисления находятся в </a:t>
            </a:r>
            <a:r>
              <a:rPr lang="ru-RU" b="1" dirty="0"/>
              <a:t>общем пространстве имён</a:t>
            </a:r>
            <a:r>
              <a:rPr lang="ru-RU" dirty="0"/>
              <a:t>, поэтому имена из разных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не должны совпадать.</a:t>
            </a:r>
          </a:p>
          <a:p>
            <a:endParaRPr lang="ru-RU" dirty="0"/>
          </a:p>
          <a:p>
            <a:r>
              <a:rPr lang="ru-RU" dirty="0"/>
              <a:t>Внутри одного перечисления нескольким именам можно назначить одно и то же значение — это иногда используется для задания синонимов.</a:t>
            </a:r>
          </a:p>
          <a:p>
            <a:endParaRPr lang="ru-RU" dirty="0"/>
          </a:p>
          <a:p>
            <a:r>
              <a:rPr lang="ru-RU" dirty="0"/>
              <a:t>Обычные перечисления неявно преобразуются к целым числам, что упрощает взаимодействие со старым кодом, но может приводить к ошибкам. По этой причине в современном C++ чаще используют более строгий вариант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, о котором будет сказано далее.</a:t>
            </a:r>
          </a:p>
          <a:p>
            <a:pPr eaLnBrk="1" hangingPunct="1"/>
            <a:endParaRPr lang="ru-RU" dirty="0"/>
          </a:p>
        </p:txBody>
      </p:sp>
      <p:sp>
        <p:nvSpPr>
          <p:cNvPr id="129028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95E9BD-6BC0-417F-A537-5B461C3D6EC4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9740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проблема обычных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заключается в том, что </a:t>
            </a:r>
            <a:r>
              <a:rPr lang="ru-RU" b="1" dirty="0"/>
              <a:t>все их значения попадают в общее пространство имён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этом примере перечисление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TrafficLightColor</a:t>
            </a:r>
            <a:r>
              <a:rPr lang="ru-RU" dirty="0"/>
              <a:t> объявляет значения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Yellow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Green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При попытке объявить другое перечисление с элементом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</a:t>
            </a:r>
            <a:r>
              <a:rPr lang="ru-RU" dirty="0"/>
              <a:t> возникает ошибка компиляции — имя уже занято.</a:t>
            </a:r>
          </a:p>
          <a:p>
            <a:endParaRPr lang="ru-RU" dirty="0"/>
          </a:p>
          <a:p>
            <a:r>
              <a:rPr lang="ru-RU" dirty="0"/>
              <a:t>Формально проблему можно обойти, искусственно добавляя префиксы к именам значений, но это ухудшает читаемость и делает код громоздким.</a:t>
            </a:r>
          </a:p>
          <a:p>
            <a:endParaRPr lang="ru-RU" dirty="0"/>
          </a:p>
          <a:p>
            <a:r>
              <a:rPr lang="ru-RU" dirty="0"/>
              <a:t>Именно из-за таких ограничений в современном C++ появился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, который изолирует имена и делает работу с перечислениями более безопасной.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9701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был добавлен в C++11 для устранения проблем обычных перечислений.</a:t>
            </a:r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, значения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не попадают в общее пространство имён и всегда используются с указанием имени перечисления. Это полностью решает проблему конфликтов имён.</a:t>
            </a:r>
          </a:p>
          <a:p>
            <a:r>
              <a:rPr lang="ru-RU" dirty="0"/>
              <a:t>Кроме того,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не преобразуется неявно к целым числам. Если требуется получить числовое значение, это нужно делать явно, что защищает от случайных ошибок и делает код более надёжным.</a:t>
            </a:r>
          </a:p>
          <a:p>
            <a:r>
              <a:rPr lang="ru-RU" dirty="0"/>
              <a:t>В современном C++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считается вариантом по умолчанию, а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используется в основном для совместимости со старым кодом.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3837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, который ограничивает область видимости значений перечисления именем самого типа.</a:t>
            </a:r>
          </a:p>
          <a:p>
            <a:r>
              <a:rPr lang="ru-RU" dirty="0"/>
              <a:t>Обратите внимание, что одинаковое имя значения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</a:t>
            </a:r>
            <a:r>
              <a:rPr lang="ru-RU" dirty="0"/>
              <a:t> может спокойно использоваться в разных перечислениях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TrafficLightColor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::Red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CarColor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::Red</a:t>
            </a:r>
            <a:r>
              <a:rPr lang="ru-RU" dirty="0"/>
              <a:t> не конфликтуют друг с другом.</a:t>
            </a:r>
          </a:p>
          <a:p>
            <a:endParaRPr lang="ru-RU" dirty="0"/>
          </a:p>
          <a:p>
            <a:r>
              <a:rPr lang="ru-RU" dirty="0"/>
              <a:t>При работе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значения всегда указываются </a:t>
            </a:r>
            <a:r>
              <a:rPr lang="ru-RU" b="1" dirty="0"/>
              <a:t>с квалификатором типа</a:t>
            </a:r>
            <a:r>
              <a:rPr lang="ru-RU" dirty="0"/>
              <a:t>, что делает код более явным и понятным.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TrafficLightToString</a:t>
            </a:r>
            <a:r>
              <a:rPr lang="ru-RU" dirty="0"/>
              <a:t> демонстрирует типичный способ обработки значений перечисления — явное сравнение с возможными вариантами.</a:t>
            </a:r>
          </a:p>
          <a:p>
            <a:br>
              <a:rPr lang="ru-RU" dirty="0"/>
            </a:br>
            <a:r>
              <a:rPr lang="ru-RU" dirty="0"/>
              <a:t>Отсутствие неявного преобразования к целым числам повышает </a:t>
            </a:r>
            <a:r>
              <a:rPr lang="ru-RU" dirty="0" err="1"/>
              <a:t>типобезопасность</a:t>
            </a:r>
            <a:r>
              <a:rPr lang="ru-RU" dirty="0"/>
              <a:t> и защищает от логических ошибок.</a:t>
            </a:r>
          </a:p>
          <a:p>
            <a:r>
              <a:rPr lang="ru-RU" dirty="0"/>
              <a:t>Ключевые слова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dirty="0"/>
              <a:t> эквивалентны и различаются только стилистически.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9444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1315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На этом слайде перечислены </a:t>
            </a:r>
            <a:r>
              <a:rPr lang="ru-RU" b="1" dirty="0"/>
              <a:t>операторы C++</a:t>
            </a:r>
            <a:r>
              <a:rPr lang="ru-RU" dirty="0"/>
              <a:t>, то есть элементы языка, из которых строятся выражения.</a:t>
            </a:r>
          </a:p>
          <a:p>
            <a:r>
              <a:rPr lang="ru-RU" dirty="0"/>
              <a:t>Операторы применяются к операндам и, как правило, возвращают значение — именно поэтому их можно комбинировать в выражениях,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 * c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dirty="0"/>
              <a:t>.</a:t>
            </a:r>
          </a:p>
          <a:p>
            <a:r>
              <a:rPr lang="ru-RU" dirty="0"/>
              <a:t>Здесь не рассматриваются инструкции управления выполнением, такие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 — они относятся к отдельной категории и будут разобраны отдельно.</a:t>
            </a:r>
          </a:p>
          <a:p>
            <a:r>
              <a:rPr lang="ru-RU" dirty="0"/>
              <a:t>Дальше мы последовательно рассмотрим основные группы операторов и особенности их использования.</a:t>
            </a:r>
          </a:p>
          <a:p>
            <a:pPr eaLnBrk="1" hangingPunct="1"/>
            <a:endParaRPr lang="ru-RU" dirty="0"/>
          </a:p>
        </p:txBody>
      </p:sp>
      <p:sp>
        <p:nvSpPr>
          <p:cNvPr id="141316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9656BB-A70F-49C8-BE54-0F7292AAE175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992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F18087-FEE3-4FF4-A09E-3D7EAE9798FA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sz="1000" dirty="0"/>
              <a:t>Арифметические операторы применяются для выполнения базовых математических операций.</a:t>
            </a:r>
          </a:p>
          <a:p>
            <a:r>
              <a:rPr lang="ru-RU" sz="1000" dirty="0"/>
              <a:t>Бинарные операторы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sz="10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ru-RU" sz="10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0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000" dirty="0"/>
              <a:t> работают с двумя операндами.</a:t>
            </a:r>
            <a:br>
              <a:rPr lang="ru-RU" sz="1000" dirty="0"/>
            </a:br>
            <a:r>
              <a:rPr lang="ru-RU" sz="1000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  <a:r>
              <a:rPr lang="ru-RU" sz="1000" dirty="0"/>
              <a:t> вычисляет остаток от деления и </a:t>
            </a:r>
            <a:r>
              <a:rPr lang="ru-RU" sz="1000" b="1" dirty="0"/>
              <a:t>применим только к целочисленным типам</a:t>
            </a:r>
            <a:r>
              <a:rPr lang="ru-RU" sz="1000" dirty="0"/>
              <a:t>.</a:t>
            </a:r>
          </a:p>
          <a:p>
            <a:r>
              <a:rPr lang="ru-RU" sz="1000" dirty="0"/>
              <a:t>При делении целых чисел дробная часть </a:t>
            </a:r>
            <a:r>
              <a:rPr lang="ru-RU" sz="1000" b="1" dirty="0"/>
              <a:t>отбрасывается</a:t>
            </a:r>
            <a:r>
              <a:rPr lang="ru-RU" sz="1000" dirty="0"/>
              <a:t>, а не округляется.</a:t>
            </a:r>
            <a:br>
              <a:rPr lang="ru-RU" sz="1000" dirty="0"/>
            </a:br>
            <a:r>
              <a:rPr lang="ru-RU" sz="1000" dirty="0"/>
              <a:t>Важно понимать, что тип результата определяется </a:t>
            </a:r>
            <a:r>
              <a:rPr lang="ru-RU" sz="1000" b="1" dirty="0"/>
              <a:t>типами операндов</a:t>
            </a:r>
            <a:r>
              <a:rPr lang="ru-RU" sz="1000" dirty="0"/>
              <a:t>, а не типом переменной, в которую сохраняется результат.</a:t>
            </a:r>
          </a:p>
          <a:p>
            <a:r>
              <a:rPr lang="ru-RU" sz="1000" dirty="0"/>
              <a:t>Унарные операторы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sz="1000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ru-RU" sz="1000" dirty="0"/>
              <a:t> применяются к одному операнду.</a:t>
            </a:r>
            <a:br>
              <a:rPr lang="ru-RU" sz="1000" dirty="0"/>
            </a:br>
            <a:r>
              <a:rPr lang="ru-RU" sz="1000" dirty="0"/>
              <a:t>Унарный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ru-RU" sz="1000" dirty="0"/>
              <a:t> меняет знак числа, а унарный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sz="1000" dirty="0"/>
              <a:t> фактически ничего не делает и используется редко — в основном для симметрии и в шаблонном коде.</a:t>
            </a:r>
          </a:p>
          <a:p>
            <a:pPr eaLnBrk="1" hangingPunct="1"/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3063427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C8C3FC-53BB-42D8-82DE-F753FF209435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983288" cy="4405313"/>
          </a:xfrm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800" dirty="0"/>
              <a:t>Операторами отношения являются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&gt;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&gt;=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&lt;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&lt;=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Все они имеют одинаковый приоритет. Сразу за ними идет приоритет операторов сравнения на равенство: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==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!=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Операторы отношения имеют более низкий приоритет, чем арифметические, поэтому выражение вроде i &lt; lim-1 будет выполняться так же, как i &lt; (lim-1), т.е. как мы и ожидаем.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Более интересны логические операторы </a:t>
            </a:r>
            <a:r>
              <a:rPr lang="ru-RU" sz="800" b="1" dirty="0"/>
              <a:t>&amp;&amp;</a:t>
            </a:r>
            <a:r>
              <a:rPr lang="ru-RU" sz="800" dirty="0"/>
              <a:t> и </a:t>
            </a:r>
            <a:r>
              <a:rPr lang="ru-RU" sz="800" b="1" dirty="0"/>
              <a:t>||</a:t>
            </a:r>
            <a:r>
              <a:rPr lang="ru-RU" sz="800" dirty="0"/>
              <a:t>. Выражения, между которыми стоят операторы &amp;&amp; или ||, вычисляются слева направо. Вычисление прекращается, как только становится известна истинность или ложность результата.</a:t>
            </a:r>
          </a:p>
          <a:p>
            <a:pPr eaLnBrk="1" hangingPunct="1">
              <a:lnSpc>
                <a:spcPct val="80000"/>
              </a:lnSpc>
            </a:pPr>
            <a:r>
              <a:rPr lang="ru-RU" sz="800" b="1" dirty="0" err="1">
                <a:latin typeface="Courier New" pitchFamily="49" charset="0"/>
              </a:rPr>
              <a:t>for</a:t>
            </a:r>
            <a:r>
              <a:rPr lang="ru-RU" sz="800" b="1" dirty="0">
                <a:latin typeface="Courier New" pitchFamily="49" charset="0"/>
              </a:rPr>
              <a:t> (i = 0; i &lt; lim-1 &amp;&amp; (с = </a:t>
            </a:r>
            <a:r>
              <a:rPr lang="ru-RU" sz="800" b="1" dirty="0" err="1">
                <a:latin typeface="Courier New" pitchFamily="49" charset="0"/>
              </a:rPr>
              <a:t>getchar</a:t>
            </a:r>
            <a:r>
              <a:rPr lang="ru-RU" sz="800" b="1" dirty="0">
                <a:latin typeface="Courier New" pitchFamily="49" charset="0"/>
              </a:rPr>
              <a:t>()) != EOF &amp;&amp; с != '\n'; ++i)</a:t>
            </a:r>
          </a:p>
          <a:p>
            <a:pPr eaLnBrk="1" hangingPunct="1">
              <a:lnSpc>
                <a:spcPct val="80000"/>
              </a:lnSpc>
            </a:pPr>
            <a:r>
              <a:rPr lang="ru-RU" sz="800" b="1" dirty="0">
                <a:latin typeface="Courier New" pitchFamily="49" charset="0"/>
              </a:rPr>
              <a:t>    s[i] = c;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Прежде чем читать очередной символ, нужно проверить, есть ли для него место в массиве s, иначе говоря, сначала необходимо проверить соблюдение условия i &lt; lim-1. Если это условие не выполняется, мы не должны продолжать вычисление, в частности читать следующий символ. Так же было бы неправильным сравнивать c и EOF до обращения к </a:t>
            </a:r>
            <a:r>
              <a:rPr lang="ru-RU" sz="800" dirty="0" err="1"/>
              <a:t>getchar</a:t>
            </a:r>
            <a:r>
              <a:rPr lang="ru-RU" sz="800" dirty="0"/>
              <a:t>; следовательно, и вызов </a:t>
            </a:r>
            <a:r>
              <a:rPr lang="ru-RU" sz="800" dirty="0" err="1"/>
              <a:t>getchar</a:t>
            </a:r>
            <a:r>
              <a:rPr lang="ru-RU" sz="800" dirty="0"/>
              <a:t>, и присваивание должны выполняться перед указанной проверкой.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Приоритет оператора </a:t>
            </a:r>
            <a:r>
              <a:rPr lang="ru-RU" sz="800" b="1" dirty="0"/>
              <a:t>&amp;&amp;</a:t>
            </a:r>
            <a:r>
              <a:rPr lang="ru-RU" sz="800" dirty="0"/>
              <a:t> выше, чем таковой оператора </a:t>
            </a:r>
            <a:r>
              <a:rPr lang="ru-RU" sz="800" b="1" dirty="0"/>
              <a:t>||</a:t>
            </a:r>
            <a:r>
              <a:rPr lang="ru-RU" sz="800" dirty="0"/>
              <a:t>, однако их приоритеты ниже, чем приоритет операторов отношения и равенства. Из сказанного следует, что выражение вида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i &lt; lim-1 &amp;&amp; (с = </a:t>
            </a:r>
            <a:r>
              <a:rPr lang="ru-RU" sz="800" dirty="0" err="1"/>
              <a:t>getchar</a:t>
            </a:r>
            <a:r>
              <a:rPr lang="ru-RU" sz="800" dirty="0"/>
              <a:t>()) != '\n' &amp;&amp; с != EOF </a:t>
            </a:r>
            <a:br>
              <a:rPr lang="ru-RU" sz="800" dirty="0"/>
            </a:br>
            <a:r>
              <a:rPr lang="ru-RU" sz="800" dirty="0"/>
              <a:t>не нуждается в дополнительных скобках. Но, так как приоритет </a:t>
            </a:r>
            <a:r>
              <a:rPr lang="ru-RU" sz="800" b="1" dirty="0"/>
              <a:t>!=</a:t>
            </a:r>
            <a:r>
              <a:rPr lang="ru-RU" sz="800" dirty="0"/>
              <a:t> выше, чем приоритет присваивания, в </a:t>
            </a:r>
            <a:br>
              <a:rPr lang="ru-RU" sz="800" dirty="0"/>
            </a:br>
            <a:r>
              <a:rPr lang="ru-RU" sz="800" dirty="0"/>
              <a:t>(с = </a:t>
            </a:r>
            <a:r>
              <a:rPr lang="ru-RU" sz="800" dirty="0" err="1"/>
              <a:t>getchar</a:t>
            </a:r>
            <a:r>
              <a:rPr lang="ru-RU" sz="800" dirty="0"/>
              <a:t>()) != '\n' </a:t>
            </a:r>
            <a:br>
              <a:rPr lang="ru-RU" sz="800" dirty="0"/>
            </a:br>
            <a:r>
              <a:rPr lang="ru-RU" sz="800" dirty="0"/>
              <a:t>скобки необходимы, чтобы сначала выполнить присваивание, а затем сравнение с '\n'.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По определению численным результатом вычисления выражения отношения или логического выражения является 1, если оно истинно, и 0, если оно ложно.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Унарный оператор </a:t>
            </a:r>
            <a:r>
              <a:rPr lang="ru-RU" sz="800" b="1" dirty="0"/>
              <a:t>!</a:t>
            </a:r>
            <a:r>
              <a:rPr lang="ru-RU" sz="800" dirty="0"/>
              <a:t> преобразует ненулевой операнд в 0, а нуль в 1. Обычно оператор </a:t>
            </a:r>
            <a:r>
              <a:rPr lang="ru-RU" sz="800" b="1" dirty="0"/>
              <a:t>!</a:t>
            </a:r>
            <a:r>
              <a:rPr lang="ru-RU" sz="800" dirty="0"/>
              <a:t> используют в конструкциях вида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 err="1"/>
              <a:t>if</a:t>
            </a:r>
            <a:r>
              <a:rPr lang="ru-RU" sz="800" dirty="0"/>
              <a:t> (!</a:t>
            </a:r>
            <a:r>
              <a:rPr lang="ru-RU" sz="800" dirty="0" err="1"/>
              <a:t>valid</a:t>
            </a:r>
            <a:r>
              <a:rPr lang="ru-RU" sz="800" dirty="0"/>
              <a:t>) что эквивалентно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 err="1"/>
              <a:t>if</a:t>
            </a:r>
            <a:r>
              <a:rPr lang="ru-RU" sz="800" dirty="0"/>
              <a:t> (</a:t>
            </a:r>
            <a:r>
              <a:rPr lang="ru-RU" sz="800" dirty="0" err="1"/>
              <a:t>valid</a:t>
            </a:r>
            <a:r>
              <a:rPr lang="ru-RU" sz="800" dirty="0"/>
              <a:t> == 0) Трудно сказать, какая из форм записи лучше. Конструкция вида !</a:t>
            </a:r>
            <a:r>
              <a:rPr lang="ru-RU" sz="800" dirty="0" err="1"/>
              <a:t>valid</a:t>
            </a:r>
            <a:r>
              <a:rPr lang="ru-RU" sz="800" dirty="0"/>
              <a:t> хорошо читается ("если не правильно”), но в более сложных выражениях может оказаться, что ее не так-то легко понять. </a:t>
            </a:r>
          </a:p>
        </p:txBody>
      </p:sp>
    </p:spTree>
    <p:extLst>
      <p:ext uri="{BB962C8B-B14F-4D97-AF65-F5344CB8AC3E}">
        <p14:creationId xmlns:p14="http://schemas.microsoft.com/office/powerpoint/2010/main" val="10857143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Логические операторы используются для работы с логическими выражениями и условиями.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 — логическое </a:t>
            </a:r>
            <a:r>
              <a:rPr lang="ru-RU" b="1" dirty="0"/>
              <a:t>И</a:t>
            </a:r>
            <a:r>
              <a:rPr lang="ru-RU" dirty="0"/>
              <a:t>. Результат истинен только тогда, когда истинны </a:t>
            </a:r>
            <a:r>
              <a:rPr lang="ru-RU" b="1" dirty="0"/>
              <a:t>оба операнда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примере проверяется, находится ли считанный символ в диапазоне цифр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'0'</a:t>
            </a:r>
            <a:r>
              <a:rPr lang="ru-RU" dirty="0"/>
              <a:t> до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'9’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dirty="0"/>
              <a:t> — логическое </a:t>
            </a:r>
            <a:r>
              <a:rPr lang="ru-RU" b="1" dirty="0"/>
              <a:t>ИЛИ</a:t>
            </a:r>
            <a:r>
              <a:rPr lang="ru-RU" dirty="0"/>
              <a:t>. Результат истинен, если истинен </a:t>
            </a:r>
            <a:r>
              <a:rPr lang="ru-RU" b="1" dirty="0"/>
              <a:t>хотя бы один операнд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Так удобно проверять принадлежность символа к нескольким допустимым значениям, например пробелу или символу перевода строки.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dirty="0"/>
              <a:t> — логическое </a:t>
            </a:r>
            <a:r>
              <a:rPr lang="ru-RU" b="1" dirty="0"/>
              <a:t>НЕ</a:t>
            </a:r>
            <a:r>
              <a:rPr lang="ru-RU" dirty="0"/>
              <a:t>, он инвертирует логическое значение выражения и часто используется для проверки отрицательных условий.</a:t>
            </a:r>
          </a:p>
          <a:p>
            <a:endParaRPr lang="ru-RU" dirty="0"/>
          </a:p>
          <a:p>
            <a:r>
              <a:rPr lang="ru-RU" dirty="0"/>
              <a:t>Важное свойство операторов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dirty="0"/>
              <a:t> — </a:t>
            </a:r>
            <a:r>
              <a:rPr lang="ru-RU" b="1" dirty="0"/>
              <a:t>короткое замыкание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Вычисление выражения прекращается, как только результат становится известен: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 — при первом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dirty="0"/>
              <a:t> — при первом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</a:t>
            </a:r>
          </a:p>
          <a:p>
            <a:r>
              <a:rPr lang="ru-RU" dirty="0"/>
              <a:t>Это поведение не только ускоряет выполнение программы, но и позволяет безопасно писать условия, например с проверкой указателей или границ массивов.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9899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логические операторы можно записывать не только с помощью символов, но и с помощью слов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Эти формы являются </a:t>
            </a:r>
            <a:r>
              <a:rPr lang="ru-RU" b="1" dirty="0"/>
              <a:t>полными синонимами</a:t>
            </a:r>
            <a:r>
              <a:rPr lang="ru-RU" dirty="0"/>
              <a:t> операторов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dirty="0"/>
              <a:t>: они имеют тот же приоритет, такое же поведение и поддерживают короткое замыкание.</a:t>
            </a:r>
          </a:p>
          <a:p>
            <a:endParaRPr lang="ru-RU" dirty="0"/>
          </a:p>
          <a:p>
            <a:r>
              <a:rPr lang="ru-RU" dirty="0"/>
              <a:t>Ключевые слова появились для улучшения читаемости кода и удобства работы на клавиатурах без некоторых символов.</a:t>
            </a:r>
          </a:p>
          <a:p>
            <a:endParaRPr lang="ru-RU" dirty="0"/>
          </a:p>
          <a:p>
            <a:r>
              <a:rPr lang="ru-RU" dirty="0"/>
              <a:t>На практике такие операторы используются редко, и в большинстве проектов предпочтение отдаётся символам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dirty="0"/>
              <a:t>. Однако важно знать об их существовании, чтобы уверенно читать чужой код.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6041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E590F7-1CD5-4312-97DE-E910B148F904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6721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827ADA-2EB5-42AC-8F71-F884E3D6C253}" type="slidenum">
              <a:rPr lang="ru-RU" smtClean="0"/>
              <a:pPr/>
              <a:t>50</a:t>
            </a:fld>
            <a:endParaRPr lang="ru-RU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sz="900" dirty="0"/>
              <a:t>Побитовые операторы работают </a:t>
            </a:r>
            <a:r>
              <a:rPr lang="ru-RU" sz="900" b="1" dirty="0"/>
              <a:t>не с логическими значениями</a:t>
            </a:r>
            <a:r>
              <a:rPr lang="ru-RU" sz="900" dirty="0"/>
              <a:t>, а с отдельными битами целочисленных типов.</a:t>
            </a:r>
            <a:endParaRPr lang="en-US" sz="900" dirty="0"/>
          </a:p>
          <a:p>
            <a:endParaRPr lang="ru-RU" sz="900" dirty="0"/>
          </a:p>
          <a:p>
            <a:r>
              <a:rPr lang="ru-RU" sz="900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sz="900" dirty="0"/>
              <a:t> выполняет побитовое </a:t>
            </a:r>
            <a:r>
              <a:rPr lang="ru-RU" sz="900" b="1" dirty="0"/>
              <a:t>И</a:t>
            </a:r>
            <a:r>
              <a:rPr lang="ru-RU" sz="900" dirty="0"/>
              <a:t>: каждый бит результата равен 1, только если соответствующие биты обоих операндов равны 1.</a:t>
            </a:r>
            <a:br>
              <a:rPr lang="ru-RU" sz="900" dirty="0"/>
            </a:br>
            <a:r>
              <a:rPr lang="ru-RU" sz="900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</a:t>
            </a:r>
            <a:r>
              <a:rPr lang="ru-RU" sz="900" dirty="0"/>
              <a:t> — побитовое </a:t>
            </a:r>
            <a:r>
              <a:rPr lang="ru-RU" sz="900" b="1" dirty="0"/>
              <a:t>ИЛИ</a:t>
            </a:r>
            <a:r>
              <a:rPr lang="ru-RU" sz="900" dirty="0"/>
              <a:t>, 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</a:t>
            </a:r>
            <a:r>
              <a:rPr lang="ru-RU" sz="900" dirty="0"/>
              <a:t> — побитовое </a:t>
            </a:r>
            <a:r>
              <a:rPr lang="ru-RU" sz="900" b="1" dirty="0"/>
              <a:t>исключающее ИЛИ</a:t>
            </a:r>
            <a:r>
              <a:rPr lang="ru-RU" sz="900" dirty="0"/>
              <a:t>, при котором бит равен 1, если биты операндов различаются.</a:t>
            </a:r>
          </a:p>
          <a:p>
            <a:r>
              <a:rPr lang="ru-RU" sz="900" dirty="0"/>
              <a:t>Операторы сдвига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&lt;&lt;</a:t>
            </a:r>
            <a:r>
              <a:rPr lang="ru-RU" sz="900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sz="900" dirty="0"/>
              <a:t> сдвигают биты влево или вправо на указанное число позиций.</a:t>
            </a:r>
            <a:br>
              <a:rPr lang="ru-RU" sz="900" dirty="0"/>
            </a:br>
            <a:r>
              <a:rPr lang="ru-RU" sz="900" dirty="0"/>
              <a:t>Сдвиг влево эквивалентен умножению на степень двойки, а сдвиг вправо — делению, но только для неотрицательных чисел.</a:t>
            </a:r>
          </a:p>
          <a:p>
            <a:r>
              <a:rPr lang="ru-RU" sz="900" dirty="0"/>
              <a:t>Унарный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</a:t>
            </a:r>
            <a:r>
              <a:rPr lang="ru-RU" sz="900" dirty="0"/>
              <a:t> инвертирует все биты числа. Его часто используют при работе с битовыми масками.</a:t>
            </a:r>
          </a:p>
          <a:p>
            <a:r>
              <a:rPr lang="ru-RU" sz="900" dirty="0"/>
              <a:t>Важно помнить, что побитовые операторы применимы </a:t>
            </a:r>
            <a:r>
              <a:rPr lang="ru-RU" sz="900" b="1" dirty="0"/>
              <a:t>только к целочисленным типам</a:t>
            </a:r>
            <a:r>
              <a:rPr lang="ru-RU" sz="900" dirty="0"/>
              <a:t>, и их не следует путать с логическими операторами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sz="9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sz="900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sz="900" dirty="0"/>
              <a:t>.</a:t>
            </a:r>
          </a:p>
          <a:p>
            <a:r>
              <a:rPr lang="ru-RU" sz="900" dirty="0"/>
              <a:t>Если хочешь, следующим шагом можно показать </a:t>
            </a:r>
            <a:r>
              <a:rPr lang="ru-RU" sz="900" b="1" dirty="0"/>
              <a:t>типичный пример с битовыми флагами</a:t>
            </a:r>
            <a:r>
              <a:rPr lang="ru-RU" sz="900" dirty="0"/>
              <a:t>, это обычно хорошо “кликает” у студентов.</a:t>
            </a:r>
          </a:p>
          <a:p>
            <a:pPr eaLnBrk="1" hangingPunct="1">
              <a:lnSpc>
                <a:spcPct val="90000"/>
              </a:lnSpc>
            </a:pP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8544365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0681D2-A8E3-4325-AC75-EC407F1F35F5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800" dirty="0"/>
              <a:t>Выражение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i = i + 2; </a:t>
            </a:r>
            <a:endParaRPr lang="en-US" sz="800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в котором стоящая слева переменная повторяется и справа, можно написать в сжатом виде: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i += 2; </a:t>
            </a:r>
            <a:endParaRPr lang="en-US" sz="800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Оператор </a:t>
            </a:r>
            <a:r>
              <a:rPr lang="ru-RU" sz="800" b="1" dirty="0"/>
              <a:t>+=</a:t>
            </a:r>
            <a:r>
              <a:rPr lang="ru-RU" sz="800" dirty="0"/>
              <a:t>, как и </a:t>
            </a:r>
            <a:r>
              <a:rPr lang="ru-RU" sz="800" b="1" dirty="0"/>
              <a:t>=</a:t>
            </a:r>
            <a:r>
              <a:rPr lang="ru-RU" sz="800" dirty="0"/>
              <a:t>, называется </a:t>
            </a:r>
            <a:r>
              <a:rPr lang="ru-RU" sz="800" b="1" dirty="0"/>
              <a:t>оператором присваивания</a:t>
            </a:r>
            <a:r>
              <a:rPr lang="ru-RU" sz="800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Большинству бинарных операторов (аналогичных + и имеющих левый и правый операнды) соответствуют операторы присваивания </a:t>
            </a:r>
            <a:r>
              <a:rPr lang="ru-RU" sz="800" b="1" dirty="0" err="1"/>
              <a:t>op</a:t>
            </a:r>
            <a:r>
              <a:rPr lang="ru-RU" sz="800" b="1" dirty="0"/>
              <a:t>=</a:t>
            </a:r>
            <a:r>
              <a:rPr lang="ru-RU" sz="800" dirty="0"/>
              <a:t>, где </a:t>
            </a:r>
            <a:r>
              <a:rPr lang="ru-RU" sz="800" dirty="0" err="1"/>
              <a:t>op</a:t>
            </a:r>
            <a:r>
              <a:rPr lang="ru-RU" sz="800" dirty="0"/>
              <a:t> - один из операторов 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+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-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*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/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%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&lt;&lt;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&gt;&gt;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&amp;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^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|</a:t>
            </a:r>
            <a:endParaRPr lang="en-US" sz="800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Если </a:t>
            </a:r>
            <a:r>
              <a:rPr lang="ru-RU" sz="800" i="1" dirty="0"/>
              <a:t>выр1</a:t>
            </a:r>
            <a:r>
              <a:rPr lang="ru-RU" sz="800" dirty="0"/>
              <a:t> и </a:t>
            </a:r>
            <a:r>
              <a:rPr lang="ru-RU" sz="800" i="1" dirty="0"/>
              <a:t>выр2</a:t>
            </a:r>
            <a:r>
              <a:rPr lang="ru-RU" sz="800" dirty="0"/>
              <a:t> - выражения, то </a:t>
            </a:r>
            <a:endParaRPr lang="ru-RU" sz="800" i="1" dirty="0"/>
          </a:p>
          <a:p>
            <a:pPr eaLnBrk="1" hangingPunct="1">
              <a:lnSpc>
                <a:spcPct val="80000"/>
              </a:lnSpc>
            </a:pPr>
            <a:r>
              <a:rPr lang="ru-RU" sz="800" b="1" i="1" dirty="0"/>
              <a:t>выр1 </a:t>
            </a:r>
            <a:r>
              <a:rPr lang="ru-RU" sz="800" b="1" i="1" dirty="0" err="1"/>
              <a:t>op</a:t>
            </a:r>
            <a:r>
              <a:rPr lang="ru-RU" sz="800" b="1" dirty="0"/>
              <a:t>= </a:t>
            </a:r>
            <a:r>
              <a:rPr lang="ru-RU" sz="800" b="1" i="1" dirty="0"/>
              <a:t>выр2</a:t>
            </a:r>
            <a:r>
              <a:rPr lang="ru-RU" sz="800" b="1" dirty="0"/>
              <a:t> </a:t>
            </a:r>
            <a:endParaRPr lang="en-US" sz="800" b="1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Эквивалентно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выр1 = (выр1) </a:t>
            </a:r>
            <a:r>
              <a:rPr lang="ru-RU" sz="800" dirty="0" err="1"/>
              <a:t>op</a:t>
            </a:r>
            <a:r>
              <a:rPr lang="ru-RU" sz="800" dirty="0"/>
              <a:t> (выр2) с той лишь разницей, что выр1 вычисляется только один раз. Обратите внимание на скобки вокруг выр2: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x *= y + 1 эквивалентно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x = x * (y + 1) но не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x=x*y+1</a:t>
            </a:r>
            <a:endParaRPr lang="en-US" sz="800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Помимо краткости операторы присваивания обладают тем преимуществом, что они более соответствуют тому, как человек мыслит. Мы говорим "прибавить 2 к i" или "увеличить i на 2", а не "взять i, добавить 2 и затем вернуть результат в i", так что выражение i+=2 лучше, чем i=i+2. Кроме того, в сложных выражениях вроде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 err="1"/>
              <a:t>yyval</a:t>
            </a:r>
            <a:r>
              <a:rPr lang="ru-RU" sz="800" dirty="0"/>
              <a:t>[</a:t>
            </a:r>
            <a:r>
              <a:rPr lang="ru-RU" sz="800" dirty="0" err="1"/>
              <a:t>yypv</a:t>
            </a:r>
            <a:r>
              <a:rPr lang="ru-RU" sz="800" dirty="0"/>
              <a:t>[p3+p4] + </a:t>
            </a:r>
            <a:r>
              <a:rPr lang="ru-RU" sz="800" dirty="0" err="1"/>
              <a:t>yypv</a:t>
            </a:r>
            <a:r>
              <a:rPr lang="ru-RU" sz="800" dirty="0"/>
              <a:t>[p1+p2]]+= 2</a:t>
            </a:r>
            <a:endParaRPr lang="en-US" sz="800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благодаря оператору присваивания += запись становится более легкой для понимания, так как читателю при такой записи не потребуется старательно сравнивать два длинных выражения, совпадают ли они, или выяснять, почему они не совпадают. Следует иметь в виду и то, что подобные операторы присваивания могут помочь компилятору сгенерировать более эффективный код.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Мы уже видели, что присваивание вырабатывает значение и может применяться внутри выражения: вот самый расхожий пример: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 err="1"/>
              <a:t>while</a:t>
            </a:r>
            <a:r>
              <a:rPr lang="ru-RU" sz="800" dirty="0"/>
              <a:t> ((с = </a:t>
            </a:r>
            <a:r>
              <a:rPr lang="ru-RU" sz="800" dirty="0" err="1"/>
              <a:t>getchar</a:t>
            </a:r>
            <a:r>
              <a:rPr lang="ru-RU" sz="800" dirty="0"/>
              <a:t>()) != EOF) В выражениях встречаются и другие операторы присваивания (+=, -= и т. д.), хотя и реже. Типом и значением любого выражения присваивания являются тип и значение его левого операнда после завершения присваивания. </a:t>
            </a:r>
          </a:p>
        </p:txBody>
      </p:sp>
    </p:spTree>
    <p:extLst>
      <p:ext uri="{BB962C8B-B14F-4D97-AF65-F5344CB8AC3E}">
        <p14:creationId xmlns:p14="http://schemas.microsoft.com/office/powerpoint/2010/main" val="871526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9A6D5B-1525-4DEB-BB3C-1CB18925C635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/>
              <a:t>В качестве примера приведем функцию bitcount, подсчитывающую число единичных битов в своем аргументе целочисленного типа. </a:t>
            </a:r>
            <a:endParaRPr lang="en-US"/>
          </a:p>
          <a:p>
            <a:pPr eaLnBrk="1" hangingPunct="1"/>
            <a:r>
              <a:rPr lang="ru-RU"/>
              <a:t>Независимо от машины, на которой будет работать эта программа, объявление аргумента x как unsigned гарантирует, что при правом сдвиге освобождающиеся биты будут заполняться нулями, а не знаковым битом. </a:t>
            </a:r>
          </a:p>
        </p:txBody>
      </p:sp>
    </p:spTree>
    <p:extLst>
      <p:ext uri="{BB962C8B-B14F-4D97-AF65-F5344CB8AC3E}">
        <p14:creationId xmlns:p14="http://schemas.microsoft.com/office/powerpoint/2010/main" val="7979807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BBFFD5-9602-4132-83B1-4B45C4F2E419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sz="1000" dirty="0"/>
              <a:t>Условное выражение, или тернарный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?:</a:t>
            </a:r>
            <a:r>
              <a:rPr lang="ru-RU" sz="1000" dirty="0"/>
              <a:t>, — это единственный оператор в C++, принимающий </a:t>
            </a:r>
            <a:r>
              <a:rPr lang="ru-RU" sz="1000" b="1" dirty="0"/>
              <a:t>три операнда</a:t>
            </a:r>
            <a:r>
              <a:rPr lang="ru-RU" sz="1000" dirty="0"/>
              <a:t>.</a:t>
            </a:r>
          </a:p>
          <a:p>
            <a:r>
              <a:rPr lang="ru-RU" sz="1000" dirty="0"/>
              <a:t>Он позволяет выбрать одно из двух выражений в зависимости от условия и при этом </a:t>
            </a:r>
            <a:r>
              <a:rPr lang="ru-RU" sz="1000" b="1" dirty="0"/>
              <a:t>возвращает значение</a:t>
            </a:r>
            <a:r>
              <a:rPr lang="ru-RU" sz="1000" dirty="0"/>
              <a:t>, поэтому его можно использовать там, где ожидается выражение, а не инструкция.</a:t>
            </a:r>
          </a:p>
          <a:p>
            <a:r>
              <a:rPr lang="ru-RU" sz="1000" dirty="0"/>
              <a:t>Важно, что вычисляется </a:t>
            </a:r>
            <a:r>
              <a:rPr lang="ru-RU" sz="1000" b="1" dirty="0"/>
              <a:t>только одна ветка</a:t>
            </a:r>
            <a:r>
              <a:rPr lang="ru-RU" sz="1000" dirty="0"/>
              <a:t> — либо вторая, либо третья часть, в зависимости от условия. Это поведение похоже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000" dirty="0"/>
              <a:t>, но в компактной форме.</a:t>
            </a:r>
          </a:p>
          <a:p>
            <a:r>
              <a:rPr lang="ru-RU" sz="1000" dirty="0"/>
              <a:t>Тернарный оператор удобно использовать для простых условий и инициализаций, но при сложной логике предпочтительнее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000" dirty="0"/>
              <a:t>, чтобы код оставался читаемым.</a:t>
            </a:r>
          </a:p>
          <a:p>
            <a:pPr eaLnBrk="1" hangingPunct="1"/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26612160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у каждого оператора есть </a:t>
            </a:r>
            <a:r>
              <a:rPr lang="ru-RU" b="1" dirty="0"/>
              <a:t>приоритет</a:t>
            </a:r>
            <a:r>
              <a:rPr lang="ru-RU" dirty="0"/>
              <a:t> и </a:t>
            </a:r>
            <a:r>
              <a:rPr lang="ru-RU" b="1" dirty="0"/>
              <a:t>ассоциативность</a:t>
            </a:r>
            <a:r>
              <a:rPr lang="ru-RU" dirty="0"/>
              <a:t> — эти правила определяют порядок вычисления выражений без скобок.</a:t>
            </a:r>
          </a:p>
          <a:p>
            <a:r>
              <a:rPr lang="ru-RU" dirty="0"/>
              <a:t>Приоритет отвечает за то, какие операции выполняются раньше. Например, умножение имеет более высокий приоритет, чем сложение, поэтому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 * C</a:t>
            </a:r>
            <a:r>
              <a:rPr lang="ru-RU" dirty="0"/>
              <a:t> вычисляется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(B * C)</a:t>
            </a:r>
            <a:r>
              <a:rPr lang="ru-RU" dirty="0"/>
              <a:t>.</a:t>
            </a:r>
          </a:p>
          <a:p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Ассоциативность применяется тогда, когда в выражении несколько операторов с </a:t>
            </a:r>
            <a:r>
              <a:rPr lang="ru-RU" b="1" dirty="0"/>
              <a:t>одинаковым приоритетом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Левоассоциативные</a:t>
            </a:r>
            <a:r>
              <a:rPr lang="ru-RU" dirty="0"/>
              <a:t> операторы вычисляются слева направо, как в выражении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- B - C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Правоассоциативные</a:t>
            </a:r>
            <a:r>
              <a:rPr lang="ru-RU" dirty="0"/>
              <a:t> — справа налево, как в цепочке присваиваний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B = C</a:t>
            </a:r>
            <a:r>
              <a:rPr lang="ru-RU" dirty="0"/>
              <a:t>.</a:t>
            </a:r>
          </a:p>
          <a:p>
            <a:r>
              <a:rPr lang="ru-RU" dirty="0"/>
              <a:t>Хотя правила приоритета строго определены стандартом, на практике рекомендуется </a:t>
            </a:r>
            <a:r>
              <a:rPr lang="ru-RU" b="1" dirty="0"/>
              <a:t>использовать скобки</a:t>
            </a:r>
            <a:r>
              <a:rPr lang="ru-RU" dirty="0"/>
              <a:t>, если порядок вычислений неочевиден — это делает код понятнее и снижает вероятность ошибок.</a:t>
            </a:r>
          </a:p>
          <a:p>
            <a:r>
              <a:rPr lang="ru-RU" dirty="0"/>
              <a:t>Подробная таблица приоритетов приведена по ссылке на </a:t>
            </a:r>
            <a:r>
              <a:rPr lang="ru-RU" dirty="0" err="1"/>
              <a:t>cppreference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3431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21DDD3-7B80-40CF-BC49-5CB6C181212B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5075" y="214313"/>
            <a:ext cx="3173413" cy="1785937"/>
          </a:xfrm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143125"/>
            <a:ext cx="6143625" cy="8215313"/>
          </a:xfrm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sz="7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807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демонстрирует одну из самых опасных ситуаций, связанных с </a:t>
            </a:r>
            <a:r>
              <a:rPr lang="ru-RU" b="1" dirty="0"/>
              <a:t>неявным приведением типов</a:t>
            </a:r>
            <a:r>
              <a:rPr lang="ru-RU" dirty="0"/>
              <a:t>.</a:t>
            </a:r>
          </a:p>
          <a:p>
            <a:r>
              <a:rPr lang="ru-RU" dirty="0"/>
              <a:t>Функция принимает ширину картинки как знаковое целое, а ширину экрана — как беззнаковое.</a:t>
            </a:r>
            <a:br>
              <a:rPr lang="ru-RU" dirty="0"/>
            </a:br>
            <a:r>
              <a:rPr lang="ru-RU" dirty="0"/>
              <a:t>При вычислении выражения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screenWidth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pictureWidth</a:t>
            </a:r>
            <a:r>
              <a:rPr lang="ru-RU" dirty="0"/>
              <a:t> происходит неявное приведение: знаковое значение приводится к беззнаковому.</a:t>
            </a:r>
          </a:p>
          <a:p>
            <a:r>
              <a:rPr lang="ru-RU" dirty="0"/>
              <a:t>Если ширина картинки больше ширины экрана, результат вычитания становится отрицательным, но из-за беззнакового типа он интерпретируется как </a:t>
            </a:r>
            <a:r>
              <a:rPr lang="ru-RU" b="1" dirty="0"/>
              <a:t>очень большое положительное число</a:t>
            </a:r>
            <a:r>
              <a:rPr lang="ru-RU" dirty="0"/>
              <a:t>.</a:t>
            </a:r>
          </a:p>
          <a:p>
            <a:r>
              <a:rPr lang="ru-RU" dirty="0"/>
              <a:t>В итоге вычисление формально корректно с точки зрения компилятора, но логически неверно, что приводит к трудноуловимой ошибке.</a:t>
            </a:r>
          </a:p>
          <a:p>
            <a:r>
              <a:rPr lang="ru-RU" dirty="0"/>
              <a:t>Вывод простой: </a:t>
            </a:r>
            <a:r>
              <a:rPr lang="ru-RU" b="1" dirty="0"/>
              <a:t>не смешивайте знаковые и беззнаковые типы в арифметике</a:t>
            </a:r>
            <a:r>
              <a:rPr lang="ru-RU" dirty="0"/>
              <a:t>, особенно в выражениях с вычитанием и сравнением.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1916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та же функция, но с </a:t>
            </a:r>
            <a:r>
              <a:rPr lang="ru-RU" b="1" dirty="0"/>
              <a:t>явным приведением типа</a:t>
            </a:r>
            <a:r>
              <a:rPr lang="ru-RU" dirty="0"/>
              <a:t> в стиле C.</a:t>
            </a:r>
            <a:br>
              <a:rPr lang="ru-RU" dirty="0"/>
            </a:br>
            <a:r>
              <a:rPr lang="ru-RU" dirty="0"/>
              <a:t>Мы явно приводим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screenWidth</a:t>
            </a:r>
            <a:r>
              <a:rPr lang="ru-RU" dirty="0"/>
              <a:t>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перед вычитанием, тем самым заставляя компилятор выполнять вычисление в знаковой арифметике.</a:t>
            </a:r>
          </a:p>
          <a:p>
            <a:endParaRPr lang="ru-RU" dirty="0"/>
          </a:p>
          <a:p>
            <a:r>
              <a:rPr lang="ru-RU" dirty="0"/>
              <a:t>В результате выражение корректно обрабатывает ситуацию, когда ширина картинки больше ширины экрана, и возвращает отрицательное значение, что соответствует ожидаемой логике.</a:t>
            </a:r>
          </a:p>
          <a:p>
            <a:endParaRPr lang="ru-RU" dirty="0"/>
          </a:p>
          <a:p>
            <a:r>
              <a:rPr lang="ru-RU" dirty="0"/>
              <a:t>Явное приведение делает поведение программы </a:t>
            </a:r>
            <a:r>
              <a:rPr lang="ru-RU" b="1" dirty="0"/>
              <a:t>предсказуемым</a:t>
            </a:r>
            <a:r>
              <a:rPr lang="ru-RU" dirty="0"/>
              <a:t> и устраняет ошибку, связанную с неявным приведением типов.</a:t>
            </a:r>
          </a:p>
          <a:p>
            <a:endParaRPr lang="ru-RU" dirty="0"/>
          </a:p>
          <a:p>
            <a:r>
              <a:rPr lang="ru-RU" dirty="0"/>
              <a:t>При этом важно помнить, что приведение в стиле C достаточно грубое и не проверяет безопасность операции. В современном C++ обычно предпочитают более явные и безопасные приведения, такие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ru-RU" dirty="0"/>
              <a:t>, о которых будет рассказано далее.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4097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Приведение типов в стиле C является слишком универсальным: одной и той же записью можно выполнить совершенно разные преобразования. Это упрощает синтаксис, но резко увеличивает риск ошибок.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 коду сложно понять, </a:t>
            </a:r>
            <a:r>
              <a:rPr lang="ru-RU" b="1" dirty="0"/>
              <a:t>какое именно преобразование выполняется</a:t>
            </a:r>
            <a:r>
              <a:rPr lang="ru-RU" dirty="0"/>
              <a:t> — меняется ли тип, снимается 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или происходит небезопасное преобразование указателя.</a:t>
            </a:r>
          </a:p>
          <a:p>
            <a:endParaRPr lang="en-US" dirty="0"/>
          </a:p>
          <a:p>
            <a:r>
              <a:rPr lang="ru-RU" dirty="0"/>
              <a:t>Такое приведение плохо видно в тексте программы и не поддерживает полиморфизм, поэтому не позволяет безопасно работать с иерархиями классов.</a:t>
            </a:r>
          </a:p>
          <a:p>
            <a:endParaRPr lang="en-US" dirty="0"/>
          </a:p>
          <a:p>
            <a:r>
              <a:rPr lang="ru-RU" dirty="0"/>
              <a:t>По этим причинам в современном C++ оператор приведения в стиле C считается нежелательным. Вместо него используются специализированные операторы приведения, каждый из которых явно показывает намерение программиста.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6549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7494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0366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ru-RU" dirty="0"/>
              <a:t> выполняет явное статическое преобразование типов и используется для понятных и контролируемых приведений.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 применяется, например, для преобразования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приведения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к указателю на конкретный тип, а также для преобразований указателей и ссылок внутри иерархии классов.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Преобразование от производного типа к базовому всегда безопасно. Обратное преобразование допустимо синтаксически, но не проверяется во время выполнения и требует уверенности, что объект действительно имеет нужный тип.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ru-RU" dirty="0"/>
              <a:t> делает код более безопасным и читаемым по сравнению с приведением в стиле C.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5199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497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3986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189C-09BA-B6F9-007B-BA5F3943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4704E20-F745-E4A9-3EDC-71D9FADA5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08A467-6114-973E-80E3-7255C6485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A8E0E9-D7F6-B0B6-7BAD-FF02A742A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053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reinterpret_cast</a:t>
            </a:r>
            <a:r>
              <a:rPr lang="ru-RU" dirty="0"/>
              <a:t> выполняет самое «грубое» приведение типов в C++.</a:t>
            </a:r>
            <a:br>
              <a:rPr lang="ru-RU" dirty="0"/>
            </a:br>
            <a:r>
              <a:rPr lang="ru-RU" dirty="0"/>
              <a:t>Он не преобразует значение, а просто </a:t>
            </a:r>
            <a:r>
              <a:rPr lang="ru-RU" b="1" dirty="0" err="1"/>
              <a:t>переинтерпретирует</a:t>
            </a:r>
            <a:r>
              <a:rPr lang="ru-RU" b="1" dirty="0"/>
              <a:t> биты</a:t>
            </a:r>
            <a:r>
              <a:rPr lang="ru-RU" dirty="0"/>
              <a:t> одного типа как другой.</a:t>
            </a:r>
          </a:p>
          <a:p>
            <a:r>
              <a:rPr lang="ru-RU" dirty="0"/>
              <a:t>Этот оператор может преобразовывать указатели между несвязанными типами, а также между указателями и целыми числами. Он применяется в редких случаях — в основном при низкоуровневой работе с памятью или взаимодействии с аппаратурой.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reinterpret_cast</a:t>
            </a:r>
            <a:r>
              <a:rPr lang="ru-RU" dirty="0"/>
              <a:t> </a:t>
            </a:r>
            <a:r>
              <a:rPr lang="ru-RU" b="1" dirty="0"/>
              <a:t>не выполняет никаких проверок</a:t>
            </a:r>
            <a:r>
              <a:rPr lang="ru-RU" dirty="0"/>
              <a:t> и не гарантирует корректность результата. Использовать его следует только тогда, когда программист полностью понимает представление данных в памяти.</a:t>
            </a:r>
          </a:p>
          <a:p>
            <a:r>
              <a:rPr lang="ru-RU" dirty="0"/>
              <a:t>В прикладном коде этот оператор используется крайне редко и считается инструментом «последнего средства».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3107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демонстрирует, как работает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reinterpret_cast</a:t>
            </a:r>
            <a:r>
              <a:rPr lang="ru-RU" dirty="0"/>
              <a:t> и почему его считают </a:t>
            </a:r>
            <a:r>
              <a:rPr lang="ru-RU" b="1" dirty="0"/>
              <a:t>опасным инструментом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ChangeString</a:t>
            </a:r>
            <a:r>
              <a:rPr lang="ru-RU" dirty="0"/>
              <a:t> принимает не указатель, а целочисленное значение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uintptr_t</a:t>
            </a:r>
            <a:r>
              <a:rPr lang="ru-RU" dirty="0"/>
              <a:t>, которое предназначено для хранения адреса в виде числа. Внутри функции это число обратно преобразуется в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reinterpret_cast</a:t>
            </a:r>
            <a:r>
              <a:rPr lang="ru-RU" dirty="0"/>
              <a:t>.</a:t>
            </a:r>
          </a:p>
          <a:p>
            <a:r>
              <a:rPr lang="ru-RU" dirty="0"/>
              <a:t>С точки зрения компилятора такой код допустим: программист явно заявляет, что он знает, как интерпретировать эти биты. В результате функция успешно изменяет строку, переданную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понимать, что корректность такого кода </a:t>
            </a:r>
            <a:r>
              <a:rPr lang="ru-RU" b="1" dirty="0"/>
              <a:t>полностью лежит на программисте</a:t>
            </a:r>
            <a:r>
              <a:rPr lang="ru-RU" dirty="0"/>
              <a:t>. Компилятор не проверяет, действительно ли число содержит корректный адрес нужного объекта. Любая ошибка здесь приводит к неопределённому поведению.</a:t>
            </a:r>
          </a:p>
          <a:p>
            <a:endParaRPr lang="ru-RU" dirty="0"/>
          </a:p>
          <a:p>
            <a:r>
              <a:rPr lang="ru-RU" dirty="0"/>
              <a:t>Подобные преобразования допустимы только в низкоуровневом коде, например при взаимодействии с C-API или системными интерфейсами. В обычных программах такой подход считается крайне нежелательным.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0758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976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6D7681-B91F-4460-A719-CE877E973B3B}" type="slidenum">
              <a:rPr lang="ru-RU" smtClean="0"/>
              <a:pPr/>
              <a:t>72</a:t>
            </a:fld>
            <a:endParaRPr lang="ru-RU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1021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7089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9CA9B5-74EB-4998-8634-E28112587779}" type="slidenum">
              <a:rPr lang="ru-RU" smtClean="0"/>
              <a:pPr/>
              <a:t>74</a:t>
            </a:fld>
            <a:endParaRPr lang="ru-RU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63538" y="107950"/>
            <a:ext cx="6096000" cy="3429000"/>
          </a:xfrm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492500"/>
            <a:ext cx="6858000" cy="5651500"/>
          </a:xfrm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80170139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81A0F8-65A2-4B76-8DB2-240442EA6061}" type="slidenum">
              <a:rPr lang="ru-RU" smtClean="0"/>
              <a:pPr/>
              <a:t>78</a:t>
            </a:fld>
            <a:endParaRPr lang="ru-RU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 sz="1000"/>
              <a:t>Конструкция </a:t>
            </a:r>
          </a:p>
          <a:p>
            <a:pPr eaLnBrk="1" hangingPunct="1"/>
            <a:r>
              <a:rPr lang="ru-RU" sz="1000">
                <a:latin typeface="Courier New" pitchFamily="49" charset="0"/>
              </a:rPr>
              <a:t>if (</a:t>
            </a:r>
            <a:r>
              <a:rPr lang="ru-RU" sz="1000" i="1">
                <a:latin typeface="Courier New" pitchFamily="49" charset="0"/>
              </a:rPr>
              <a:t>выражение</a:t>
            </a:r>
            <a:r>
              <a:rPr lang="ru-RU" sz="1000">
                <a:latin typeface="Courier New" pitchFamily="49" charset="0"/>
              </a:rPr>
              <a:t>)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    </a:t>
            </a:r>
            <a:r>
              <a:rPr lang="ru-RU" sz="1000" i="1">
                <a:latin typeface="Courier New" pitchFamily="49" charset="0"/>
              </a:rPr>
              <a:t>инструкция</a:t>
            </a:r>
            <a:r>
              <a:rPr lang="ru-RU" sz="1000">
                <a:latin typeface="Courier New" pitchFamily="49" charset="0"/>
              </a:rPr>
              <a:t>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else if (</a:t>
            </a:r>
            <a:r>
              <a:rPr lang="ru-RU" sz="1000" i="1">
                <a:latin typeface="Courier New" pitchFamily="49" charset="0"/>
              </a:rPr>
              <a:t>выражение</a:t>
            </a:r>
            <a:r>
              <a:rPr lang="ru-RU" sz="1000">
                <a:latin typeface="Courier New" pitchFamily="49" charset="0"/>
              </a:rPr>
              <a:t>)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    </a:t>
            </a:r>
            <a:r>
              <a:rPr lang="ru-RU" sz="1000" i="1">
                <a:latin typeface="Courier New" pitchFamily="49" charset="0"/>
              </a:rPr>
              <a:t>инструкция</a:t>
            </a:r>
            <a:r>
              <a:rPr lang="ru-RU" sz="1000">
                <a:latin typeface="Courier New" pitchFamily="49" charset="0"/>
              </a:rPr>
              <a:t>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else if (</a:t>
            </a:r>
            <a:r>
              <a:rPr lang="ru-RU" sz="1000" i="1">
                <a:latin typeface="Courier New" pitchFamily="49" charset="0"/>
              </a:rPr>
              <a:t>выражение</a:t>
            </a:r>
            <a:r>
              <a:rPr lang="ru-RU" sz="1000">
                <a:latin typeface="Courier New" pitchFamily="49" charset="0"/>
              </a:rPr>
              <a:t>)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    </a:t>
            </a:r>
            <a:r>
              <a:rPr lang="ru-RU" sz="1000" i="1">
                <a:latin typeface="Courier New" pitchFamily="49" charset="0"/>
              </a:rPr>
              <a:t>инструкция</a:t>
            </a:r>
            <a:r>
              <a:rPr lang="ru-RU" sz="1000">
                <a:latin typeface="Courier New" pitchFamily="49" charset="0"/>
              </a:rPr>
              <a:t>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else if (</a:t>
            </a:r>
            <a:r>
              <a:rPr lang="ru-RU" sz="1000" i="1">
                <a:latin typeface="Courier New" pitchFamily="49" charset="0"/>
              </a:rPr>
              <a:t>выражение</a:t>
            </a:r>
            <a:r>
              <a:rPr lang="ru-RU" sz="1000">
                <a:latin typeface="Courier New" pitchFamily="49" charset="0"/>
              </a:rPr>
              <a:t>)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    </a:t>
            </a:r>
            <a:r>
              <a:rPr lang="ru-RU" sz="1000" i="1">
                <a:latin typeface="Courier New" pitchFamily="49" charset="0"/>
              </a:rPr>
              <a:t>инструкция</a:t>
            </a:r>
            <a:r>
              <a:rPr lang="ru-RU" sz="1000">
                <a:latin typeface="Courier New" pitchFamily="49" charset="0"/>
              </a:rPr>
              <a:t>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else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    </a:t>
            </a:r>
            <a:r>
              <a:rPr lang="ru-RU" sz="1000" i="1">
                <a:latin typeface="Courier New" pitchFamily="49" charset="0"/>
              </a:rPr>
              <a:t>инструкция</a:t>
            </a:r>
            <a:r>
              <a:rPr lang="ru-RU" sz="1000">
                <a:latin typeface="Courier New" pitchFamily="49" charset="0"/>
              </a:rPr>
              <a:t> </a:t>
            </a:r>
            <a:endParaRPr lang="en-US" sz="1000">
              <a:latin typeface="Courier New" pitchFamily="49" charset="0"/>
            </a:endParaRPr>
          </a:p>
          <a:p>
            <a:pPr eaLnBrk="1" hangingPunct="1"/>
            <a:r>
              <a:rPr lang="ru-RU" sz="1000"/>
              <a:t>встречается так часто, что о ней стоит поговорить особо. Приведенная последовательность инструкций </a:t>
            </a:r>
            <a:r>
              <a:rPr lang="ru-RU" sz="1000" b="1"/>
              <a:t>if</a:t>
            </a:r>
            <a:r>
              <a:rPr lang="ru-RU" sz="1000"/>
              <a:t> - самый общий способ описания многоступенчатого принятия решения. Выражения вычисляются по порядку; как только встречается </a:t>
            </a:r>
            <a:r>
              <a:rPr lang="ru-RU" sz="1000" i="1"/>
              <a:t>выражение</a:t>
            </a:r>
            <a:r>
              <a:rPr lang="ru-RU" sz="1000"/>
              <a:t> со значением "истина", выполняется соответствующая ему </a:t>
            </a:r>
            <a:r>
              <a:rPr lang="ru-RU" sz="1000" i="1"/>
              <a:t>инструкция</a:t>
            </a:r>
            <a:r>
              <a:rPr lang="ru-RU" sz="1000"/>
              <a:t>, на этом последовательность проверок завершается. Здесь под словом </a:t>
            </a:r>
            <a:r>
              <a:rPr lang="ru-RU" sz="1000" i="1"/>
              <a:t>инструкция</a:t>
            </a:r>
            <a:r>
              <a:rPr lang="ru-RU" sz="1000"/>
              <a:t> имеется в виду либо одна инструкция, либо группа инструкций в фигурных скобках. </a:t>
            </a:r>
          </a:p>
          <a:p>
            <a:pPr eaLnBrk="1" hangingPunct="1"/>
            <a:r>
              <a:rPr lang="ru-RU" sz="1000"/>
              <a:t>Последняя </a:t>
            </a:r>
            <a:r>
              <a:rPr lang="ru-RU" sz="1000" b="1"/>
              <a:t>else</a:t>
            </a:r>
            <a:r>
              <a:rPr lang="ru-RU" sz="1000"/>
              <a:t>-часть срабатывает, если не выполняются все предыдущие условия. Иногда в последней части не требуется производить никаких действий, в этом случае фрагмент</a:t>
            </a:r>
          </a:p>
          <a:p>
            <a:pPr eaLnBrk="1" hangingPunct="1"/>
            <a:r>
              <a:rPr lang="ru-RU" sz="1000"/>
              <a:t>else </a:t>
            </a:r>
            <a:r>
              <a:rPr lang="ru-RU" sz="1000" i="1"/>
              <a:t>инструкция</a:t>
            </a:r>
            <a:r>
              <a:rPr lang="ru-RU" sz="1000"/>
              <a:t> можно опустить или использовать для фиксации ошибочной ("невозможной") ситуации. </a:t>
            </a:r>
          </a:p>
        </p:txBody>
      </p:sp>
    </p:spTree>
    <p:extLst>
      <p:ext uri="{BB962C8B-B14F-4D97-AF65-F5344CB8AC3E}">
        <p14:creationId xmlns:p14="http://schemas.microsoft.com/office/powerpoint/2010/main" val="82536531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ABDC4D-37EA-4D41-89A1-FFCA7ADFDDD5}" type="slidenum">
              <a:rPr lang="ru-RU" smtClean="0"/>
              <a:pPr/>
              <a:t>80</a:t>
            </a:fld>
            <a:endParaRPr lang="ru-RU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/>
              <a:t>При бинарном поиске значение x сначала сравнивается с элементом, занимающим серединное положение в массиве v. Если x меньше, чем это значение, то областью поиска становится "верхняя" половина массива v, в противном случае - "нижняя". В любом случае следующий шаг - это сравнение с серединным элементом отобранной половины. Процесс "уполовинивания" диапазона продолжается до тех пор, пока либо не будет найдено значение, либо не станет пустым диапазон поиска. </a:t>
            </a:r>
            <a:endParaRPr lang="en-US"/>
          </a:p>
          <a:p>
            <a:pPr eaLnBrk="1" hangingPunct="1"/>
            <a:r>
              <a:rPr lang="ru-RU"/>
              <a:t>Основное действие, выполняемое на каждой шаге поиска, - сравнение значения x (меньше, больше или равно) с элементом v[mid]; это сравнение естественно поручить конструкции </a:t>
            </a:r>
            <a:r>
              <a:rPr lang="ru-RU" b="1"/>
              <a:t>else-if</a:t>
            </a:r>
            <a:r>
              <a:rPr lang="ru-RU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9001567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6ECC56-E42D-4968-BBC9-1BE1EF816C2E}" type="slidenum">
              <a:rPr lang="ru-RU" smtClean="0"/>
              <a:pPr/>
              <a:t>81</a:t>
            </a:fld>
            <a:endParaRPr lang="ru-RU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1000" dirty="0"/>
              <a:t>Инструкция </a:t>
            </a:r>
            <a:r>
              <a:rPr lang="ru-RU" sz="1000" b="1" dirty="0" err="1"/>
              <a:t>switch</a:t>
            </a:r>
            <a:r>
              <a:rPr lang="ru-RU" sz="1000" dirty="0"/>
              <a:t> используется для выбора одного из многих путей. Она проверяет, совпадает ли значение выражения с одним из значений, входящих в некоторое множество целых констант, и выполняет соответствующую этому значению ветвь программы: </a:t>
            </a:r>
          </a:p>
          <a:p>
            <a:pPr eaLnBrk="1" hangingPunct="1">
              <a:lnSpc>
                <a:spcPct val="80000"/>
              </a:lnSpc>
            </a:pPr>
            <a:r>
              <a:rPr lang="ru-RU" sz="1000" dirty="0" err="1"/>
              <a:t>switch</a:t>
            </a:r>
            <a:r>
              <a:rPr lang="ru-RU" sz="1000" dirty="0"/>
              <a:t> (</a:t>
            </a:r>
            <a:r>
              <a:rPr lang="ru-RU" sz="1000" i="1" dirty="0"/>
              <a:t>выражение</a:t>
            </a:r>
            <a:r>
              <a:rPr lang="ru-RU" sz="1000" dirty="0"/>
              <a:t>) { </a:t>
            </a:r>
            <a:r>
              <a:rPr lang="ru-RU" sz="1000" dirty="0" err="1"/>
              <a:t>case</a:t>
            </a:r>
            <a:r>
              <a:rPr lang="ru-RU" sz="1000" dirty="0"/>
              <a:t> </a:t>
            </a:r>
            <a:r>
              <a:rPr lang="ru-RU" sz="1000" i="1" dirty="0" err="1"/>
              <a:t>конст-выр</a:t>
            </a:r>
            <a:r>
              <a:rPr lang="ru-RU" sz="1000" dirty="0"/>
              <a:t>: </a:t>
            </a:r>
            <a:r>
              <a:rPr lang="ru-RU" sz="1000" i="1" dirty="0"/>
              <a:t>инструкции</a:t>
            </a:r>
            <a:r>
              <a:rPr lang="ru-RU" sz="1000" dirty="0"/>
              <a:t> </a:t>
            </a:r>
            <a:r>
              <a:rPr lang="ru-RU" sz="1000" dirty="0" err="1"/>
              <a:t>case</a:t>
            </a:r>
            <a:r>
              <a:rPr lang="ru-RU" sz="1000" dirty="0"/>
              <a:t> </a:t>
            </a:r>
            <a:r>
              <a:rPr lang="ru-RU" sz="1000" i="1" dirty="0" err="1"/>
              <a:t>конст-выр</a:t>
            </a:r>
            <a:r>
              <a:rPr lang="ru-RU" sz="1000" dirty="0"/>
              <a:t>: </a:t>
            </a:r>
            <a:r>
              <a:rPr lang="ru-RU" sz="1000" i="1" dirty="0"/>
              <a:t>инструкции</a:t>
            </a:r>
            <a:r>
              <a:rPr lang="ru-RU" sz="1000" dirty="0"/>
              <a:t> </a:t>
            </a:r>
            <a:r>
              <a:rPr lang="ru-RU" sz="1000" dirty="0" err="1"/>
              <a:t>default</a:t>
            </a:r>
            <a:r>
              <a:rPr lang="ru-RU" sz="1000" dirty="0"/>
              <a:t>: </a:t>
            </a:r>
            <a:r>
              <a:rPr lang="ru-RU" sz="1000" i="1" dirty="0"/>
              <a:t>инструкции</a:t>
            </a:r>
            <a:r>
              <a:rPr lang="ru-RU" sz="1000" dirty="0"/>
              <a:t> } Каждая ветвь </a:t>
            </a:r>
            <a:r>
              <a:rPr lang="ru-RU" sz="1000" b="1" dirty="0" err="1"/>
              <a:t>case</a:t>
            </a:r>
            <a:r>
              <a:rPr lang="ru-RU" sz="1000" dirty="0"/>
              <a:t> помечена одной или несколькими целочисленными константами или же константными выражениями. Вычисления начинаются с той ветви </a:t>
            </a:r>
            <a:r>
              <a:rPr lang="ru-RU" sz="1000" b="1" dirty="0" err="1"/>
              <a:t>case</a:t>
            </a:r>
            <a:r>
              <a:rPr lang="ru-RU" sz="1000" dirty="0"/>
              <a:t>, в которой константа совпадает со значением выражения . Константы всех ветвей </a:t>
            </a:r>
            <a:r>
              <a:rPr lang="ru-RU" sz="1000" b="1" dirty="0" err="1"/>
              <a:t>case</a:t>
            </a:r>
            <a:r>
              <a:rPr lang="ru-RU" sz="1000" dirty="0"/>
              <a:t> должны отличаться друг от друга. Если выяснилось, что ни одна из констант не подходит, то выполняется ветвь, помеченная словом </a:t>
            </a:r>
            <a:r>
              <a:rPr lang="ru-RU" sz="1000" b="1" dirty="0" err="1"/>
              <a:t>default</a:t>
            </a:r>
            <a:r>
              <a:rPr lang="ru-RU" sz="1000" dirty="0"/>
              <a:t>, если таковая имеется, в противном случае ничего не делается. Ветви </a:t>
            </a:r>
            <a:r>
              <a:rPr lang="ru-RU" sz="1000" b="1" dirty="0" err="1"/>
              <a:t>case</a:t>
            </a:r>
            <a:r>
              <a:rPr lang="ru-RU" sz="1000" dirty="0"/>
              <a:t> и </a:t>
            </a:r>
            <a:r>
              <a:rPr lang="ru-RU" sz="1000" b="1" dirty="0" err="1"/>
              <a:t>default</a:t>
            </a:r>
            <a:r>
              <a:rPr lang="ru-RU" sz="1000" dirty="0"/>
              <a:t> можно располагать в любом порядке. Инструкция </a:t>
            </a:r>
            <a:r>
              <a:rPr lang="ru-RU" sz="1000" b="1" dirty="0" err="1"/>
              <a:t>break</a:t>
            </a:r>
            <a:r>
              <a:rPr lang="ru-RU" sz="1000" dirty="0"/>
              <a:t> вызывает немедленный выход из переключателя </a:t>
            </a:r>
            <a:r>
              <a:rPr lang="ru-RU" sz="1000" b="1" dirty="0" err="1"/>
              <a:t>switch</a:t>
            </a:r>
            <a:r>
              <a:rPr lang="ru-RU" sz="1000" dirty="0"/>
              <a:t>. Поскольку выбор ветви </a:t>
            </a:r>
            <a:r>
              <a:rPr lang="ru-RU" sz="1000" b="1" dirty="0" err="1"/>
              <a:t>case</a:t>
            </a:r>
            <a:r>
              <a:rPr lang="ru-RU" sz="1000" dirty="0"/>
              <a:t> реализуется как переход на метку, то после выполнения одной ветви </a:t>
            </a:r>
            <a:r>
              <a:rPr lang="ru-RU" sz="1000" b="1" dirty="0" err="1"/>
              <a:t>case</a:t>
            </a:r>
            <a:r>
              <a:rPr lang="ru-RU" sz="1000" dirty="0"/>
              <a:t>, если ничего не предпринять, программа провалится вниз на следующую ветвь. Инструкции </a:t>
            </a:r>
            <a:r>
              <a:rPr lang="ru-RU" sz="1000" b="1" dirty="0" err="1"/>
              <a:t>break</a:t>
            </a:r>
            <a:r>
              <a:rPr lang="ru-RU" sz="1000" dirty="0"/>
              <a:t> и </a:t>
            </a:r>
            <a:r>
              <a:rPr lang="ru-RU" sz="1000" b="1" dirty="0" err="1"/>
              <a:t>return</a:t>
            </a:r>
            <a:r>
              <a:rPr lang="ru-RU" sz="1000" dirty="0"/>
              <a:t> — наиболее распространенные средства выхода из переключателя. Инструкция </a:t>
            </a:r>
            <a:r>
              <a:rPr lang="ru-RU" sz="1000" b="1" dirty="0" err="1"/>
              <a:t>break</a:t>
            </a:r>
            <a:r>
              <a:rPr lang="ru-RU" sz="1000" dirty="0"/>
              <a:t> используется также для принудительного выхода из циклов </a:t>
            </a:r>
            <a:r>
              <a:rPr lang="ru-RU" sz="1000" b="1" dirty="0" err="1"/>
              <a:t>while</a:t>
            </a:r>
            <a:r>
              <a:rPr lang="ru-RU" sz="1000" dirty="0"/>
              <a:t>, </a:t>
            </a:r>
            <a:r>
              <a:rPr lang="ru-RU" sz="1000" b="1" dirty="0" err="1"/>
              <a:t>for</a:t>
            </a:r>
            <a:r>
              <a:rPr lang="ru-RU" sz="1000" dirty="0"/>
              <a:t> и </a:t>
            </a:r>
            <a:r>
              <a:rPr lang="ru-RU" sz="1000" b="1" dirty="0" err="1"/>
              <a:t>do-while</a:t>
            </a:r>
            <a:r>
              <a:rPr lang="ru-RU" sz="1000" dirty="0"/>
              <a:t> (мы еще поговорим об этом чуть позже). </a:t>
            </a:r>
          </a:p>
          <a:p>
            <a:pPr eaLnBrk="1" hangingPunct="1">
              <a:lnSpc>
                <a:spcPct val="80000"/>
              </a:lnSpc>
            </a:pPr>
            <a:r>
              <a:rPr lang="ru-RU" sz="1000" dirty="0"/>
              <a:t>"Сквозное" выполнение ветвей </a:t>
            </a:r>
            <a:r>
              <a:rPr lang="ru-RU" sz="1000" b="1" dirty="0" err="1"/>
              <a:t>case</a:t>
            </a:r>
            <a:r>
              <a:rPr lang="ru-RU" sz="1000" dirty="0"/>
              <a:t> вызывает смешанные чувства. С одной стороны, это хорошо, поскольку позволяет несколько ветвей </a:t>
            </a:r>
            <a:r>
              <a:rPr lang="ru-RU" sz="1000" b="1" dirty="0" err="1"/>
              <a:t>case</a:t>
            </a:r>
            <a:r>
              <a:rPr lang="ru-RU" sz="1000" dirty="0"/>
              <a:t> объединить в одну, как мы и поступили с цифрами в нашем примере. Но с другой - это означает, что в конце почти каждой ветви придется ставить </a:t>
            </a:r>
            <a:r>
              <a:rPr lang="ru-RU" sz="1000" b="1" dirty="0" err="1"/>
              <a:t>break</a:t>
            </a:r>
            <a:r>
              <a:rPr lang="ru-RU" sz="1000" dirty="0"/>
              <a:t>, чтобы избежать перехода к следующей. Последовательный проход по ветвям - вещь ненадежная, это чревато ошибками, особенно при изменении программы. За исключением случая с несколькими метками для одного вычисления, старайтесь по возможности реже пользоваться сквозным проходом, но если уж вы его применяете, обязательно комментируйте эти особые места. </a:t>
            </a:r>
          </a:p>
          <a:p>
            <a:pPr eaLnBrk="1" hangingPunct="1">
              <a:lnSpc>
                <a:spcPct val="80000"/>
              </a:lnSpc>
            </a:pPr>
            <a:r>
              <a:rPr lang="ru-RU" sz="1000" dirty="0"/>
              <a:t>Добрый вам совет: даже в конце последней ветви (после </a:t>
            </a:r>
            <a:r>
              <a:rPr lang="ru-RU" sz="1000" b="1" dirty="0" err="1"/>
              <a:t>default</a:t>
            </a:r>
            <a:r>
              <a:rPr lang="ru-RU" sz="1000" dirty="0"/>
              <a:t> в нашем примере) помещайте инструкцию </a:t>
            </a:r>
            <a:r>
              <a:rPr lang="ru-RU" sz="1000" b="1" dirty="0" err="1"/>
              <a:t>break</a:t>
            </a:r>
            <a:r>
              <a:rPr lang="ru-RU" sz="1000" dirty="0"/>
              <a:t>, хотя с точки зрения логики в ней нет никакой необходимости. Но эта маленькая предосторожность спасет вас, когда однажды вам потребуется добавить в конец еще одну ветвь </a:t>
            </a:r>
            <a:r>
              <a:rPr lang="ru-RU" sz="1000" b="1" dirty="0" err="1"/>
              <a:t>case</a:t>
            </a:r>
            <a:r>
              <a:rPr lang="ru-RU" sz="1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156920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0771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0772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6F80C0-1BA2-4671-AA36-264206B1A34C}" type="slidenum">
              <a:rPr lang="ru-RU" smtClean="0"/>
              <a:pPr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00936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2819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2820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B15482-EA98-45F5-8D54-EC659A913D11}" type="slidenum">
              <a:rPr lang="ru-RU" smtClean="0"/>
              <a:pPr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94716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3843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3844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5E0129-7A6B-4637-83E9-8F55C1AFD076}" type="slidenum">
              <a:rPr lang="ru-RU" smtClean="0"/>
              <a:pPr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78630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4867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4868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B164CD-3DEE-4C3D-9BF1-C30A14BF09AE}" type="slidenum">
              <a:rPr lang="ru-RU" smtClean="0"/>
              <a:pPr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35813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5891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используется тогда, когда заранее известно, </a:t>
            </a:r>
            <a:r>
              <a:rPr lang="ru-RU" b="1" dirty="0"/>
              <a:t>сколько раз</a:t>
            </a:r>
            <a:r>
              <a:rPr lang="ru-RU" dirty="0"/>
              <a:t> должен выполниться цикл или есть явный счётчик.</a:t>
            </a:r>
          </a:p>
          <a:p>
            <a:r>
              <a:rPr lang="ru-RU" dirty="0"/>
              <a:t>Выражение инициализации выполняется один раз перед началом цикла. Затем перед каждой итерацией проверяется условие. Если оно ложно, выполнение цикла прекращается.</a:t>
            </a:r>
          </a:p>
          <a:p>
            <a:r>
              <a:rPr lang="ru-RU" dirty="0"/>
              <a:t>После выполнения тела цикла выполняется выражение шага, и затем снова проверяется условие.</a:t>
            </a:r>
          </a:p>
          <a:p>
            <a:r>
              <a:rPr lang="ru-RU" dirty="0"/>
              <a:t>Все три части заголовка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являются выражениями и могут быть опущены, но чаще всего используются для инициализации, проверки условия и изменения счётчика.</a:t>
            </a:r>
          </a:p>
          <a:p>
            <a:r>
              <a:rPr lang="ru-RU" dirty="0"/>
              <a:t>Цикл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удобно читать, потому что вся логика управления циклом сосредоточена в одной строке</a:t>
            </a:r>
          </a:p>
          <a:p>
            <a:pPr eaLnBrk="1" hangingPunct="1"/>
            <a:endParaRPr lang="ru-RU" dirty="0"/>
          </a:p>
        </p:txBody>
      </p:sp>
      <p:sp>
        <p:nvSpPr>
          <p:cNvPr id="165892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93A11F-A016-45ED-B181-C3C6CB5B78D2}" type="slidenum">
              <a:rPr lang="ru-RU" smtClean="0"/>
              <a:pPr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68595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6915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6916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81E926-53F5-4BD9-8CF1-014610FFAA12}" type="slidenum">
              <a:rPr lang="ru-RU" smtClean="0"/>
              <a:pPr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44279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7939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7940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8EFC67-94AA-4E24-AC41-2ABD83006C6C}" type="slidenum">
              <a:rPr lang="ru-RU" smtClean="0"/>
              <a:pPr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02892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2035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72036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3EDA0C-0A70-49A4-88A1-6C4EA46E6592}" type="slidenum">
              <a:rPr lang="ru-RU" smtClean="0"/>
              <a:pPr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54672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5107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 выполняет безусловный переход к указанной метке внутри той же функции.</a:t>
            </a:r>
          </a:p>
          <a:p>
            <a:r>
              <a:rPr lang="ru-RU" dirty="0"/>
              <a:t>Исторически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 использовался для управления потоком выполнения, но в большинстве случаев он приводит к запутанному и трудно читаемому коду, так называемому «спагетти-коду».</a:t>
            </a:r>
          </a:p>
          <a:p>
            <a:endParaRPr lang="ru-RU" dirty="0"/>
          </a:p>
          <a:p>
            <a:r>
              <a:rPr lang="ru-RU" dirty="0"/>
              <a:t>В современном C++ необходимость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 практически отсутствует: вместо него используют циклы,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, а также исключения.</a:t>
            </a:r>
          </a:p>
          <a:p>
            <a:endParaRPr lang="ru-RU" dirty="0"/>
          </a:p>
          <a:p>
            <a:r>
              <a:rPr lang="ru-RU" dirty="0"/>
              <a:t>Существуют редкие случаи применения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, например для аккуратного выхода из глубоко вложенных конструкций или для обработки ошибок в низкоуровневом коде, но даже там его стоит использовать с большой осторожностью.</a:t>
            </a:r>
          </a:p>
          <a:p>
            <a:endParaRPr lang="ru-RU" dirty="0"/>
          </a:p>
          <a:p>
            <a:r>
              <a:rPr lang="ru-RU" dirty="0"/>
              <a:t>Общее правило простое: если вы хотите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, почти наверняка существует более понятное и безопасное решение.</a:t>
            </a:r>
          </a:p>
          <a:p>
            <a:pPr eaLnBrk="1" hangingPunct="1"/>
            <a:endParaRPr lang="ru-RU" dirty="0"/>
          </a:p>
        </p:txBody>
      </p:sp>
      <p:sp>
        <p:nvSpPr>
          <p:cNvPr id="175108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296F14-48E5-42A6-9E12-F562590954EE}" type="slidenum">
              <a:rPr lang="ru-RU" smtClean="0"/>
              <a:pPr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40894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6131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76132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D7D134-9C9D-4B6B-AB0B-480FF792F222}" type="slidenum">
              <a:rPr lang="ru-RU" smtClean="0"/>
              <a:pPr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67150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— это именованный блок кода, который можно вызывать многократно из разных частей программы.</a:t>
            </a:r>
          </a:p>
          <a:p>
            <a:r>
              <a:rPr lang="ru-RU" dirty="0"/>
              <a:t>Она может принимать параметры и возвращать результат. Тип возвращаемого значения указывается в объявлении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 завершает выполнение функции и возвращает значение вызывающему коду. Если функция объявлена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dirty="0"/>
              <a:t>, значение не возвращается.</a:t>
            </a:r>
          </a:p>
          <a:p>
            <a:r>
              <a:rPr lang="ru-RU" dirty="0"/>
              <a:t>Использование функций делает программу более структурированной, читаемой и облегчает повторное использование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46197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различают </a:t>
            </a:r>
            <a:r>
              <a:rPr lang="ru-RU" b="1" dirty="0"/>
              <a:t>объявление</a:t>
            </a:r>
            <a:r>
              <a:rPr lang="ru-RU" dirty="0"/>
              <a:t> и </a:t>
            </a:r>
            <a:r>
              <a:rPr lang="ru-RU" b="1" dirty="0"/>
              <a:t>определение</a:t>
            </a:r>
            <a:r>
              <a:rPr lang="ru-RU" dirty="0"/>
              <a:t> функции.</a:t>
            </a:r>
          </a:p>
          <a:p>
            <a:r>
              <a:rPr lang="ru-RU" dirty="0"/>
              <a:t>Объявление сообщает компилятору сигнатуру функции — имя, параметры и тип возвращаемого значения. Благодаря этому функцию можно вызывать до её определения.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Определение содержит тело функции — её реализацию.</a:t>
            </a:r>
          </a:p>
          <a:p>
            <a:r>
              <a:rPr lang="ru-RU" dirty="0"/>
              <a:t>Согласно правилу </a:t>
            </a:r>
            <a:r>
              <a:rPr lang="ru-RU" b="1" dirty="0"/>
              <a:t>ODR (One Definition </a:t>
            </a:r>
            <a:r>
              <a:rPr lang="ru-RU" b="1" dirty="0" err="1"/>
              <a:t>Rule</a:t>
            </a:r>
            <a:r>
              <a:rPr lang="ru-RU" b="1" dirty="0"/>
              <a:t>)</a:t>
            </a:r>
            <a:r>
              <a:rPr lang="ru-RU" dirty="0"/>
              <a:t>, в программе должна существовать ровно одна определённая версия каждой функции с одинаковой сигнатурой. Объявлений может быть несколько, но определение — только одно.</a:t>
            </a:r>
          </a:p>
          <a:p>
            <a:r>
              <a:rPr lang="ru-RU" dirty="0"/>
              <a:t>Нарушение ODR приводит к ошибкам компоновки или неопределённому поведению.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45935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аргумент передаётся </a:t>
            </a:r>
            <a:r>
              <a:rPr lang="ru-RU" b="1" dirty="0"/>
              <a:t>по значению</a:t>
            </a:r>
            <a:r>
              <a:rPr lang="ru-RU" dirty="0"/>
              <a:t>. Это означает, что функция получает </a:t>
            </a:r>
            <a:r>
              <a:rPr lang="ru-RU" b="1" dirty="0"/>
              <a:t>копию</a:t>
            </a:r>
            <a:r>
              <a:rPr lang="ru-RU" dirty="0"/>
              <a:t> переданной переменной.</a:t>
            </a:r>
          </a:p>
          <a:p>
            <a:r>
              <a:rPr lang="ru-RU" dirty="0"/>
              <a:t>Внутри функции изменение параметра никак не влияет на исходную переменную, потому что они находятся в разных областях памяти.</a:t>
            </a:r>
          </a:p>
          <a:p>
            <a:r>
              <a:rPr lang="ru-RU" dirty="0"/>
              <a:t>Поэтому после вызова функции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остаётся равным нулю, несмотря на изменение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</a:t>
            </a:r>
            <a:r>
              <a:rPr lang="ru-RU" dirty="0"/>
              <a:t> внутри функции.</a:t>
            </a:r>
          </a:p>
          <a:p>
            <a:r>
              <a:rPr lang="ru-RU" dirty="0"/>
              <a:t>Передача по значению безопасна и удобна, но при работе с большими объектами может приводить к лишнему копированию.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62630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строка передаётся в функцию </a:t>
            </a:r>
            <a:r>
              <a:rPr lang="ru-RU" b="1" dirty="0"/>
              <a:t>по значению</a:t>
            </a:r>
            <a:r>
              <a:rPr lang="ru-RU" dirty="0"/>
              <a:t>, то есть создаётся её копия.</a:t>
            </a:r>
          </a:p>
          <a:p>
            <a:r>
              <a:rPr lang="ru-RU" dirty="0"/>
              <a:t>Внутри функции мы свободно изменяем параметр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ru-RU" dirty="0"/>
              <a:t>, заменяя пробелы на подчёркивания. Эти изменения происходят только с копией строки.</a:t>
            </a:r>
          </a:p>
          <a:p>
            <a:endParaRPr lang="ru-RU" dirty="0"/>
          </a:p>
          <a:p>
            <a:r>
              <a:rPr lang="ru-RU" dirty="0"/>
              <a:t>После возврата из функции исходная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greeting</a:t>
            </a:r>
            <a:r>
              <a:rPr lang="ru-RU" dirty="0"/>
              <a:t> остаётся неизменной, что подтверждается проверкой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Передача по значению удобна, когда функция должна работать с локальной копией данных и не изменять исходный объект. Однако для больших объектов такое копирование может быть затратным, поэтому в некоторых случаях используют передачу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6485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Иногда функции нужно изменить переменную, переданную из вызывающего кода. В таких случаях используется </a:t>
            </a:r>
            <a:r>
              <a:rPr lang="ru-RU" b="1" dirty="0"/>
              <a:t>передача по ссылке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getline</a:t>
            </a:r>
            <a:r>
              <a:rPr lang="ru-RU" dirty="0"/>
              <a:t> принимает строку по ссылке и записывает в неё считанные данные. Копия объекта при этом не создаётся — функция работает с исходной переменной.</a:t>
            </a:r>
          </a:p>
          <a:p>
            <a:r>
              <a:rPr lang="ru-RU" dirty="0"/>
              <a:t>Передача по ссылке обозначается символом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 после типа параметра.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Изменения, выполненные внутри функции, напрямую отражаются на переменной в вызывающем коде.</a:t>
            </a:r>
          </a:p>
          <a:p>
            <a:r>
              <a:rPr lang="ru-RU" dirty="0"/>
              <a:t>Передача по ссылке удобна для изменения аргументов и позволяет избежать лишнего копирования объектов.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81046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строка передаётся в функцию </a:t>
            </a:r>
            <a:r>
              <a:rPr lang="ru-RU" b="1" dirty="0"/>
              <a:t>по ссылке</a:t>
            </a:r>
            <a:r>
              <a:rPr lang="ru-RU" dirty="0"/>
              <a:t>, поэтому функция работает с исходным объектом, а не с его копией.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RemoveSpaces</a:t>
            </a:r>
            <a:r>
              <a:rPr lang="ru-RU" dirty="0"/>
              <a:t> изменяет строку «на месте»: она переписывает только </a:t>
            </a:r>
            <a:r>
              <a:rPr lang="ru-RU" dirty="0" err="1"/>
              <a:t>непробельные</a:t>
            </a:r>
            <a:r>
              <a:rPr lang="ru-RU" dirty="0"/>
              <a:t> символы, а затем укорачивает строку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resize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Поскольку параметр объявлен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, все изменения внутри функции напрямую отражаются на переменной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Передача по ссылке удобна, когда функция должна изменить объект и при этом избежать лишнего копирования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73677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Аргумент, переданный по ссылке, можно использовать для возврата </a:t>
            </a:r>
            <a:r>
              <a:rPr lang="ru-RU" b="1" dirty="0"/>
              <a:t>дополнительного результата</a:t>
            </a:r>
            <a:r>
              <a:rPr lang="ru-RU" dirty="0"/>
              <a:t> из функции. Такой параметр называют </a:t>
            </a:r>
            <a:r>
              <a:rPr lang="ru-RU" b="1" dirty="0"/>
              <a:t>выходным аргументом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примере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Invert</a:t>
            </a:r>
            <a:r>
              <a:rPr lang="ru-RU" dirty="0"/>
              <a:t> возвращает основное значение — число, обратное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</a:t>
            </a:r>
            <a:r>
              <a:rPr lang="ru-RU" dirty="0"/>
              <a:t>, — а через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wasError</a:t>
            </a:r>
            <a:r>
              <a:rPr lang="ru-RU" dirty="0"/>
              <a:t> сообщает, возникла ли ошибка.</a:t>
            </a:r>
          </a:p>
          <a:p>
            <a:r>
              <a:rPr lang="ru-RU" dirty="0"/>
              <a:t>Если число равно нулю, результат деления не является корректным конечным числом, что проверяется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isfinite</a:t>
            </a:r>
            <a:r>
              <a:rPr lang="ru-RU" dirty="0"/>
              <a:t>. В этом случае функция возвращает 0.0 и устанавливает флаг ошибки.</a:t>
            </a:r>
          </a:p>
          <a:p>
            <a:r>
              <a:rPr lang="ru-RU" dirty="0"/>
              <a:t>Важно помнить: если функция использует выходной аргумент, она обязана корректно присваивать ему значение во всех ветках выполнения. Иначе вызывающий код может получить неопределённое или устаревшее значение.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23827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ввести число 4, программа выведет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dirty="0"/>
              <a:t>, хотя это кажется нелогичным.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Причина в том, что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Invert</a:t>
            </a:r>
            <a:r>
              <a:rPr lang="ru-RU" dirty="0"/>
              <a:t> изменяет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was_error</a:t>
            </a:r>
            <a:r>
              <a:rPr lang="ru-RU" dirty="0"/>
              <a:t> </a:t>
            </a:r>
            <a:r>
              <a:rPr lang="ru-RU" b="1" dirty="0"/>
              <a:t>только в случае ошибки</a:t>
            </a:r>
            <a:r>
              <a:rPr lang="ru-RU" dirty="0"/>
              <a:t>. Если число корректное, значение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was_error</a:t>
            </a:r>
            <a:r>
              <a:rPr lang="ru-RU" dirty="0"/>
              <a:t> внутри функции не устанавливается.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was_error</a:t>
            </a:r>
            <a:r>
              <a:rPr lang="ru-RU" dirty="0"/>
              <a:t> изначально инициализирована значением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 Поскольку функция не изменила её при успешном вычислении, она остаётся равной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и условие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was_error</a:t>
            </a:r>
            <a:r>
              <a:rPr lang="ru-RU" dirty="0"/>
              <a:t> оказывается ложным.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типичная ошибка при использовании выходных параметров: функция обязана устанавливать их значение </a:t>
            </a:r>
            <a:r>
              <a:rPr lang="ru-RU" b="1" dirty="0"/>
              <a:t>во всех сценариях выполнения</a:t>
            </a:r>
            <a:r>
              <a:rPr lang="ru-RU" dirty="0"/>
              <a:t>.</a:t>
            </a:r>
          </a:p>
          <a:p>
            <a:r>
              <a:rPr lang="ru-RU" dirty="0"/>
              <a:t>Исправление простое — явно записывать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was_error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 при успешном выполнении.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11386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параметр объявлен как </a:t>
            </a:r>
            <a:r>
              <a:rPr lang="ru-RU" dirty="0" err="1"/>
              <a:t>неконстантная</a:t>
            </a:r>
            <a:r>
              <a:rPr lang="ru-RU" dirty="0"/>
              <a:t> ссылка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T&amp;</a:t>
            </a:r>
            <a:r>
              <a:rPr lang="ru-RU" dirty="0"/>
              <a:t>, функция получает доступ к исходному объекту и может его изменить.</a:t>
            </a:r>
          </a:p>
          <a:p>
            <a:endParaRPr lang="ru-RU" dirty="0"/>
          </a:p>
          <a:p>
            <a:r>
              <a:rPr lang="ru-RU" dirty="0"/>
              <a:t>Поэтому по такой ссылке можно передать только реально существующий </a:t>
            </a:r>
            <a:r>
              <a:rPr lang="ru-RU" b="1" dirty="0"/>
              <a:t>изменяемый объект</a:t>
            </a:r>
            <a:r>
              <a:rPr lang="ru-RU" dirty="0"/>
              <a:t> — например, переменную или элемент массива.</a:t>
            </a:r>
          </a:p>
          <a:p>
            <a:endParaRPr lang="ru-RU" dirty="0"/>
          </a:p>
          <a:p>
            <a:r>
              <a:rPr lang="ru-RU" dirty="0"/>
              <a:t>Нельзя передать временный объект, например результат выражения, потому что он не имеет собственного имени и живёт только во время вычисления выражения.</a:t>
            </a:r>
          </a:p>
          <a:p>
            <a:endParaRPr lang="ru-RU" dirty="0"/>
          </a:p>
          <a:p>
            <a:r>
              <a:rPr lang="ru-RU" dirty="0"/>
              <a:t>Также нельзя передать константный объект, поскольку функция потенциально может изменить значение, а это нарушило бы правило неизменяемости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помнить, что речь идёт именно о </a:t>
            </a:r>
            <a:r>
              <a:rPr lang="ru-RU" b="1" dirty="0" err="1"/>
              <a:t>неконстантной</a:t>
            </a:r>
            <a:r>
              <a:rPr lang="ru-RU" b="1" dirty="0"/>
              <a:t> ссылке</a:t>
            </a:r>
            <a:r>
              <a:rPr lang="ru-RU" dirty="0"/>
              <a:t>. Константная ссылка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T&amp;</a:t>
            </a:r>
            <a:r>
              <a:rPr lang="ru-RU" dirty="0"/>
              <a:t>) имеет другие правила и более гибка — её рассмотрим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66165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03823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Передача по константной ссылке сочетает в себе два преимущества: эффективность и безопасность.</a:t>
            </a:r>
          </a:p>
          <a:p>
            <a:endParaRPr lang="ru-RU" dirty="0"/>
          </a:p>
          <a:p>
            <a:r>
              <a:rPr lang="ru-RU" dirty="0"/>
              <a:t>Объект не копируется, поэтому не расходуются лишние память и время процессора. Это особенно важно для «тяжёлых» типов, таких как строки, векторы и другие контейнеры.</a:t>
            </a:r>
          </a:p>
          <a:p>
            <a:r>
              <a:rPr lang="ru-RU" dirty="0"/>
              <a:t>При этом модификатор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гарантирует, что функция не сможет изменить переданный объект. Компилятор контролирует это на этапе компиляции.</a:t>
            </a:r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dirty="0" err="1"/>
              <a:t>неконстантной</a:t>
            </a:r>
            <a:r>
              <a:rPr lang="ru-RU" dirty="0"/>
              <a:t> ссылки,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T&amp;</a:t>
            </a:r>
            <a:r>
              <a:rPr lang="ru-RU" dirty="0"/>
              <a:t> может связываться не только с обычными переменными, но и с константами и временными объектами. Поэтому передача по константной ссылке является стандартным способом передачи больших объектов, которые не нужно изменять.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32190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параметр передаётся по </a:t>
            </a:r>
            <a:r>
              <a:rPr lang="ru-RU" b="1" dirty="0"/>
              <a:t>константной ссылке</a:t>
            </a:r>
            <a:r>
              <a:rPr lang="ru-RU" dirty="0"/>
              <a:t>. Это означает, что объект не копируется, но при этом функция не может его изменить.</a:t>
            </a:r>
          </a:p>
          <a:p>
            <a:endParaRPr lang="ru-RU" dirty="0"/>
          </a:p>
          <a:p>
            <a:r>
              <a:rPr lang="ru-RU" dirty="0"/>
              <a:t>Передача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 позволяет эффективно работать с большими объектами без лишних затрат на копирование.</a:t>
            </a:r>
          </a:p>
          <a:p>
            <a:endParaRPr lang="ru-RU" dirty="0"/>
          </a:p>
          <a:p>
            <a:r>
              <a:rPr lang="ru-RU" dirty="0"/>
              <a:t>Важно, что константная ссылка может связываться не только с обычными переменными, но и с временными объектами, например результатом выражения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ru-RU" dirty="0"/>
              <a:t>.</a:t>
            </a:r>
          </a:p>
          <a:p>
            <a:r>
              <a:rPr lang="ru-RU" dirty="0"/>
              <a:t>Также по константной ссылке можно передавать константные переменные. Это делает такой способ передачи универсальным и наиболее предпочтительным для чтения данных без изменения.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07104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простых типов данных — таких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ru-RU" dirty="0"/>
              <a:t> — предпочтительно использовать передачу </a:t>
            </a:r>
            <a:r>
              <a:rPr lang="ru-RU" b="1" dirty="0"/>
              <a:t>по значению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типы имеют небольшой размер и обычно передаются через регистры процессора, поэтому их копирование практически не имеет стоимости.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Передача по ссылке в этом случае не даёт выигрыша в производительности и может даже усложнить код, поскольку добавляет уровень косвенности.</a:t>
            </a:r>
          </a:p>
          <a:p>
            <a:r>
              <a:rPr lang="ru-RU" dirty="0"/>
              <a:t>Общее практическое правило:</a:t>
            </a:r>
            <a:br>
              <a:rPr lang="ru-RU" dirty="0"/>
            </a:br>
            <a:r>
              <a:rPr lang="ru-RU" dirty="0"/>
              <a:t>малые простые типы передавайте по значению,</a:t>
            </a:r>
            <a:br>
              <a:rPr lang="ru-RU" dirty="0"/>
            </a:br>
            <a:r>
              <a:rPr lang="ru-RU" dirty="0"/>
              <a:t>крупные объекты — по константной ссылке, если их не нужно изменять.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04359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Функция</a:t>
            </a:r>
            <a:r>
              <a:rPr lang="ru-RU" dirty="0"/>
              <a:t> не модифицирует строку, поэтому параметр следует принимать по константной ссылке, чтобы избежать копирования строки.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82919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должна принять аргумент по значению, так как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легковесный, а сама функция не меняет аргумент.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08804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обменять значения переданных переменных, их следует принимать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93771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возвращает модуль переданного числа. От неё не ожидается, что аргумент будет изменён. Поэтому его следует принять по значению.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9357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 функции ожидается, что она вернёт модифицированную копию строки. Поэтому строку следует принимать по значению, чтобы её модификация не отразилась на переданном значении.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68064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Перегрузка функций позволяет использовать одно и то же имя для логически одинаковых операций, работающих с разными типами или разным количеством аргументов.</a:t>
            </a:r>
          </a:p>
          <a:p>
            <a:r>
              <a:rPr lang="ru-RU" dirty="0"/>
              <a:t>Компилятор выбирает нужную функцию на этапе компиляции, анализируя типы и количество переданных аргументов. Этот процесс называется </a:t>
            </a:r>
            <a:r>
              <a:rPr lang="ru-RU" b="1" dirty="0"/>
              <a:t>разрешением перегрузки</a:t>
            </a:r>
            <a:r>
              <a:rPr lang="en-US" b="0" dirty="0"/>
              <a:t> (overload resolution)</a:t>
            </a:r>
          </a:p>
          <a:p>
            <a:endParaRPr lang="ru-RU" b="0" dirty="0"/>
          </a:p>
          <a:p>
            <a:r>
              <a:rPr lang="ru-RU" dirty="0"/>
              <a:t>Важно помнить, что перегрузка определяется только параметрами. Тип возвращаемого значения в выборе функции не участвует, поэтому нельзя перегрузить функцию, отличающуюся только возвращаемым типом.</a:t>
            </a:r>
          </a:p>
          <a:p>
            <a:r>
              <a:rPr lang="ru-RU" dirty="0"/>
              <a:t>Перегрузка повышает удобство использования функций и делает интерфейс программы более естественным и читаемым.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99897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Используя простые типы данных достаточно, чтобы решать простые задачи вроде обработки массивов чисел или строк. Но при работе с более сложными объектами вы быстро столкнётесь с трудностями.</a:t>
            </a:r>
          </a:p>
          <a:p>
            <a:pPr algn="l">
              <a:spcAft>
                <a:spcPts val="1200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Например, вам надо описать в программе человека с именем, фамилией и годом рождения. Можно было бы использовать несколько переменных, которые хранят соответствующее свойство: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Если больше ничего с этим человеком делать не требуется, то этого достаточно. А если в программе нужно обработать не одного человека, а двух? Теперь у нас целых шесть переменных: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А если количество людей, которых нужно обработать, заранее неизвестно? Тогда нам придётся завести три вектора для хранения имён, фамилий и возрастов: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98361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CEA84B-4DFD-4945-A78A-7705FCF0C5E5}" type="slidenum">
              <a:rPr lang="ru-RU" smtClean="0"/>
              <a:pPr/>
              <a:t>131</a:t>
            </a:fld>
            <a:endParaRPr lang="ru-RU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500063"/>
            <a:ext cx="4368800" cy="2457450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3143250"/>
            <a:ext cx="6143625" cy="5572125"/>
          </a:xfrm>
          <a:noFill/>
          <a:ln/>
        </p:spPr>
        <p:txBody>
          <a:bodyPr/>
          <a:lstStyle/>
          <a:p>
            <a:r>
              <a:rPr lang="ru-RU" sz="800" dirty="0"/>
              <a:t>Структура — это пользовательский тип данных, который объединяет несколько переменных под одним именем.</a:t>
            </a:r>
          </a:p>
          <a:p>
            <a:r>
              <a:rPr lang="ru-RU" sz="800" dirty="0"/>
              <a:t>Она позволяет сгруппировать логически связанные данные и работать с ними как с единым объектом, а не как с набором отдельных переменных.</a:t>
            </a:r>
            <a:endParaRPr lang="en-US" sz="800" dirty="0"/>
          </a:p>
          <a:p>
            <a:endParaRPr lang="ru-RU" sz="800" dirty="0"/>
          </a:p>
          <a:p>
            <a:r>
              <a:rPr lang="ru-RU" sz="800" dirty="0"/>
              <a:t>В примере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</a:t>
            </a:r>
            <a:r>
              <a:rPr lang="ru-RU" sz="800" dirty="0"/>
              <a:t> объединяет имя, фамилию и год рождения. Теперь эти данные можно передавать в функции, хранить в контейнерах и обрабатывать как один объект.</a:t>
            </a:r>
          </a:p>
          <a:p>
            <a:r>
              <a:rPr lang="ru-RU" sz="800" dirty="0"/>
              <a:t>Структуры повышают читаемость кода и помогают моделировать реальные сущности в программе.</a:t>
            </a:r>
          </a:p>
          <a:p>
            <a:pPr eaLnBrk="1" hangingPunct="1">
              <a:lnSpc>
                <a:spcPct val="80000"/>
              </a:lnSpc>
            </a:pP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16497616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95564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Заголовочный файл содержит </a:t>
            </a:r>
            <a:r>
              <a:rPr lang="ru-RU" b="1" dirty="0"/>
              <a:t>объявления</a:t>
            </a:r>
            <a:r>
              <a:rPr lang="ru-RU" dirty="0"/>
              <a:t>, но не реализацию.</a:t>
            </a:r>
          </a:p>
          <a:p>
            <a:r>
              <a:rPr lang="ru-RU" dirty="0"/>
              <a:t>Он сообщает компилятору, какие функции и типы существуют, чтобы их можно было использовать в других файлах.</a:t>
            </a:r>
          </a:p>
          <a:p>
            <a:r>
              <a:rPr lang="ru-RU" dirty="0"/>
              <a:t>Обычно заголовочный файл защищают от повторного включения с помощью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#pragma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once</a:t>
            </a:r>
            <a:r>
              <a:rPr lang="ru-RU" dirty="0"/>
              <a:t> или </a:t>
            </a:r>
            <a:r>
              <a:rPr lang="ru-RU" dirty="0" err="1"/>
              <a:t>include</a:t>
            </a:r>
            <a:r>
              <a:rPr lang="ru-RU" dirty="0"/>
              <a:t> </a:t>
            </a:r>
            <a:r>
              <a:rPr lang="ru-RU" dirty="0" err="1"/>
              <a:t>guard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Файл реализации содержит определения функций — их тела.</a:t>
            </a:r>
          </a:p>
          <a:p>
            <a:r>
              <a:rPr lang="ru-RU" dirty="0"/>
              <a:t>Согласно правилу ODR (One Definition </a:t>
            </a:r>
            <a:r>
              <a:rPr lang="ru-RU" dirty="0" err="1"/>
              <a:t>Rule</a:t>
            </a:r>
            <a:r>
              <a:rPr lang="ru-RU" dirty="0"/>
              <a:t>), каждая функция должна иметь ровно одно определение во всей программе.</a:t>
            </a:r>
          </a:p>
          <a:p>
            <a:r>
              <a:rPr lang="ru-RU" dirty="0"/>
              <a:t>Заголовочный файл может подключаться во многие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, но реализация должна быть единственной.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41673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определить обычную функцию в заголовочном файле и подключить его в нескольких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, возникнет ошибка компоновки из-за нескольких определений.</a:t>
            </a:r>
          </a:p>
          <a:p>
            <a:r>
              <a:rPr lang="ru-RU" dirty="0"/>
              <a:t>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ru-RU" dirty="0"/>
              <a:t> сообщает компилятору, что одинаковые определения этой функции в разных единицах трансляции допустимы.</a:t>
            </a:r>
          </a:p>
          <a:p>
            <a:r>
              <a:rPr lang="ru-RU" dirty="0"/>
              <a:t>Важно понимать: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ru-RU" dirty="0"/>
              <a:t> сегодня означает не «обязательно встроить функцию», а «разрешить множественные одинаковые определения».</a:t>
            </a:r>
          </a:p>
          <a:p>
            <a:r>
              <a:rPr lang="ru-RU" dirty="0"/>
              <a:t>Обычно </a:t>
            </a:r>
            <a:r>
              <a:rPr lang="ru-RU" dirty="0" err="1"/>
              <a:t>inline</a:t>
            </a:r>
            <a:r>
              <a:rPr lang="ru-RU" dirty="0"/>
              <a:t>-функции делают маленькими и простыми.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42838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0467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90468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010E3C-9A8A-4B1E-8FF8-30E5742C71A9}" type="slidenum">
              <a:rPr lang="ru-RU" smtClean="0"/>
              <a:pPr/>
              <a:t>147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57746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02694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66464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45980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9253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21718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0586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1923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95156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03526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24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2C55-1068-44A2-82CD-4A743E92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18CAC-FF14-4794-872A-0B5877370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136DA-9A4C-40BA-AA17-EA981E33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2907-D538-464F-8F40-CB26834742BE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9565D-5DAF-464C-82B5-47EFB421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81BC0-D73B-43B8-8006-98D7A5B1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90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8B86-0259-498D-9F1D-890E4853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8B12-9163-4F0A-8DAE-AFB4CBC63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6A382-819C-4C90-BB8B-9A3A9D80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7D39-8612-4475-B3A3-DE3136A53294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30B75-1D6F-4808-A43F-C1338A8E8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75CC4-7EFF-40D7-AD6B-048DB231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479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DFB9-1D2C-4C99-9976-80D45F82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8B29D-ACB6-4F20-A63F-AD683F65C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7DDFE-7665-40F4-8709-37F31AC4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C9EA-E44E-49AB-BA55-134E29C8C207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35FF8-8475-420D-B26A-2BBC6975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B57D3-45C8-4599-A3A4-224EF17A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47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257C-E519-4004-9664-5EE2DEEB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14FD9-045B-4C7F-988A-793C9DDD1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92FC0-5215-485D-B178-1923B278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B3E4B-3202-4B3C-B276-911106E4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E088-A7D3-4C73-B3AC-577E9E15CB25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2B61-3FC8-4F39-8668-A4B6CF0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F1529-0A6F-472C-8162-0809B794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63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72A2-4F60-4CCD-822D-BA26D782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17310-7D32-449E-8B15-BA4AD9264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D8049-2981-4DBC-9A47-E4B3503FE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70114-2659-411A-91CA-84B6FB6FD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1DACC-6CA4-48F6-AB55-E0AE146F3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53C7C0-3FB7-4520-91B5-A83C85E2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9C43E-430A-4ED0-A169-E29EACBF2365}" type="datetime1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811D75-3F94-44BC-B9A2-007C43EB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C99E5D-E837-44F0-8032-4C2DE413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473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E088-F4DC-427D-BE79-3F7232B4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94E55-A7DB-461A-B228-D91789878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5BB9A-8782-4CCF-976D-22142A1C4751}" type="datetime1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0D332-2F02-4297-803D-C24BAA7C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ED2AD-5C1C-4C18-ADEC-8112D8B3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77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41CC0-6A58-46A9-8D3D-3BEC81FE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21274-D0F4-4C9A-B4F6-0661913C6FCB}" type="datetime1">
              <a:rPr lang="ru-RU" smtClean="0"/>
              <a:t>12.02.2026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5FB09-9210-4FF3-B521-92AC0717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1D5FF-9F9B-438D-962B-19E33EA7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50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B67B-1DE1-4C38-B86C-EE4E5FE5E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65E22-365F-4133-AE2C-BFE9368A2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76D52-A043-43E2-878C-F0D059B73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21B72-F8F3-4BAF-9039-4FCA7A5A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EB0BF-4B2A-4699-9DAD-0B48F72D86D0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C61C2-EF1C-4C27-9CE7-95CD0A82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278CE-F8F6-4357-8DE5-C5A74A90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81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B80C-2148-42E9-A299-F6AFD8D5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6453F-1A78-4AC8-BEE7-23D2EBA9D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AD1CC-F62E-4D14-B0B2-A5BFC0D90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C1507-4C3F-4C2A-83FD-8D1EE9B0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771A0-043D-4B9B-984C-F5C06D78465F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CAD7A-2676-460D-902D-1573FADC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CB590-E5BD-4AA2-BDC3-280A7035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64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AE94-21A1-4EBE-A5A8-131A3D8C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64F14-09E0-466A-A888-D63A8EC8F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EB26F-3CBB-4723-A051-957A026F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64B0-A454-4DD9-8BA1-0C11D45B7400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76C5-257A-4B9E-A8CB-4E370B37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7C76A-3A7C-436A-AF34-DF2DA5E8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0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5F875-DD72-4DC4-B341-AFD9F2621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1CC3C-59B8-4399-A3F8-342E1496E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FA286-6C9E-4DA4-8B49-B014663B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C9F6-1963-4FB6-A62A-B5CB00597883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ED6D-C751-4EFD-A3DA-7390F9FD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5682-EF44-4A00-A3B6-4CF5ED7F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11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84AB9-7DB0-4EF3-8BF0-3BA42E72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3234E-B82A-4AAC-B0D9-04778BA62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B06BE-AC98-4682-81AB-EA91CCDAD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09094-E3C6-4A5F-8500-92C275844C31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3F399-1978-443D-8A54-1C7438E42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86AD1-D5ED-4EF9-89A0-3ABFEAC15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01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3miY7XP0KvBtDx4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1kI9P4seoNjsVbS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ypes/intege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andbox.org/permlink/jrEliIk1UDXC39Ef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numeric/math/hypo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godbolt.org/z/4dzYPGrqf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permlink/CxGG7re3wgkzIFRy" TargetMode="Externa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odbolt.org/z/nb9rnEeE8" TargetMode="Externa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odbolt.org/z/EvsY4bMjd" TargetMode="Externa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8x49qoe8d" TargetMode="External"/><Relationship Id="rId2" Type="http://schemas.openxmlformats.org/officeDocument/2006/relationships/hyperlink" Target="https://en.cppreference.com/w/cpp/io/manip/hex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4" Type="http://schemas.openxmlformats.org/officeDocument/2006/relationships/hyperlink" Target="https://en.cppreference.com/w/cpp/numeric/popcount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operator_precedence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Gq5ff3jEz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hyperlink" Target="https://godbolt.org/z/x43qo8Tqf" TargetMode="External"/><Relationship Id="rId4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5" Type="http://schemas.openxmlformats.org/officeDocument/2006/relationships/hyperlink" Target="https://wandbox.org/permlink/OH7svtLrRjT6b2wV" TargetMode="External"/><Relationship Id="rId4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Relationship Id="rId5" Type="http://schemas.openxmlformats.org/officeDocument/2006/relationships/hyperlink" Target="https://godbolt.org/z/xGr76ha7G" TargetMode="External"/><Relationship Id="rId4" Type="http://schemas.openxmlformats.org/officeDocument/2006/relationships/image" Target="../media/image1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odbolt.org/z/8o93fYrhT" TargetMode="Externa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permlink/cmBWCRvwemRUAjVJ" TargetMode="Externa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WYTq5q6Wx" TargetMode="Externa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permlink/rHWDQjFRIhIW4jKm" TargetMode="External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permlink/A1fCoKswoDUK62fv" TargetMode="External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oJ626HXmxK29pvNv" TargetMode="Externa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jxGbM43sr" TargetMode="External"/><Relationship Id="rId2" Type="http://schemas.openxmlformats.org/officeDocument/2006/relationships/hyperlink" Target="https://godbolt.org/z/djfoczbh1" TargetMode="External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a9Wbsva1q" TargetMode="External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1fxe66nGG" TargetMode="Externa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a548vKcn" TargetMode="External"/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dseoYPEMo" TargetMode="External"/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Pd3Tns5js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0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1.xml"/><Relationship Id="rId4" Type="http://schemas.openxmlformats.org/officeDocument/2006/relationships/hyperlink" Target="https://wandbox.org/permlink/QriyqMmk8blrmotj" TargetMode="Externa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7CAD62A-E4D8-4B1B-9985-B57FC37A6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/>
              <a:t>Синтаксис языка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89FAC-EEE5-646A-84E5-8FF6BC2CA1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 С++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Компилируемый статически типизированный язык программирования общего назначения</a:t>
            </a:r>
          </a:p>
          <a:p>
            <a:r>
              <a:rPr lang="ru-RU" dirty="0"/>
              <a:t>Хорошая совместимость с </a:t>
            </a:r>
            <a:r>
              <a:rPr lang="en-US" dirty="0"/>
              <a:t>C</a:t>
            </a:r>
          </a:p>
          <a:p>
            <a:r>
              <a:rPr lang="ru-RU" dirty="0"/>
              <a:t>Поддержка разных парадигм</a:t>
            </a:r>
          </a:p>
          <a:p>
            <a:pPr lvl="1"/>
            <a:r>
              <a:rPr lang="ru-RU" dirty="0"/>
              <a:t>Процедурное</a:t>
            </a:r>
            <a:r>
              <a:rPr lang="en-US" dirty="0"/>
              <a:t> </a:t>
            </a:r>
            <a:r>
              <a:rPr lang="ru-RU" dirty="0"/>
              <a:t>программирование</a:t>
            </a:r>
          </a:p>
          <a:p>
            <a:pPr lvl="1"/>
            <a:r>
              <a:rPr lang="ru-RU" dirty="0"/>
              <a:t>Объектно-ориентированное</a:t>
            </a:r>
          </a:p>
          <a:p>
            <a:pPr lvl="1"/>
            <a:r>
              <a:rPr lang="ru-RU" dirty="0"/>
              <a:t>Обобщенное</a:t>
            </a:r>
          </a:p>
          <a:p>
            <a:pPr lvl="1"/>
            <a:r>
              <a:rPr lang="ru-RU" dirty="0"/>
              <a:t>Функциональное</a:t>
            </a:r>
          </a:p>
          <a:p>
            <a:pPr lvl="1"/>
            <a:r>
              <a:rPr lang="ru-RU" dirty="0" err="1"/>
              <a:t>Метапрограммирование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0F4C1-0694-93B8-1F5C-EACEE59E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48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Программа </a:t>
            </a:r>
            <a:r>
              <a:rPr lang="en-US" dirty="0"/>
              <a:t>Hello, World!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69385" y="1697615"/>
            <a:ext cx="8630107" cy="2057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44500">
              <a:lnSpc>
                <a:spcPct val="115000"/>
              </a:lnSpc>
            </a:pPr>
            <a:r>
              <a:rPr lang="ru-RU" sz="16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#</a:t>
            </a:r>
            <a:r>
              <a:rPr lang="ru-RU" sz="16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include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6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&lt;</a:t>
            </a:r>
            <a:r>
              <a:rPr lang="ru-RU" sz="16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iostream</a:t>
            </a:r>
            <a:r>
              <a:rPr lang="ru-RU" sz="16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</a:pPr>
            <a:r>
              <a:rPr lang="en-US" sz="16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600" i="1" dirty="0" err="1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main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()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Вывод в стандартный поток вывода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600" i="1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"Hello, world!"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&lt;&lt; </a:t>
            </a:r>
            <a:r>
              <a:rPr lang="en-US" sz="1600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600" i="1" dirty="0" err="1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  <a:spcAft>
                <a:spcPts val="1000"/>
              </a:spcAft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endParaRPr lang="ru-RU" sz="1600" dirty="0"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DDD277-11BD-4801-9E7B-B53D52F70B83}"/>
              </a:ext>
            </a:extLst>
          </p:cNvPr>
          <p:cNvSpPr/>
          <p:nvPr/>
        </p:nvSpPr>
        <p:spPr>
          <a:xfrm>
            <a:off x="869385" y="4293096"/>
            <a:ext cx="90022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В </a:t>
            </a:r>
            <a:r>
              <a:rPr lang="en-US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C++23 </a:t>
            </a:r>
            <a:r>
              <a:rPr lang="ru-RU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можно использовать </a:t>
            </a:r>
            <a:r>
              <a:rPr lang="en-US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std::print</a:t>
            </a: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&lt;print&gt;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world"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A4BD2-C96A-C261-3030-8FAD01BF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23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Встроенные типы данных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117D67-92AF-E244-9DC5-5DB9086E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27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Типы данных</a:t>
            </a:r>
            <a:r>
              <a:rPr lang="en-US" dirty="0"/>
              <a:t> </a:t>
            </a:r>
            <a:r>
              <a:rPr lang="ru-RU" dirty="0"/>
              <a:t>языка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Целые числа различных размеров со знаком или без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int, short, char, long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unsigned [int, short, char, long]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signed [int, short, char, long]</a:t>
            </a:r>
          </a:p>
          <a:p>
            <a:pPr eaLnBrk="1" hangingPunct="1">
              <a:lnSpc>
                <a:spcPct val="90000"/>
              </a:lnSpc>
            </a:pPr>
            <a:r>
              <a:rPr lang="ru-RU" dirty="0"/>
              <a:t>Числа с плавающей запятой</a:t>
            </a:r>
            <a:r>
              <a:rPr lang="en-US" dirty="0"/>
              <a:t> </a:t>
            </a:r>
            <a:r>
              <a:rPr lang="ru-RU" dirty="0"/>
              <a:t>различной размерности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float, double, long double</a:t>
            </a:r>
          </a:p>
          <a:p>
            <a:pPr eaLnBrk="1" hangingPunct="1">
              <a:lnSpc>
                <a:spcPct val="90000"/>
              </a:lnSpc>
            </a:pPr>
            <a:r>
              <a:rPr lang="ru-RU" dirty="0"/>
              <a:t>Логический тип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bool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Принимает значения </a:t>
            </a:r>
            <a:r>
              <a:rPr lang="en-US" dirty="0"/>
              <a:t>true</a:t>
            </a:r>
            <a:r>
              <a:rPr lang="ru-RU" dirty="0"/>
              <a:t> и</a:t>
            </a:r>
            <a:r>
              <a:rPr lang="en-US" dirty="0"/>
              <a:t> false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Ненулевые значения неявно преобразуются в </a:t>
            </a:r>
            <a:r>
              <a:rPr lang="en-US" dirty="0"/>
              <a:t>true</a:t>
            </a:r>
            <a:r>
              <a:rPr lang="ru-RU" dirty="0"/>
              <a:t>, нулевые – в </a:t>
            </a:r>
            <a:r>
              <a:rPr lang="en-US" dirty="0"/>
              <a:t>false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96815C-4580-A0A7-2CD0-B1415862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48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Числовые литералы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/>
              <a:t>Десятичные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>
                <a:latin typeface="Courier New" pitchFamily="49" charset="0"/>
              </a:rPr>
              <a:t>12345</a:t>
            </a:r>
            <a:r>
              <a:rPr lang="en-US" dirty="0">
                <a:latin typeface="Courier New" pitchFamily="49" charset="0"/>
              </a:rPr>
              <a:t>, -34021</a:t>
            </a:r>
            <a:endParaRPr lang="ru-RU" dirty="0">
              <a:latin typeface="Courier New" pitchFamily="49" charset="0"/>
            </a:endParaRPr>
          </a:p>
          <a:p>
            <a:pPr lvl="1">
              <a:lnSpc>
                <a:spcPct val="80000"/>
              </a:lnSpc>
            </a:pPr>
            <a:r>
              <a:rPr lang="ru-RU" dirty="0">
                <a:latin typeface="Courier New" pitchFamily="49" charset="0"/>
              </a:rPr>
              <a:t>999999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L</a:t>
            </a:r>
            <a:r>
              <a:rPr lang="en-US" dirty="0">
                <a:latin typeface="Courier New" pitchFamily="49" charset="0"/>
              </a:rPr>
              <a:t>, 99983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UL</a:t>
            </a:r>
            <a:r>
              <a:rPr lang="ru-RU" dirty="0"/>
              <a:t> (</a:t>
            </a:r>
            <a:r>
              <a:rPr lang="en-US" dirty="0"/>
              <a:t>long </a:t>
            </a:r>
            <a:r>
              <a:rPr lang="ru-RU" dirty="0"/>
              <a:t>и </a:t>
            </a:r>
            <a:r>
              <a:rPr lang="en-US" dirty="0"/>
              <a:t>unsigned long)</a:t>
            </a:r>
          </a:p>
          <a:p>
            <a:pPr lvl="1">
              <a:lnSpc>
                <a:spcPct val="80000"/>
              </a:lnSpc>
            </a:pPr>
            <a:r>
              <a:rPr lang="ru-RU" dirty="0">
                <a:latin typeface="Courier New" pitchFamily="49" charset="0"/>
              </a:rPr>
              <a:t>999</a:t>
            </a:r>
            <a:r>
              <a:rPr lang="en-US" dirty="0">
                <a:latin typeface="Courier New" pitchFamily="49" charset="0"/>
              </a:rPr>
              <a:t>'456 </a:t>
            </a:r>
            <a:r>
              <a:rPr lang="ru-RU" dirty="0"/>
              <a:t>(можно группировать разряды)</a:t>
            </a:r>
            <a:r>
              <a:rPr lang="en-US" dirty="0"/>
              <a:t> </a:t>
            </a:r>
            <a:endParaRPr lang="ru-RU" b="1" dirty="0">
              <a:solidFill>
                <a:srgbClr val="FF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Шестнадцатеричные</a:t>
            </a:r>
            <a:endParaRPr lang="en-US" sz="2800" dirty="0"/>
          </a:p>
          <a:p>
            <a:pPr lvl="1" eaLnBrk="1" hangingPunct="1">
              <a:lnSpc>
                <a:spcPct val="80000"/>
              </a:lnSpc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0x</a:t>
            </a:r>
            <a:r>
              <a:rPr lang="en-US" dirty="0">
                <a:latin typeface="Courier New" pitchFamily="49" charset="0"/>
              </a:rPr>
              <a:t>FeedBeef,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x</a:t>
            </a:r>
            <a:r>
              <a:rPr lang="en-US" dirty="0">
                <a:latin typeface="Courier New" pitchFamily="49" charset="0"/>
              </a:rPr>
              <a:t>328aadb</a:t>
            </a:r>
            <a:endParaRPr lang="ru-RU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dirty="0"/>
              <a:t>Двоичные (префикс </a:t>
            </a:r>
            <a:r>
              <a:rPr lang="en-US" dirty="0"/>
              <a:t>0b)</a:t>
            </a:r>
            <a:endParaRPr lang="ru-RU" dirty="0"/>
          </a:p>
          <a:p>
            <a:pPr lvl="1">
              <a:lnSpc>
                <a:spcPct val="80000"/>
              </a:lnSpc>
            </a:pPr>
            <a:r>
              <a:rPr lang="ru-RU" dirty="0"/>
              <a:t>0</a:t>
            </a:r>
            <a:r>
              <a:rPr lang="en-US" dirty="0"/>
              <a:t>b1110010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Восьмеричные (начинаются с 0)</a:t>
            </a:r>
            <a:endParaRPr lang="en-US" sz="2800" dirty="0"/>
          </a:p>
          <a:p>
            <a:pPr lvl="1" eaLnBrk="1" hangingPunct="1">
              <a:lnSpc>
                <a:spcPct val="80000"/>
              </a:lnSpc>
            </a:pPr>
            <a:r>
              <a:rPr lang="en-US" b="1" dirty="0">
                <a:latin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</a:rPr>
              <a:t>03, </a:t>
            </a:r>
            <a:r>
              <a:rPr lang="en-US" b="1" dirty="0">
                <a:latin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</a:rPr>
              <a:t>723</a:t>
            </a:r>
            <a:endParaRPr lang="ru-RU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Вещественные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>
                <a:latin typeface="Courier New" pitchFamily="49" charset="0"/>
              </a:rPr>
              <a:t>1.35</a:t>
            </a:r>
            <a:r>
              <a:rPr lang="en-US" dirty="0">
                <a:latin typeface="Courier New" pitchFamily="49" charset="0"/>
              </a:rPr>
              <a:t>, 8.45f (float)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latin typeface="Courier New" pitchFamily="49" charset="0"/>
              </a:rPr>
              <a:t>2e+10f, -3.835e-6L</a:t>
            </a:r>
            <a:endParaRPr lang="ru-RU" dirty="0">
              <a:latin typeface="Courier New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D20A4B-DBB4-E031-6125-2D13B25C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09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6A47-9C3D-4BF2-8107-0B6D0B86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Быстрый тест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D5D83-E811-4ACA-B696-778F2B0B4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Переведите в десятичную систему число </a:t>
                </a:r>
                <a:r>
                  <a:rPr lang="en-US" dirty="0"/>
                  <a:t>0x17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+7∗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=16+7=23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Переведите в десятичную систему число </a:t>
                </a:r>
                <a:r>
                  <a:rPr lang="en-US" dirty="0"/>
                  <a:t>0b1011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+0∗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=8+2+1=11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Переведите в десятичную систему число 0215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=2∗64+8+5=128+13=141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Переведите в шестнадцатеричную систему число 59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59=48+11=3∗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ru-RU" dirty="0"/>
                  <a:t>Переведите в двоичную систему число </a:t>
                </a:r>
                <a:r>
                  <a:rPr lang="en-US" dirty="0"/>
                  <a:t>19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19=16+2+1=1∗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+0∗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+0∗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10011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D5D83-E811-4ACA-B696-778F2B0B4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164AA-F7AB-26DD-C1F9-F9C7C423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84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– определение чётности числа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02688"/>
            <a:ext cx="972229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"Enter a number:"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//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Считываем целое число из стандартного ввода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2 == 0)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операция взятия остатка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is an even number\n"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is an odd number\n"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0;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Выходим из программы с 0 кодом возврата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A82EC9-FC08-28E8-27D1-96711C2795E6}"/>
              </a:ext>
            </a:extLst>
          </p:cNvPr>
          <p:cNvSpPr txBox="1"/>
          <p:nvPr/>
        </p:nvSpPr>
        <p:spPr>
          <a:xfrm>
            <a:off x="5735960" y="1502688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linkClick r:id="rId3"/>
              </a:rPr>
              <a:t>https://wandbox.org/permlink/3miY7XP0KvBtDx4e</a:t>
            </a:r>
            <a:r>
              <a:rPr lang="de-DE" dirty="0"/>
              <a:t> 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95E709-7D70-407D-B040-34D7099A5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830" y="4149080"/>
            <a:ext cx="2509856" cy="25336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F6405-10F3-97EC-659E-581607E1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63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Символьные константы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Символьная константа — символ в одиночных кавычках</a:t>
            </a:r>
            <a:r>
              <a:rPr lang="en-US" dirty="0"/>
              <a:t>: </a:t>
            </a:r>
            <a:r>
              <a:rPr lang="ru-RU" dirty="0"/>
              <a:t>'A', '1', '+'</a:t>
            </a:r>
          </a:p>
          <a:p>
            <a:r>
              <a:rPr lang="ru-RU" dirty="0"/>
              <a:t>Представляет </a:t>
            </a:r>
            <a:r>
              <a:rPr lang="ru-RU" b="1" dirty="0"/>
              <a:t>целое число</a:t>
            </a:r>
            <a:r>
              <a:rPr lang="ru-RU" dirty="0"/>
              <a:t> — код символа в используемой кодировке</a:t>
            </a:r>
            <a:br>
              <a:rPr lang="ru-RU" dirty="0"/>
            </a:br>
            <a:r>
              <a:rPr lang="ru-RU" dirty="0"/>
              <a:t>(например, ASCII)</a:t>
            </a:r>
          </a:p>
          <a:p>
            <a:r>
              <a:rPr lang="ru-RU" b="1" dirty="0"/>
              <a:t>Escape-последовательности</a:t>
            </a:r>
            <a:r>
              <a:rPr lang="en-US" dirty="0"/>
              <a:t> </a:t>
            </a:r>
            <a:r>
              <a:rPr lang="ru-RU" dirty="0"/>
              <a:t>записываются с \, но обозначают </a:t>
            </a:r>
            <a:r>
              <a:rPr lang="ru-RU" b="1" dirty="0"/>
              <a:t>один символ</a:t>
            </a:r>
            <a:endParaRPr lang="ru-RU" dirty="0"/>
          </a:p>
          <a:p>
            <a:pPr lvl="2"/>
            <a:r>
              <a:rPr lang="ru-RU" dirty="0"/>
              <a:t>'\n' — перевод строки</a:t>
            </a:r>
          </a:p>
          <a:p>
            <a:pPr lvl="2"/>
            <a:r>
              <a:rPr lang="ru-RU" dirty="0"/>
              <a:t>'\0' — нулевой символ (код 0)</a:t>
            </a:r>
          </a:p>
          <a:p>
            <a:pPr lvl="2"/>
            <a:r>
              <a:rPr lang="ru-RU" dirty="0"/>
              <a:t>'\'' — одиночная кавычка</a:t>
            </a:r>
          </a:p>
          <a:p>
            <a:pPr lvl="2"/>
            <a:r>
              <a:rPr lang="ru-RU" dirty="0"/>
              <a:t>'\\' — обратный слеш</a:t>
            </a:r>
          </a:p>
          <a:p>
            <a:r>
              <a:rPr lang="ru-RU" b="1" dirty="0"/>
              <a:t>Задание кода явно</a:t>
            </a:r>
            <a:endParaRPr lang="ru-RU" dirty="0"/>
          </a:p>
          <a:p>
            <a:pPr lvl="1"/>
            <a:r>
              <a:rPr lang="ru-RU" dirty="0"/>
              <a:t>Восьмеричный код: '\</a:t>
            </a:r>
            <a:r>
              <a:rPr lang="ru-RU" dirty="0" err="1"/>
              <a:t>ooo</a:t>
            </a:r>
            <a:r>
              <a:rPr lang="ru-RU" dirty="0"/>
              <a:t>' (0…7)</a:t>
            </a:r>
          </a:p>
          <a:p>
            <a:pPr lvl="1"/>
            <a:r>
              <a:rPr lang="ru-RU" dirty="0"/>
              <a:t>Шестнадцатеричный код: '\</a:t>
            </a:r>
            <a:r>
              <a:rPr lang="ru-RU" dirty="0" err="1"/>
              <a:t>xhh</a:t>
            </a:r>
            <a:r>
              <a:rPr lang="ru-RU" dirty="0"/>
              <a:t>'</a:t>
            </a:r>
          </a:p>
          <a:p>
            <a:pPr lvl="1"/>
            <a:r>
              <a:rPr lang="ru-RU" dirty="0"/>
              <a:t>Примеры:</a:t>
            </a:r>
          </a:p>
          <a:p>
            <a:pPr lvl="2"/>
            <a:r>
              <a:rPr lang="ru-RU" dirty="0"/>
              <a:t>'\177' — код 127</a:t>
            </a:r>
          </a:p>
          <a:p>
            <a:pPr lvl="2"/>
            <a:r>
              <a:rPr lang="ru-RU" dirty="0"/>
              <a:t>'\</a:t>
            </a:r>
            <a:r>
              <a:rPr lang="ru-RU" dirty="0" err="1"/>
              <a:t>xff</a:t>
            </a:r>
            <a:r>
              <a:rPr lang="ru-RU" dirty="0"/>
              <a:t>' — код 255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E82B29-DBDF-40E6-247B-5C594C13B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423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Строковые константы (строковые литералы)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sz="2800" dirty="0"/>
              <a:t>Нуль или более символов</a:t>
            </a:r>
            <a:r>
              <a:rPr lang="ru-RU" dirty="0"/>
              <a:t> </a:t>
            </a:r>
            <a:r>
              <a:rPr lang="ru-RU" sz="2800" dirty="0"/>
              <a:t>в двойных кавычках</a:t>
            </a:r>
          </a:p>
          <a:p>
            <a:pPr lvl="1" eaLnBrk="1" hangingPunct="1"/>
            <a:r>
              <a:rPr lang="en-US" dirty="0">
                <a:latin typeface="Consolas" panose="020B0609020204030204" pitchFamily="49" charset="0"/>
              </a:rPr>
              <a:t>"Hello, world\n"</a:t>
            </a:r>
          </a:p>
          <a:p>
            <a:pPr lvl="1" eaLnBrk="1" hangingPunct="1"/>
            <a:r>
              <a:rPr lang="en-US" dirty="0">
                <a:latin typeface="Consolas" panose="020B0609020204030204" pitchFamily="49" charset="0"/>
              </a:rPr>
              <a:t>""</a:t>
            </a:r>
          </a:p>
          <a:p>
            <a:pPr lvl="1" eaLnBrk="1" hangingPunct="1"/>
            <a:r>
              <a:rPr lang="en-US" dirty="0">
                <a:latin typeface="Consolas" panose="020B0609020204030204" pitchFamily="49" charset="0"/>
              </a:rPr>
              <a:t>"Hello " "world\n"</a:t>
            </a:r>
            <a:r>
              <a:rPr lang="en-US" dirty="0"/>
              <a:t> </a:t>
            </a:r>
            <a:r>
              <a:rPr lang="ru-RU" dirty="0"/>
              <a:t>эквивалентно </a:t>
            </a:r>
            <a:r>
              <a:rPr lang="en-US" dirty="0">
                <a:latin typeface="Consolas" panose="020B0609020204030204" pitchFamily="49" charset="0"/>
              </a:rPr>
              <a:t>"Hello world\n"</a:t>
            </a:r>
          </a:p>
          <a:p>
            <a:pPr eaLnBrk="1" hangingPunct="1"/>
            <a:r>
              <a:rPr lang="ru-RU" sz="2800" dirty="0"/>
              <a:t>Во внутреннем представлении строковая константа – массив символов, завершающийся символом с кодом 0 (</a:t>
            </a:r>
            <a:r>
              <a:rPr lang="en-US" sz="2800" dirty="0"/>
              <a:t>‘\0’)</a:t>
            </a:r>
            <a:endParaRPr lang="ru-RU" sz="2800" dirty="0"/>
          </a:p>
          <a:p>
            <a:r>
              <a:rPr lang="ru-RU" b="1" dirty="0"/>
              <a:t>С</a:t>
            </a:r>
            <a:r>
              <a:rPr lang="ru-RU" sz="2800" b="1" dirty="0"/>
              <a:t>ырые строковые литералы</a:t>
            </a:r>
            <a:r>
              <a:rPr lang="ru-RU" sz="2800" dirty="0"/>
              <a:t> (</a:t>
            </a:r>
            <a:r>
              <a:rPr lang="en-US" sz="2800" dirty="0"/>
              <a:t>raw string literals)</a:t>
            </a:r>
            <a:r>
              <a:rPr lang="ru-RU" sz="2800" dirty="0"/>
              <a:t> </a:t>
            </a:r>
            <a:r>
              <a:rPr lang="ru-RU" dirty="0"/>
              <a:t>— без </a:t>
            </a:r>
            <a:r>
              <a:rPr lang="ru-RU" dirty="0" err="1"/>
              <a:t>escape</a:t>
            </a:r>
            <a:r>
              <a:rPr lang="ru-RU" dirty="0"/>
              <a:t>-последовательностей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R"(c:\</a:t>
            </a:r>
            <a:r>
              <a:rPr lang="en-US" dirty="0" err="1">
                <a:latin typeface="Consolas" panose="020B0609020204030204" pitchFamily="49" charset="0"/>
              </a:rPr>
              <a:t>dir</a:t>
            </a:r>
            <a:r>
              <a:rPr lang="en-US" dirty="0">
                <a:latin typeface="Consolas" panose="020B0609020204030204" pitchFamily="49" charset="0"/>
              </a:rPr>
              <a:t>\file.txt)"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удобны для путей, </a:t>
            </a:r>
            <a:r>
              <a:rPr lang="ru-RU" dirty="0" err="1"/>
              <a:t>regex</a:t>
            </a:r>
            <a:r>
              <a:rPr lang="ru-RU" dirty="0"/>
              <a:t>, многострочного текста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0B73CC-4B76-8583-16BE-81763EE2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963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126CDB-5D93-457A-98CB-3F92C38B3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376" y="849921"/>
            <a:ext cx="2524143" cy="2571769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524000" y="5013176"/>
            <a:ext cx="8460432" cy="1440160"/>
          </a:xfrm>
          <a:prstGeom prst="rect">
            <a:avLst/>
          </a:prstGeom>
          <a:solidFill>
            <a:srgbClr val="3BCCFF">
              <a:alpha val="50196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199456" y="0"/>
            <a:ext cx="9109520" cy="6750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#include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&lt;</a:t>
            </a:r>
            <a:r>
              <a:rPr lang="en-US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iostream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#include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&lt;string&gt;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i="1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main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()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char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letterA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'A’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</a:t>
            </a:r>
            <a:r>
              <a:rPr lang="en-US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letterA</a:t>
            </a:r>
            <a:r>
              <a:rPr lang="en-US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имеет значение 65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char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eol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'\n'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Символы, вроде " и \ внутри строковых литералов необходимо экранировать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300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filePath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"c:\\path\\to\\file.txt"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Либо использовать</a:t>
            </a:r>
            <a:r>
              <a:rPr lang="en-US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raw string literals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300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filePath1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r>
              <a:rPr lang="en-US" sz="1300" i="1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R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"(c:\path\to\file.txt)"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Можно сцеплять несколько строковых литералов в один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300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multiLineString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"&lt;html&gt;\n"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"\t&lt;body&gt;\n"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"\t\t&lt;p style=\"</a:t>
            </a:r>
            <a:r>
              <a:rPr lang="en-US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color:red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;\"&gt;&lt;/p&gt;"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"\t&lt;/</a:t>
            </a:r>
            <a:r>
              <a:rPr lang="ru-RU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body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&gt;"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"&lt;/</a:t>
            </a:r>
            <a:r>
              <a:rPr lang="ru-RU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html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&gt;"</a:t>
            </a: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При помощи </a:t>
            </a:r>
            <a:r>
              <a:rPr lang="ru-RU" sz="13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raw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3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3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literal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можно упростить задание строк, содержащих спецсимволы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300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htmlPage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r>
              <a:rPr lang="en-US" sz="1300" i="1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R</a:t>
            </a:r>
            <a:r>
              <a:rPr lang="en-US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"marker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(&lt;html&gt;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	&lt;body&gt;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		&lt;p style="</a:t>
            </a:r>
            <a:r>
              <a:rPr lang="en-US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color:red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;"&gt;Hello, world&lt;/p&gt;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&lt;/</a:t>
            </a:r>
            <a:r>
              <a:rPr lang="ru-RU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body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&lt;/</a:t>
            </a:r>
            <a:r>
              <a:rPr lang="ru-RU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html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&gt;)</a:t>
            </a:r>
            <a:r>
              <a:rPr lang="ru-RU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marker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  <a:spcAft>
                <a:spcPts val="1000"/>
              </a:spcAft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endParaRPr lang="ru-RU" sz="1300" dirty="0">
              <a:ea typeface="Calibri"/>
              <a:cs typeface="Times New Roman"/>
            </a:endParaRPr>
          </a:p>
        </p:txBody>
      </p:sp>
      <p:sp>
        <p:nvSpPr>
          <p:cNvPr id="3" name="Выноска 1 2"/>
          <p:cNvSpPr/>
          <p:nvPr/>
        </p:nvSpPr>
        <p:spPr>
          <a:xfrm>
            <a:off x="5951984" y="3933056"/>
            <a:ext cx="4320480" cy="864096"/>
          </a:xfrm>
          <a:prstGeom prst="borderCallout1">
            <a:avLst>
              <a:gd name="adj1" fmla="val 55805"/>
              <a:gd name="adj2" fmla="val -3142"/>
              <a:gd name="adj3" fmla="val 128177"/>
              <a:gd name="adj4" fmla="val -2364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Содержимое строки между </a:t>
            </a:r>
            <a:r>
              <a:rPr lang="en-US" sz="1400" dirty="0"/>
              <a:t>“</a:t>
            </a:r>
            <a:r>
              <a:rPr lang="en-US" sz="1400" b="1" dirty="0"/>
              <a:t>&lt;</a:t>
            </a:r>
            <a:r>
              <a:rPr lang="ru-RU" sz="1400" b="1" dirty="0"/>
              <a:t>идентификатор</a:t>
            </a:r>
            <a:r>
              <a:rPr lang="en-US" sz="1400" b="1" dirty="0"/>
              <a:t>&gt;(</a:t>
            </a:r>
            <a:r>
              <a:rPr lang="en-US" sz="1400" dirty="0"/>
              <a:t>“ </a:t>
            </a:r>
            <a:r>
              <a:rPr lang="ru-RU" sz="1400" dirty="0"/>
              <a:t>и </a:t>
            </a:r>
            <a:r>
              <a:rPr lang="en-US" sz="1400" dirty="0"/>
              <a:t>“</a:t>
            </a:r>
            <a:r>
              <a:rPr lang="en-US" sz="1400" b="1" dirty="0"/>
              <a:t>)&lt;</a:t>
            </a:r>
            <a:r>
              <a:rPr lang="ru-RU" sz="1400" b="1" dirty="0"/>
              <a:t>идентификатор</a:t>
            </a:r>
            <a:r>
              <a:rPr lang="en-US" sz="1400" b="1" dirty="0"/>
              <a:t>&gt;</a:t>
            </a:r>
            <a:r>
              <a:rPr lang="en-US" sz="1400" dirty="0"/>
              <a:t>” </a:t>
            </a:r>
            <a:r>
              <a:rPr lang="ru-RU" sz="1400" dirty="0"/>
              <a:t>воспринимается без преобразований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A72C9C-782A-43E5-788F-42C4574B1AEC}"/>
              </a:ext>
            </a:extLst>
          </p:cNvPr>
          <p:cNvSpPr txBox="1"/>
          <p:nvPr/>
        </p:nvSpPr>
        <p:spPr>
          <a:xfrm>
            <a:off x="5447928" y="-37288"/>
            <a:ext cx="511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hlinkClick r:id="rId3"/>
              </a:rPr>
              <a:t>https://wandbox.org/permlink/1kI9P4seoNjsVbS1</a:t>
            </a:r>
            <a:r>
              <a:rPr lang="de-DE" dirty="0"/>
              <a:t> 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7615D-17DB-6D45-388E-96C65041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4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Представление строкового литерала в памяти</a:t>
            </a:r>
          </a:p>
        </p:txBody>
      </p:sp>
      <p:grpSp>
        <p:nvGrpSpPr>
          <p:cNvPr id="34" name="Группа 33"/>
          <p:cNvGrpSpPr/>
          <p:nvPr/>
        </p:nvGrpSpPr>
        <p:grpSpPr>
          <a:xfrm>
            <a:off x="1919536" y="2924944"/>
            <a:ext cx="8190910" cy="1080120"/>
            <a:chOff x="899592" y="2276872"/>
            <a:chExt cx="6552728" cy="864096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899592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H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1403648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1907704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2411760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2915816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3419872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,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3923928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4427984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W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4932040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5436096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Прямоугольник 16"/>
            <p:cNvSpPr/>
            <p:nvPr/>
          </p:nvSpPr>
          <p:spPr>
            <a:xfrm>
              <a:off x="5940152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6444208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6948264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\0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899592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72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1403648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101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1907704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108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2411760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108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2915816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111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3419872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44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7" name="Прямоугольник 26"/>
            <p:cNvSpPr/>
            <p:nvPr/>
          </p:nvSpPr>
          <p:spPr>
            <a:xfrm>
              <a:off x="3923928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32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8" name="Прямоугольник 27"/>
            <p:cNvSpPr/>
            <p:nvPr/>
          </p:nvSpPr>
          <p:spPr>
            <a:xfrm>
              <a:off x="4427984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87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9" name="Прямоугольник 28"/>
            <p:cNvSpPr/>
            <p:nvPr/>
          </p:nvSpPr>
          <p:spPr>
            <a:xfrm>
              <a:off x="4932040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111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0" name="Прямоугольник 29"/>
            <p:cNvSpPr/>
            <p:nvPr/>
          </p:nvSpPr>
          <p:spPr>
            <a:xfrm>
              <a:off x="5436096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114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1" name="Прямоугольник 30"/>
            <p:cNvSpPr/>
            <p:nvPr/>
          </p:nvSpPr>
          <p:spPr>
            <a:xfrm>
              <a:off x="5940152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108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2" name="Прямоугольник 31"/>
            <p:cNvSpPr/>
            <p:nvPr/>
          </p:nvSpPr>
          <p:spPr>
            <a:xfrm>
              <a:off x="6444208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100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6948264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A5863D-5A26-FCB7-B0BE-0C89CFC6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921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Подробнее о целых числах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400" dirty="0"/>
              <a:t>Хранят целые числа различного размера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char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short</a:t>
            </a:r>
            <a:r>
              <a:rPr lang="ru-RU" sz="2000" dirty="0"/>
              <a:t> или </a:t>
            </a:r>
            <a:r>
              <a:rPr lang="en-US" sz="2000" dirty="0"/>
              <a:t>short int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/>
              <a:t>int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long </a:t>
            </a:r>
            <a:r>
              <a:rPr lang="ru-RU" sz="2000" dirty="0"/>
              <a:t>или </a:t>
            </a:r>
            <a:r>
              <a:rPr lang="en-US" sz="2000" dirty="0"/>
              <a:t>long int</a:t>
            </a:r>
            <a:endParaRPr lang="ru-RU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long long </a:t>
            </a:r>
            <a:r>
              <a:rPr lang="ru-RU" sz="2000" dirty="0"/>
              <a:t>или </a:t>
            </a:r>
            <a:r>
              <a:rPr lang="en-US" sz="2000" dirty="0"/>
              <a:t>long </a:t>
            </a:r>
            <a:r>
              <a:rPr lang="en-US" sz="2000" dirty="0" err="1"/>
              <a:t>long</a:t>
            </a:r>
            <a:r>
              <a:rPr lang="en-US" sz="2000" dirty="0"/>
              <a:t> int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/>
              <a:t>Целые числа со знаком и без знака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signed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unsigned</a:t>
            </a:r>
            <a:endParaRPr lang="ru-RU" sz="2000" dirty="0"/>
          </a:p>
          <a:p>
            <a:pPr eaLnBrk="1" hangingPunct="1">
              <a:lnSpc>
                <a:spcPct val="80000"/>
              </a:lnSpc>
            </a:pPr>
            <a:r>
              <a:rPr lang="ru-RU" sz="2400" dirty="0"/>
              <a:t>Гарантируется следующее соотношение размеров целочисленных типов: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/>
              <a:t>sizeof</a:t>
            </a:r>
            <a:r>
              <a:rPr lang="en-US" sz="2000" dirty="0"/>
              <a:t>(char) &lt;= </a:t>
            </a:r>
            <a:r>
              <a:rPr lang="en-US" sz="2000" dirty="0" err="1"/>
              <a:t>sizeof</a:t>
            </a:r>
            <a:r>
              <a:rPr lang="en-US" sz="2000" dirty="0"/>
              <a:t>(short)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/>
              <a:t>sizeof</a:t>
            </a:r>
            <a:r>
              <a:rPr lang="en-US" sz="2000" dirty="0"/>
              <a:t>(short) &lt;= </a:t>
            </a: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 err="1"/>
              <a:t>int</a:t>
            </a:r>
            <a:r>
              <a:rPr lang="en-US" sz="20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 err="1"/>
              <a:t>int</a:t>
            </a:r>
            <a:r>
              <a:rPr lang="en-US" sz="2000" dirty="0"/>
              <a:t>) &lt;= </a:t>
            </a:r>
            <a:r>
              <a:rPr lang="en-US" sz="2000" dirty="0" err="1"/>
              <a:t>sizeof</a:t>
            </a:r>
            <a:r>
              <a:rPr lang="en-US" sz="2000" dirty="0"/>
              <a:t>(long)</a:t>
            </a:r>
            <a:endParaRPr lang="ru-RU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1EA310-B4E1-94D4-EAD0-2DED01AF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4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Знаковые и </a:t>
            </a:r>
            <a:r>
              <a:rPr lang="ru-RU" dirty="0" err="1"/>
              <a:t>беззнаковые</a:t>
            </a:r>
            <a:r>
              <a:rPr lang="ru-RU" dirty="0"/>
              <a:t> целые числа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Типы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short </a:t>
            </a:r>
            <a:r>
              <a:rPr lang="ru-RU" dirty="0"/>
              <a:t>являются знаковыми</a:t>
            </a:r>
          </a:p>
          <a:p>
            <a:pPr lvl="1"/>
            <a:r>
              <a:rPr lang="en-US" dirty="0"/>
              <a:t>int </a:t>
            </a:r>
            <a:r>
              <a:rPr lang="ru-RU" dirty="0"/>
              <a:t>== </a:t>
            </a:r>
            <a:r>
              <a:rPr lang="en-US" dirty="0"/>
              <a:t>signed int</a:t>
            </a:r>
          </a:p>
          <a:p>
            <a:pPr lvl="1"/>
            <a:r>
              <a:rPr lang="en-US" dirty="0"/>
              <a:t>short =</a:t>
            </a:r>
            <a:r>
              <a:rPr lang="ru-RU" dirty="0"/>
              <a:t>=</a:t>
            </a:r>
            <a:r>
              <a:rPr lang="en-US" dirty="0"/>
              <a:t> signed short</a:t>
            </a:r>
          </a:p>
          <a:p>
            <a:r>
              <a:rPr lang="ru-RU" dirty="0"/>
              <a:t>Тип </a:t>
            </a:r>
            <a:r>
              <a:rPr lang="en-US" dirty="0"/>
              <a:t>char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b="1" dirty="0"/>
              <a:t>как правило</a:t>
            </a:r>
            <a:r>
              <a:rPr lang="ru-RU" dirty="0"/>
              <a:t>, тоже знаковый</a:t>
            </a:r>
          </a:p>
          <a:p>
            <a:pPr lvl="1"/>
            <a:r>
              <a:rPr lang="ru-RU" dirty="0"/>
              <a:t>Это поведение может изменяться при помощи настроек некоторых компиляторов</a:t>
            </a:r>
          </a:p>
          <a:p>
            <a:pPr lvl="1"/>
            <a:r>
              <a:rPr lang="ru-RU" dirty="0"/>
              <a:t>Можно явно указать знак </a:t>
            </a:r>
            <a:r>
              <a:rPr lang="en-US" dirty="0"/>
              <a:t>char:</a:t>
            </a:r>
            <a:endParaRPr lang="ru-RU" dirty="0"/>
          </a:p>
          <a:p>
            <a:pPr lvl="1"/>
            <a:r>
              <a:rPr lang="en-US" dirty="0"/>
              <a:t>signed char </a:t>
            </a:r>
            <a:r>
              <a:rPr lang="ru-RU" dirty="0"/>
              <a:t>или </a:t>
            </a:r>
            <a:r>
              <a:rPr lang="en-US" dirty="0"/>
              <a:t>unsigned char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EDBF4-C063-7FFF-438A-F21EF9BD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40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165D-E38D-435E-807F-67D2F1F8D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Прочие целые числа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82662-97F6-406A-A39F-F06DE78E3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size_t</a:t>
            </a:r>
            <a:endParaRPr lang="ru-RU" dirty="0"/>
          </a:p>
          <a:p>
            <a:pPr lvl="1"/>
            <a:r>
              <a:rPr lang="ru-RU" dirty="0"/>
              <a:t>Беззнаковый тип, способный хранить размер объекта в памяти или количество типов</a:t>
            </a:r>
          </a:p>
          <a:p>
            <a:r>
              <a:rPr lang="en-US" dirty="0"/>
              <a:t>int8_t, int16_t, int32_t, int64_t</a:t>
            </a:r>
            <a:endParaRPr lang="ru-RU" dirty="0"/>
          </a:p>
          <a:p>
            <a:pPr lvl="1"/>
            <a:r>
              <a:rPr lang="ru-RU" dirty="0"/>
              <a:t>Числа со знаком фиксированной разрядности</a:t>
            </a:r>
          </a:p>
          <a:p>
            <a:r>
              <a:rPr lang="en-US" dirty="0"/>
              <a:t>uint8_t, uint16_t, uint32_t, uint64_t</a:t>
            </a:r>
          </a:p>
          <a:p>
            <a:pPr lvl="1"/>
            <a:r>
              <a:rPr lang="ru-RU" dirty="0"/>
              <a:t>Числа без знака указанной разрядности</a:t>
            </a:r>
            <a:endParaRPr lang="en-US" dirty="0"/>
          </a:p>
          <a:p>
            <a:r>
              <a:rPr lang="en-US" dirty="0"/>
              <a:t>int_fast8_t, int_fast16_t, int_fast32_t, int_fast64_t</a:t>
            </a:r>
          </a:p>
          <a:p>
            <a:pPr lvl="1"/>
            <a:r>
              <a:rPr lang="ru-RU" dirty="0"/>
              <a:t>Самый быстрый знаковый целочисленный тип не меньшей разрядности</a:t>
            </a:r>
          </a:p>
          <a:p>
            <a:r>
              <a:rPr lang="en-US" dirty="0"/>
              <a:t>uint_fast8_t, uint_fast16_t, uint_fast32_t, uint_fast64_t</a:t>
            </a:r>
          </a:p>
          <a:p>
            <a:pPr lvl="1"/>
            <a:r>
              <a:rPr lang="ru-RU" dirty="0"/>
              <a:t>Самый быстрый беззнаковый целочисленный тип не меньшей разрядности</a:t>
            </a:r>
          </a:p>
          <a:p>
            <a:r>
              <a:rPr lang="en-US" dirty="0" err="1"/>
              <a:t>intmax_t</a:t>
            </a:r>
            <a:r>
              <a:rPr lang="en-US" dirty="0"/>
              <a:t>, </a:t>
            </a:r>
            <a:r>
              <a:rPr lang="en-US" dirty="0" err="1"/>
              <a:t>uintmax_t</a:t>
            </a:r>
            <a:endParaRPr lang="en-US" dirty="0"/>
          </a:p>
          <a:p>
            <a:r>
              <a:rPr lang="en-US" dirty="0" err="1"/>
              <a:t>intptr_t</a:t>
            </a:r>
            <a:r>
              <a:rPr lang="en-US" dirty="0"/>
              <a:t>, </a:t>
            </a:r>
            <a:r>
              <a:rPr lang="en-US" dirty="0" err="1"/>
              <a:t>uintptr_t</a:t>
            </a:r>
            <a:endParaRPr lang="en-US" dirty="0"/>
          </a:p>
          <a:p>
            <a:r>
              <a:rPr lang="en-US" dirty="0"/>
              <a:t>int_least8_t, int_least16_t, int_least32_t, int_least64_t, uint_least8_t, uint_least16_t, uint_least32_t, uint_least64_t</a:t>
            </a:r>
            <a:endParaRPr lang="ru-RU" dirty="0"/>
          </a:p>
          <a:p>
            <a:r>
              <a:rPr lang="ru-RU" dirty="0"/>
              <a:t>Объявлены в </a:t>
            </a:r>
            <a:r>
              <a:rPr lang="en-US" dirty="0"/>
              <a:t>&lt;</a:t>
            </a:r>
            <a:r>
              <a:rPr lang="en-US" dirty="0" err="1"/>
              <a:t>cstdint</a:t>
            </a:r>
            <a:r>
              <a:rPr lang="en-US" dirty="0"/>
              <a:t>&gt;</a:t>
            </a:r>
          </a:p>
          <a:p>
            <a:r>
              <a:rPr lang="en-US" dirty="0">
                <a:hlinkClick r:id="rId3"/>
              </a:rPr>
              <a:t>https://en.cppreference.com/w/cpp/types/integer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9796E-89F1-0F97-5725-3A953F46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52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6E1498-96B9-30FA-9B92-8D7F314317B6}"/>
              </a:ext>
            </a:extLst>
          </p:cNvPr>
          <p:cNvSpPr txBox="1"/>
          <p:nvPr/>
        </p:nvSpPr>
        <p:spPr>
          <a:xfrm>
            <a:off x="407368" y="197346"/>
            <a:ext cx="993710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Запись в двоичный файл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ofstream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point.bin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::binary);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Чтение из двоичного файла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point.bin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::binary);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 point: 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547574-03C1-55EE-91D0-E56DECD2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907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Числа с плавающей запятой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Хранят вещественные числа с ограниченной точностью</a:t>
            </a:r>
          </a:p>
          <a:p>
            <a:pPr lvl="1"/>
            <a:r>
              <a:rPr lang="en-US" dirty="0"/>
              <a:t>float</a:t>
            </a:r>
          </a:p>
          <a:p>
            <a:pPr lvl="1"/>
            <a:r>
              <a:rPr lang="en-US" dirty="0"/>
              <a:t>double</a:t>
            </a:r>
          </a:p>
          <a:p>
            <a:pPr lvl="1"/>
            <a:r>
              <a:rPr lang="en-US" dirty="0"/>
              <a:t>long double</a:t>
            </a:r>
          </a:p>
          <a:p>
            <a:r>
              <a:rPr lang="ru-RU" b="1" dirty="0"/>
              <a:t>Гарантии стандарта</a:t>
            </a:r>
            <a:endParaRPr lang="ru-RU" dirty="0"/>
          </a:p>
          <a:p>
            <a:pPr lvl="1"/>
            <a:r>
              <a:rPr lang="en-US" dirty="0" err="1"/>
              <a:t>sizeof</a:t>
            </a:r>
            <a:r>
              <a:rPr lang="en-US" dirty="0"/>
              <a:t>(float) ≤ </a:t>
            </a:r>
            <a:r>
              <a:rPr lang="en-US" dirty="0" err="1"/>
              <a:t>sizeof</a:t>
            </a:r>
            <a:r>
              <a:rPr lang="en-US" dirty="0"/>
              <a:t>(double)</a:t>
            </a:r>
          </a:p>
          <a:p>
            <a:pPr lvl="1"/>
            <a:r>
              <a:rPr lang="en-US" dirty="0" err="1"/>
              <a:t>sizeof</a:t>
            </a:r>
            <a:r>
              <a:rPr lang="en-US" dirty="0"/>
              <a:t>(double) ≤ </a:t>
            </a:r>
            <a:r>
              <a:rPr lang="en-US" dirty="0" err="1"/>
              <a:t>sizeof</a:t>
            </a:r>
            <a:r>
              <a:rPr lang="en-US" dirty="0"/>
              <a:t>(long double)</a:t>
            </a:r>
          </a:p>
          <a:p>
            <a:r>
              <a:rPr lang="ru-RU" b="1" dirty="0"/>
              <a:t>Специальные значения</a:t>
            </a:r>
            <a:endParaRPr lang="ru-RU" dirty="0"/>
          </a:p>
          <a:p>
            <a:pPr lvl="1"/>
            <a:r>
              <a:rPr lang="ru-RU" dirty="0"/>
              <a:t>Положительная и отрицательная бесконечность</a:t>
            </a:r>
            <a:br>
              <a:rPr lang="ru-RU" dirty="0"/>
            </a:br>
            <a:r>
              <a:rPr lang="en-US" dirty="0"/>
              <a:t>INFINITY, -INFINITY</a:t>
            </a:r>
          </a:p>
          <a:p>
            <a:pPr lvl="1"/>
            <a:r>
              <a:rPr lang="ru-RU" dirty="0"/>
              <a:t>Отрицательный ноль</a:t>
            </a:r>
            <a:br>
              <a:rPr lang="ru-RU" dirty="0"/>
            </a:br>
            <a:r>
              <a:rPr lang="ru-RU" dirty="0"/>
              <a:t>-0.0 == 0.0</a:t>
            </a:r>
          </a:p>
          <a:p>
            <a:pPr lvl="1"/>
            <a:r>
              <a:rPr lang="ru-RU" dirty="0"/>
              <a:t>Не-число (</a:t>
            </a:r>
            <a:r>
              <a:rPr lang="en-US" dirty="0" err="1"/>
              <a:t>NaN</a:t>
            </a:r>
            <a:r>
              <a:rPr lang="en-US" dirty="0"/>
              <a:t>, Not a Number)</a:t>
            </a:r>
            <a:br>
              <a:rPr lang="en-US" dirty="0"/>
            </a:br>
            <a:r>
              <a:rPr lang="en-US" dirty="0" err="1"/>
              <a:t>NaN</a:t>
            </a:r>
            <a:r>
              <a:rPr lang="en-US" dirty="0"/>
              <a:t> != </a:t>
            </a:r>
            <a:r>
              <a:rPr lang="en-US" dirty="0" err="1"/>
              <a:t>NaN</a:t>
            </a:r>
            <a:endParaRPr lang="en-US" dirty="0"/>
          </a:p>
          <a:p>
            <a:r>
              <a:rPr lang="ru-RU" b="1" dirty="0"/>
              <a:t>Примеры</a:t>
            </a:r>
            <a:endParaRPr lang="ru-RU" dirty="0"/>
          </a:p>
          <a:p>
            <a:pPr lvl="1"/>
            <a:r>
              <a:rPr lang="ru-RU" dirty="0"/>
              <a:t>1.0 / 0.0 → </a:t>
            </a:r>
            <a:r>
              <a:rPr lang="en-US" dirty="0"/>
              <a:t>INFINITY</a:t>
            </a:r>
          </a:p>
          <a:p>
            <a:pPr lvl="1"/>
            <a:r>
              <a:rPr lang="en-US" dirty="0"/>
              <a:t>1.0 / -0.0 → -INFINITY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9BC845-AB90-3A5C-5C54-C31867C7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38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869D2-68FD-AB0E-711E-3DDC2945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вычисление площади окружности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C2995-1668-95D9-D1ED-C00E26B108B2}"/>
              </a:ext>
            </a:extLst>
          </p:cNvPr>
          <p:cNvSpPr txBox="1"/>
          <p:nvPr/>
        </p:nvSpPr>
        <p:spPr>
          <a:xfrm>
            <a:off x="838200" y="2204864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&lt;numbers&gt;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CalculateCircleArea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::pi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CalculateCircleArea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4685F-E94C-A476-3DB4-47D9D10D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045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переменных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C6C85A-4F64-FACD-59C5-9EE5DE5C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873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Объявление локальных переменных и констант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8200" y="1968560"/>
            <a:ext cx="93977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Объявление переменной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carSpeed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типа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double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carSpeed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carSpeed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45.8;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Объявление переменной можно совместить с ее инициализацией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userAge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20;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12.6f;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// Константа при объявлении всегда должна быть проинициализирована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SPEED_OF_LIGHT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299792458.0;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SECONDS_IN_HOUR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3600;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HOURS_IN_DAY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24;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Константа может быть также проинициализирована в результате выражения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SECONDS_IN_DAY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SECONDS_IN_HOUR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*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HOURS_IN_DAY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2FB87E-14C4-B225-94FB-260057DC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02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Автоматическое определение типа переменной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844824"/>
            <a:ext cx="8786192" cy="4869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double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3.14159265;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float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b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2.71828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float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* 2;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double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halfPI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/ 2;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long double (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sqrt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возвращает значение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long double)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sqrtPi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ru-RU" sz="16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sqrt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DC458-038E-E1C2-BE8A-A5546D3E2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13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CB37C6-3E3F-4BBA-801E-E5C8763C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483" y="837431"/>
            <a:ext cx="2547956" cy="256700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Область видимости переменной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1" y="1988841"/>
            <a:ext cx="9578280" cy="4679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Область видимости переменной ограничена блоком, внутри которого она объявлена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3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"Ivan </a:t>
            </a:r>
            <a:r>
              <a:rPr lang="en-US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Petrov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age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10;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{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Переменная из внутреннего блока может иметь имя, совпадающее с именем из внешнего блока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При этом внутри этого блока она замещает собой одноименную переменную из внешнего блока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3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"Sergey Ivanov"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ru-RU" sz="13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==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Sergey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Ivanov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Тип переменной 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age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может отличаться от типа одноименной переменной из внешнего блока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age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7.7;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Лучше избегать объявления переменных, имя которых совпадает с именем из внешнего блока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При возврате во внешний блок видимой снова становится внешняя переменная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==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Ivan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Petrov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6F07E-AC72-929E-711B-A62D33646839}"/>
              </a:ext>
            </a:extLst>
          </p:cNvPr>
          <p:cNvSpPr txBox="1"/>
          <p:nvPr/>
        </p:nvSpPr>
        <p:spPr>
          <a:xfrm>
            <a:off x="5735961" y="6350872"/>
            <a:ext cx="468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linkClick r:id="rId4"/>
              </a:rPr>
              <a:t>https://wandbox.org/permlink/jrEliIk1UDXC39Ef</a:t>
            </a:r>
            <a:r>
              <a:rPr lang="de-DE" dirty="0"/>
              <a:t> 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849E0-F57F-2AE0-FFB9-7A0B4F8A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47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Объявление глобальных переменных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C0D93-EA87-FC39-44CA-C32D4321F2A5}"/>
              </a:ext>
            </a:extLst>
          </p:cNvPr>
          <p:cNvSpPr txBox="1"/>
          <p:nvPr/>
        </p:nvSpPr>
        <p:spPr>
          <a:xfrm>
            <a:off x="838200" y="1690687"/>
            <a:ext cx="109464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Глобальные переменные по умолчанию инициализируются нулями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anotherGlobalVar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проинициализировать заданным значением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0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13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anotherGlobalVar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42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63F9E5-A4FF-A305-D947-861C8556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63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BABB-6207-1305-7C1B-E5260111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Стандартный ввод-вывод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F347E-77F1-8579-50FF-BA6787F25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D8CEF-1C0C-1D67-1616-3A115020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55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F7B2E0-5CD2-C85B-5B53-1B7F0C0F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Ввод-вывод чисел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355C7-C302-795B-151E-6AA0DDB409B5}"/>
              </a:ext>
            </a:extLst>
          </p:cNvPr>
          <p:cNvSpPr txBox="1"/>
          <p:nvPr/>
        </p:nvSpPr>
        <p:spPr>
          <a:xfrm>
            <a:off x="838200" y="1567776"/>
            <a:ext cx="90022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Читаем число из потока 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 чтении числа произошла ошибка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Выводим число из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number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 поток вывода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Выводим число из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number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 поток ошибок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cerr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C5F093-16A4-31DB-F642-0F3BDB83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05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A594-2A80-35A7-96B8-3C4B80C9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Ввод-вывод строк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07097-4CDE-BE5C-32B7-D333BA92510F}"/>
              </a:ext>
            </a:extLst>
          </p:cNvPr>
          <p:cNvSpPr txBox="1"/>
          <p:nvPr/>
        </p:nvSpPr>
        <p:spPr>
          <a:xfrm>
            <a:off x="983432" y="2060848"/>
            <a:ext cx="108732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phrase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phrase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Прочитать строку до символа конца строки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phrase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surname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surname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Прочитать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surname,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разделённые пробелами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surname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2D6B0D-9D4E-08C1-3EB3-A8AE9647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2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4D3C1F-26E9-0288-78A8-20FC8A0A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Синонимы типов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20C78-43A6-1B67-A139-116345F9A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FAE8C4-4AC7-6F93-834E-2D4238F7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745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70D5A3-942E-C4A2-80FC-3D4F0C31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Синонимы типа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04F25E-6435-1631-DC02-7D1191CB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можно задавать альтернативные имена для существующих типов</a:t>
            </a:r>
          </a:p>
          <a:p>
            <a:r>
              <a:rPr lang="ru-RU" dirty="0"/>
              <a:t>Для этого используется ключевое слово </a:t>
            </a:r>
            <a:r>
              <a:rPr lang="en-US" b="1" dirty="0"/>
              <a:t>using</a:t>
            </a:r>
            <a:r>
              <a:rPr lang="en-US" dirty="0"/>
              <a:t>: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NewType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OldType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template &lt; template-parameter-list &gt;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NewType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OldType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ru-RU" dirty="0"/>
              <a:t>Применение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Упрощение сложных типов данных</a:t>
            </a:r>
          </a:p>
          <a:p>
            <a:pPr lvl="1"/>
            <a:r>
              <a:rPr lang="ru-RU" dirty="0"/>
              <a:t>Повышение переносимости программ</a:t>
            </a:r>
          </a:p>
          <a:p>
            <a:pPr lvl="1"/>
            <a:r>
              <a:rPr lang="ru-RU" dirty="0"/>
              <a:t>Упрощение записи шаблонных типов</a:t>
            </a:r>
          </a:p>
          <a:p>
            <a:pPr lvl="1"/>
            <a:r>
              <a:rPr lang="ru-RU" dirty="0"/>
              <a:t>Улучшение читаемости кода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E3D84B-8DEF-9BC1-9209-3450D2C8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69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4C9CB8-F1EE-ADD9-FB90-079287CE5B2F}"/>
              </a:ext>
            </a:extLst>
          </p:cNvPr>
          <p:cNvSpPr txBox="1"/>
          <p:nvPr/>
        </p:nvSpPr>
        <p:spPr>
          <a:xfrm>
            <a:off x="767408" y="58846"/>
            <a:ext cx="1087442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Теперь можно использовать имя типа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Matrix3x3d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объявления матриц 3*3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Matrix3x3d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PrintMatrix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Matrix3x3d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Пробегаем по строкам матрицы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Пробегаем по элементам строки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Matrix3x3d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PrintMatrix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98F7E0-02C3-977D-3951-268002C1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77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535166-7F5A-93FC-7B55-F4FBFED51C01}"/>
              </a:ext>
            </a:extLst>
          </p:cNvPr>
          <p:cNvSpPr txBox="1"/>
          <p:nvPr/>
        </p:nvSpPr>
        <p:spPr>
          <a:xfrm>
            <a:off x="0" y="0"/>
            <a:ext cx="1219200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&lt;</a:t>
            </a:r>
            <a:r>
              <a:rPr lang="en-US" sz="17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unsigned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Rows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unsigned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Columns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</a:p>
          <a:p>
            <a:r>
              <a:rPr lang="en-US" sz="17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MatrixT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array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array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Columns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&gt;,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Rows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&gt;;</a:t>
            </a:r>
          </a:p>
          <a:p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PrintMatrix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Пробегаем по строкам матрицы</a:t>
            </a:r>
            <a:endParaRPr lang="ru-RU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Пробегаем по элементам строки</a:t>
            </a:r>
            <a:endParaRPr lang="ru-RU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PrintMatrix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A55559-E455-EB6B-1956-3709CD99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55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745-7B3D-3597-856D-F5D723AC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Синонимы типов с стиле </a:t>
            </a:r>
            <a:r>
              <a:rPr lang="en-US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D7922-7137-9416-5569-E3B598BB5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</a:t>
            </a:r>
            <a:r>
              <a:rPr lang="ru-RU" dirty="0"/>
              <a:t>унаследовал ключевое слово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</a:rPr>
              <a:t>typedef</a:t>
            </a:r>
          </a:p>
          <a:p>
            <a:r>
              <a:rPr lang="ru-RU" dirty="0"/>
              <a:t>Синтаксис: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typedef </a:t>
            </a:r>
            <a:r>
              <a:rPr lang="en-US" dirty="0" err="1">
                <a:latin typeface="Consolas" panose="020B0609020204030204" pitchFamily="49" charset="0"/>
              </a:rPr>
              <a:t>ExistingType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NewType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ru-RU" dirty="0"/>
              <a:t>Ограничения:</a:t>
            </a:r>
          </a:p>
          <a:p>
            <a:pPr lvl="1"/>
            <a:r>
              <a:rPr lang="ru-RU" dirty="0"/>
              <a:t>Нельзя объявлять шаблоны</a:t>
            </a:r>
          </a:p>
          <a:p>
            <a:r>
              <a:rPr lang="ru-RU" dirty="0"/>
              <a:t>Можно встретить в устаревших кодовых базах и заголовочных файлах, написанных на языке </a:t>
            </a:r>
            <a:r>
              <a:rPr lang="en-US" dirty="0"/>
              <a:t>C.</a:t>
            </a:r>
            <a:endParaRPr lang="ru-RU" dirty="0"/>
          </a:p>
          <a:p>
            <a:r>
              <a:rPr lang="ru-RU" dirty="0"/>
              <a:t>В программах на </a:t>
            </a:r>
            <a:r>
              <a:rPr lang="en-US" dirty="0"/>
              <a:t>C++</a:t>
            </a:r>
            <a:r>
              <a:rPr lang="ru-RU" dirty="0"/>
              <a:t> объявляйте синонимы типов при помощи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</a:rPr>
              <a:t>using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05F52-DA61-D1B8-0CC1-908BA610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366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2BB45A-660C-6B1A-4610-6F03DED7AF10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Теперь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Real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использовать для обозначения чисел с плавающей запятой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Real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// Или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using Real = float; 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скалярное произведение 3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векторов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DotProduct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GetLength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длину вектора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hlinkClick r:id="rId3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hlinkClick r:id="rId3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hlinkClick r:id="rId3"/>
              </a:rPr>
              <a:t>hypot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GetAngle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угол в радианах между векторами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acos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DotProduct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GetLength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GetLength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GetAngle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::pi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B4672-116E-7CB1-18FA-F8C5821E240F}"/>
              </a:ext>
            </a:extLst>
          </p:cNvPr>
          <p:cNvSpPr txBox="1"/>
          <p:nvPr/>
        </p:nvSpPr>
        <p:spPr>
          <a:xfrm>
            <a:off x="8616280" y="692696"/>
            <a:ext cx="3575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https://godbolt.org/z/4dzYPGrqf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D31A06-16CE-1B9F-0E90-8B93365BE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2348" y="1176637"/>
            <a:ext cx="2743583" cy="272453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A2DDCC-24A6-0D4F-257F-5DAE373F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07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Перечислимый тип данных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3A34F9-CF08-EAA2-3905-47D60F2C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669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Перечислимый тип данных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Задаёт набор именованных целочисленных значений</a:t>
            </a:r>
          </a:p>
          <a:p>
            <a:pPr lvl="1"/>
            <a:r>
              <a:rPr lang="ru-RU" dirty="0"/>
              <a:t>День недели или название месяца</a:t>
            </a:r>
          </a:p>
          <a:p>
            <a:pPr lvl="1"/>
            <a:r>
              <a:rPr lang="ru-RU" dirty="0"/>
              <a:t>Состояние конечного автомата</a:t>
            </a:r>
          </a:p>
          <a:p>
            <a:pPr lvl="1"/>
            <a:r>
              <a:rPr lang="ru-RU" dirty="0"/>
              <a:t>Модель компьютера</a:t>
            </a:r>
            <a:endParaRPr lang="en-US" dirty="0"/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Имена в различных перечислениях должны отличаться друг от друга</a:t>
            </a:r>
          </a:p>
          <a:p>
            <a:pPr lvl="1"/>
            <a:r>
              <a:rPr lang="ru-RU" dirty="0"/>
              <a:t> Значения внутри одного перечисления могут совпадать:</a:t>
            </a:r>
          </a:p>
          <a:p>
            <a:pPr lvl="2"/>
            <a:r>
              <a:rPr lang="en-US" dirty="0" err="1"/>
              <a:t>enum</a:t>
            </a:r>
            <a:r>
              <a:rPr lang="en-US" dirty="0"/>
              <a:t> Status {Ok, Failure, Success = Ok};</a:t>
            </a:r>
            <a:endParaRPr lang="ru-RU" dirty="0"/>
          </a:p>
          <a:p>
            <a:pPr lvl="1"/>
            <a:r>
              <a:rPr lang="ru-RU" dirty="0"/>
              <a:t>Могут неявно преобразовываться к целым числам, что иногда создаёт проблемы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E4BC2D-BF73-A51D-D9AD-A5F8E185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50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339EA4-C04C-804D-B4C5-25960FFA3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DA0FA-80B6-BB1E-0C1C-9B59E2CB7409}"/>
              </a:ext>
            </a:extLst>
          </p:cNvPr>
          <p:cNvSpPr txBox="1"/>
          <p:nvPr/>
        </p:nvSpPr>
        <p:spPr>
          <a:xfrm>
            <a:off x="838200" y="2060848"/>
            <a:ext cx="8305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70C1"/>
                </a:solidFill>
                <a:latin typeface="Consolas" panose="020B0609020204030204" pitchFamily="49" charset="0"/>
              </a:rPr>
              <a:t>Yellow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2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FD58E6-FF7C-06F3-C91B-D4F16C4E8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373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2060848"/>
            <a:ext cx="100230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2563"/>
            <a:r>
              <a:rPr lang="en-US" sz="1400" dirty="0" err="1">
                <a:latin typeface="Lucida Console" panose="020B0609040504020204" pitchFamily="49" charset="0"/>
              </a:rPr>
              <a:t>enum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TrafficLightColor</a:t>
            </a:r>
            <a:endParaRPr lang="en-US" sz="1400" dirty="0">
              <a:latin typeface="Lucida Console" panose="020B0609040504020204" pitchFamily="49" charset="0"/>
            </a:endParaRPr>
          </a:p>
          <a:p>
            <a:pPr defTabSz="182563"/>
            <a:r>
              <a:rPr lang="ru-RU" sz="1400" dirty="0">
                <a:latin typeface="Lucida Console" panose="020B0609040504020204" pitchFamily="49" charset="0"/>
              </a:rPr>
              <a:t>{</a:t>
            </a:r>
          </a:p>
          <a:p>
            <a:pPr defTabSz="182563"/>
            <a:r>
              <a:rPr lang="en-US" sz="1400" dirty="0">
                <a:latin typeface="Lucida Console" panose="020B0609040504020204" pitchFamily="49" charset="0"/>
              </a:rPr>
              <a:t>	Red, Yellow, Green</a:t>
            </a:r>
          </a:p>
          <a:p>
            <a:pPr defTabSz="182563"/>
            <a:r>
              <a:rPr lang="ru-RU" sz="1400" dirty="0">
                <a:latin typeface="Lucida Console" panose="020B0609040504020204" pitchFamily="49" charset="0"/>
              </a:rPr>
              <a:t>};</a:t>
            </a:r>
          </a:p>
          <a:p>
            <a:pPr defTabSz="182563"/>
            <a:endParaRPr lang="en-US" sz="1400" dirty="0">
              <a:latin typeface="Lucida Console" panose="020B0609040504020204" pitchFamily="49" charset="0"/>
            </a:endParaRPr>
          </a:p>
          <a:p>
            <a:pPr defTabSz="182563"/>
            <a:r>
              <a:rPr lang="en-US" sz="1400" dirty="0">
                <a:latin typeface="Lucida Console" panose="020B0609040504020204" pitchFamily="49" charset="0"/>
              </a:rPr>
              <a:t>// </a:t>
            </a:r>
            <a:r>
              <a:rPr lang="ru-RU" sz="1400" dirty="0">
                <a:latin typeface="Lucida Console" panose="020B0609040504020204" pitchFamily="49" charset="0"/>
              </a:rPr>
              <a:t>Не скомпилируется, т.к. значение </a:t>
            </a:r>
            <a:r>
              <a:rPr lang="en-US" sz="1400" dirty="0">
                <a:latin typeface="Lucida Console" panose="020B0609040504020204" pitchFamily="49" charset="0"/>
              </a:rPr>
              <a:t>Red </a:t>
            </a:r>
            <a:r>
              <a:rPr lang="ru-RU" sz="1400" dirty="0">
                <a:latin typeface="Lucida Console" panose="020B0609040504020204" pitchFamily="49" charset="0"/>
              </a:rPr>
              <a:t>уже используется </a:t>
            </a:r>
            <a:r>
              <a:rPr lang="en-US" sz="1400" dirty="0" err="1">
                <a:latin typeface="Lucida Console" panose="020B0609040504020204" pitchFamily="49" charset="0"/>
              </a:rPr>
              <a:t>TrafficLightColor</a:t>
            </a:r>
            <a:r>
              <a:rPr lang="ru-RU" sz="1400" dirty="0">
                <a:latin typeface="Lucida Console" panose="020B0609040504020204" pitchFamily="49" charset="0"/>
              </a:rPr>
              <a:t> </a:t>
            </a:r>
          </a:p>
          <a:p>
            <a:pPr defTabSz="182563"/>
            <a:r>
              <a:rPr lang="en-US" sz="1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</a:t>
            </a:r>
            <a:r>
              <a:rPr lang="en-US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CarColor</a:t>
            </a:r>
            <a:endParaRPr lang="en-US" sz="1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182563"/>
            <a:r>
              <a:rPr lang="ru-RU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pPr defTabSz="182563"/>
            <a:r>
              <a:rPr lang="en-US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ru-RU" sz="1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Black</a:t>
            </a:r>
            <a:r>
              <a:rPr lang="ru-RU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, </a:t>
            </a:r>
            <a:r>
              <a:rPr lang="ru-RU" sz="1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Red</a:t>
            </a:r>
            <a:r>
              <a:rPr lang="en-US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, </a:t>
            </a:r>
            <a:r>
              <a:rPr lang="ru-RU" sz="1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White</a:t>
            </a:r>
            <a:endParaRPr lang="ru-RU" sz="1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182563"/>
            <a:r>
              <a:rPr lang="ru-RU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};</a:t>
            </a:r>
          </a:p>
          <a:p>
            <a:pPr defTabSz="182563"/>
            <a:endParaRPr lang="ru-RU" sz="1400" dirty="0">
              <a:latin typeface="Lucida Console" panose="020B0609040504020204" pitchFamily="49" charset="0"/>
            </a:endParaRPr>
          </a:p>
          <a:p>
            <a:pPr defTabSz="182563"/>
            <a:r>
              <a:rPr lang="en-US" sz="1400" dirty="0">
                <a:latin typeface="Lucida Console" panose="020B0609040504020204" pitchFamily="49" charset="0"/>
              </a:rPr>
              <a:t>// </a:t>
            </a:r>
            <a:r>
              <a:rPr lang="ru-RU" sz="1400" dirty="0">
                <a:latin typeface="Lucida Console" panose="020B0609040504020204" pitchFamily="49" charset="0"/>
              </a:rPr>
              <a:t>Вот так скомпилируется</a:t>
            </a:r>
          </a:p>
          <a:p>
            <a:pPr defTabSz="182563"/>
            <a:r>
              <a:rPr lang="en-US" sz="1400" dirty="0" err="1">
                <a:latin typeface="Lucida Console" panose="020B0609040504020204" pitchFamily="49" charset="0"/>
              </a:rPr>
              <a:t>enum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CarColor</a:t>
            </a:r>
            <a:endParaRPr lang="en-US" sz="1400" dirty="0">
              <a:latin typeface="Lucida Console" panose="020B0609040504020204" pitchFamily="49" charset="0"/>
            </a:endParaRPr>
          </a:p>
          <a:p>
            <a:pPr defTabSz="182563"/>
            <a:r>
              <a:rPr lang="ru-RU" sz="1400" dirty="0">
                <a:latin typeface="Lucida Console" panose="020B0609040504020204" pitchFamily="49" charset="0"/>
              </a:rPr>
              <a:t>{</a:t>
            </a:r>
          </a:p>
          <a:p>
            <a:pPr defTabSz="182563"/>
            <a:r>
              <a:rPr lang="en-US" sz="1400" dirty="0">
                <a:latin typeface="Lucida Console" panose="020B0609040504020204" pitchFamily="49" charset="0"/>
              </a:rPr>
              <a:t>	</a:t>
            </a:r>
            <a:r>
              <a:rPr lang="en-US" sz="1400" dirty="0" err="1">
                <a:latin typeface="Lucida Console" panose="020B0609040504020204" pitchFamily="49" charset="0"/>
              </a:rPr>
              <a:t>RedCarColor</a:t>
            </a:r>
            <a:r>
              <a:rPr lang="en-US" sz="1400" dirty="0">
                <a:latin typeface="Lucida Console" panose="020B0609040504020204" pitchFamily="49" charset="0"/>
              </a:rPr>
              <a:t>, </a:t>
            </a:r>
            <a:r>
              <a:rPr lang="en-US" sz="1400" dirty="0" err="1">
                <a:latin typeface="Lucida Console" panose="020B0609040504020204" pitchFamily="49" charset="0"/>
              </a:rPr>
              <a:t>BlackCarColor</a:t>
            </a:r>
            <a:r>
              <a:rPr lang="en-US" sz="1400" dirty="0">
                <a:latin typeface="Lucida Console" panose="020B0609040504020204" pitchFamily="49" charset="0"/>
              </a:rPr>
              <a:t>, </a:t>
            </a:r>
            <a:r>
              <a:rPr lang="en-US" sz="1400" dirty="0" err="1">
                <a:latin typeface="Lucida Console" panose="020B0609040504020204" pitchFamily="49" charset="0"/>
              </a:rPr>
              <a:t>WhiteCarColor</a:t>
            </a:r>
            <a:endParaRPr lang="en-US" sz="1400" dirty="0">
              <a:latin typeface="Lucida Console" panose="020B0609040504020204" pitchFamily="49" charset="0"/>
            </a:endParaRPr>
          </a:p>
          <a:p>
            <a:pPr defTabSz="182563"/>
            <a:r>
              <a:rPr lang="ru-RU" sz="1400" dirty="0">
                <a:latin typeface="Lucida Console" panose="020B0609040504020204" pitchFamily="49" charset="0"/>
              </a:rPr>
              <a:t>};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Проблема </a:t>
            </a:r>
            <a:r>
              <a:rPr lang="en-US" dirty="0" err="1"/>
              <a:t>enum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1E2301-CCF2-DE4E-E69B-809B15C6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50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Scoped </a:t>
            </a:r>
            <a:r>
              <a:rPr lang="en-US" dirty="0" err="1"/>
              <a:t>enum</a:t>
            </a:r>
            <a:r>
              <a:rPr lang="ru-RU" dirty="0"/>
              <a:t> (</a:t>
            </a:r>
            <a:r>
              <a:rPr lang="en-US" dirty="0" err="1"/>
              <a:t>enum</a:t>
            </a:r>
            <a:r>
              <a:rPr lang="en-US" dirty="0"/>
              <a:t> class, C++11)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>
                <a:latin typeface="Consolas" panose="020B0609020204030204" pitchFamily="49" charset="0"/>
              </a:rPr>
              <a:t>enum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class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/>
              <a:t>— перечислимый тип с ограниченной областью видимости</a:t>
            </a:r>
          </a:p>
          <a:p>
            <a:r>
              <a:rPr lang="ru-RU" b="1" dirty="0"/>
              <a:t>Преимущества</a:t>
            </a:r>
            <a:endParaRPr lang="ru-RU" dirty="0"/>
          </a:p>
          <a:p>
            <a:pPr lvl="1"/>
            <a:r>
              <a:rPr lang="ru-RU" dirty="0"/>
              <a:t>Имена значений находятся </a:t>
            </a:r>
            <a:r>
              <a:rPr lang="ru-RU" b="1" dirty="0"/>
              <a:t>внутри перечисления</a:t>
            </a:r>
            <a:br>
              <a:rPr lang="ru-RU" dirty="0"/>
            </a:br>
            <a:r>
              <a:rPr lang="ru-RU" dirty="0"/>
              <a:t>Color::Red, </a:t>
            </a:r>
            <a:r>
              <a:rPr lang="ru-RU" dirty="0" err="1"/>
              <a:t>TrafficLight</a:t>
            </a:r>
            <a:r>
              <a:rPr lang="ru-RU" dirty="0"/>
              <a:t>::Red</a:t>
            </a:r>
          </a:p>
          <a:p>
            <a:pPr lvl="1"/>
            <a:r>
              <a:rPr lang="ru-RU" dirty="0"/>
              <a:t>Можно использовать одинаковые имена значений в разных перечислениях</a:t>
            </a:r>
          </a:p>
          <a:p>
            <a:pPr lvl="1"/>
            <a:r>
              <a:rPr lang="ru-RU" b="1" dirty="0"/>
              <a:t>Нет неявного преобразования к </a:t>
            </a:r>
            <a:r>
              <a:rPr lang="ru-RU" b="1" dirty="0" err="1"/>
              <a:t>int</a:t>
            </a:r>
            <a:endParaRPr lang="ru-RU" dirty="0"/>
          </a:p>
          <a:p>
            <a:r>
              <a:rPr lang="ru-RU" b="1" dirty="0"/>
              <a:t>Результат</a:t>
            </a:r>
            <a:endParaRPr lang="ru-RU" dirty="0"/>
          </a:p>
          <a:p>
            <a:pPr lvl="1"/>
            <a:r>
              <a:rPr lang="ru-RU" dirty="0"/>
              <a:t>Более безопасный и читаемый код</a:t>
            </a:r>
          </a:p>
          <a:p>
            <a:pPr lvl="1"/>
            <a:r>
              <a:rPr lang="ru-RU" dirty="0"/>
              <a:t>Меньше конфликтов имён и случайных ошибок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E5F471-81CD-FB1E-4596-ACB90B06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71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57975E-7D27-4AC5-A904-9D10DFABB356}"/>
              </a:ext>
            </a:extLst>
          </p:cNvPr>
          <p:cNvSpPr txBox="1"/>
          <p:nvPr/>
        </p:nvSpPr>
        <p:spPr>
          <a:xfrm>
            <a:off x="335360" y="112707"/>
            <a:ext cx="1185664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sz="17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</a:t>
            </a:r>
            <a:r>
              <a:rPr lang="en-US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struct </a:t>
            </a:r>
            <a:r>
              <a:rPr lang="en-US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TrafficLightColor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Green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CarColor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White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TrafficLightToString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"Green"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"Unknown color"</a:t>
            </a:r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color2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TrafficLightToString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BA8030-A059-7117-8739-6468194C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99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8E6E7A-13D0-475E-83A4-CE97ADE1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0302C-402A-4CD2-9447-922116B71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EBC5D3-957B-CA67-FA21-B516380C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09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Основные операторы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z="2400" b="1" dirty="0"/>
              <a:t>Арифметические</a:t>
            </a:r>
            <a:endParaRPr lang="ru-RU" sz="2400" dirty="0"/>
          </a:p>
          <a:p>
            <a:pPr lvl="1"/>
            <a:r>
              <a:rPr lang="ru-RU" dirty="0"/>
              <a:t>+ - * / %</a:t>
            </a:r>
            <a:endParaRPr lang="ru-RU" sz="2000" dirty="0"/>
          </a:p>
          <a:p>
            <a:r>
              <a:rPr lang="ru-RU" sz="2400" b="1" dirty="0"/>
              <a:t>Присваивание</a:t>
            </a:r>
            <a:endParaRPr lang="ru-RU" sz="2400" dirty="0"/>
          </a:p>
          <a:p>
            <a:pPr lvl="1"/>
            <a:r>
              <a:rPr lang="ru-RU" dirty="0"/>
              <a:t>= += -= *= /= %=</a:t>
            </a:r>
            <a:endParaRPr lang="ru-RU" sz="2000" dirty="0"/>
          </a:p>
          <a:p>
            <a:r>
              <a:rPr lang="ru-RU" sz="2400" b="1" dirty="0"/>
              <a:t>Сравнение</a:t>
            </a:r>
            <a:endParaRPr lang="ru-RU" sz="2400" dirty="0"/>
          </a:p>
          <a:p>
            <a:pPr lvl="1"/>
            <a:r>
              <a:rPr lang="ru-RU" dirty="0"/>
              <a:t>== != &lt; &lt;= &gt; &gt;=</a:t>
            </a:r>
            <a:endParaRPr lang="ru-RU" sz="2000" dirty="0"/>
          </a:p>
          <a:p>
            <a:r>
              <a:rPr lang="ru-RU" sz="2400" b="1" dirty="0"/>
              <a:t>Логические</a:t>
            </a:r>
            <a:endParaRPr lang="ru-RU" sz="2400" dirty="0"/>
          </a:p>
          <a:p>
            <a:pPr lvl="1"/>
            <a:r>
              <a:rPr lang="ru-RU" dirty="0"/>
              <a:t>&amp;&amp; || !</a:t>
            </a:r>
            <a:endParaRPr lang="ru-RU" sz="2000" dirty="0"/>
          </a:p>
          <a:p>
            <a:r>
              <a:rPr lang="ru-RU" sz="2400" b="1" dirty="0"/>
              <a:t>Побитовые</a:t>
            </a:r>
            <a:endParaRPr lang="ru-RU" sz="2400" dirty="0"/>
          </a:p>
          <a:p>
            <a:pPr lvl="1"/>
            <a:r>
              <a:rPr lang="ru-RU" dirty="0"/>
              <a:t>&amp; | ^ ~ &lt;&lt; &gt;&gt;</a:t>
            </a:r>
            <a:endParaRPr lang="ru-RU" sz="2000" dirty="0"/>
          </a:p>
          <a:p>
            <a:r>
              <a:rPr lang="ru-RU" sz="2400" b="1" dirty="0"/>
              <a:t>Прочие</a:t>
            </a:r>
            <a:endParaRPr lang="ru-RU" sz="2400" dirty="0"/>
          </a:p>
          <a:p>
            <a:pPr lvl="1"/>
            <a:r>
              <a:rPr lang="ru-RU" sz="2000" dirty="0"/>
              <a:t>Условный оператор </a:t>
            </a:r>
            <a:r>
              <a:rPr lang="ru-RU" dirty="0"/>
              <a:t>?:</a:t>
            </a:r>
            <a:endParaRPr lang="ru-RU" sz="2000" dirty="0"/>
          </a:p>
          <a:p>
            <a:pPr lvl="1"/>
            <a:r>
              <a:rPr lang="ru-RU" dirty="0" err="1"/>
              <a:t>sizeof</a:t>
            </a:r>
            <a:endParaRPr lang="ru-RU" sz="2000" dirty="0"/>
          </a:p>
          <a:p>
            <a:pPr lvl="1"/>
            <a:r>
              <a:rPr lang="ru-RU" sz="2000" dirty="0"/>
              <a:t>Операторы доступа и вызова: </a:t>
            </a:r>
            <a:r>
              <a:rPr lang="ru-RU" dirty="0"/>
              <a:t>.</a:t>
            </a:r>
            <a:r>
              <a:rPr lang="ru-RU" sz="2000" dirty="0"/>
              <a:t> </a:t>
            </a:r>
            <a:r>
              <a:rPr lang="ru-RU" dirty="0"/>
              <a:t>-&gt;</a:t>
            </a:r>
            <a:r>
              <a:rPr lang="ru-RU" sz="2000" dirty="0"/>
              <a:t> </a:t>
            </a:r>
            <a:r>
              <a:rPr lang="ru-RU" dirty="0"/>
              <a:t>[]</a:t>
            </a:r>
            <a:r>
              <a:rPr lang="ru-RU" sz="2000" dirty="0"/>
              <a:t> </a:t>
            </a:r>
            <a:r>
              <a:rPr lang="ru-RU" dirty="0"/>
              <a:t>()</a:t>
            </a:r>
            <a:endParaRPr lang="ru-RU" sz="2000" dirty="0"/>
          </a:p>
          <a:p>
            <a:pPr lvl="1"/>
            <a:r>
              <a:rPr lang="ru-RU" sz="2000" dirty="0"/>
              <a:t>Операторы работы с адресами: </a:t>
            </a:r>
            <a:r>
              <a:rPr lang="ru-RU" dirty="0"/>
              <a:t>&amp;</a:t>
            </a:r>
            <a:r>
              <a:rPr lang="ru-RU" sz="2000" dirty="0"/>
              <a:t> </a:t>
            </a:r>
            <a:r>
              <a:rPr lang="ru-RU" dirty="0"/>
              <a:t>*</a:t>
            </a:r>
            <a:endParaRPr lang="ru-RU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BFF0B-01D7-8AE7-C992-81DBFBE4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69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Арифметические операторы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 dirty="0"/>
              <a:t>Бинарные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/>
              <a:t>+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-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*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/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% (</a:t>
            </a:r>
            <a:r>
              <a:rPr lang="ru-RU" sz="2000" dirty="0"/>
              <a:t>остаток от деления</a:t>
            </a:r>
            <a:r>
              <a:rPr lang="en-US" sz="2000" dirty="0"/>
              <a:t> – </a:t>
            </a:r>
            <a:r>
              <a:rPr lang="ru-RU" sz="2000" dirty="0"/>
              <a:t>применяется только к целым)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10 </a:t>
            </a:r>
            <a:r>
              <a:rPr lang="en-US" sz="1800" b="1" dirty="0">
                <a:latin typeface="Courier New" pitchFamily="49" charset="0"/>
              </a:rPr>
              <a:t>%</a:t>
            </a:r>
            <a:r>
              <a:rPr lang="en-US" sz="1800" dirty="0">
                <a:latin typeface="Courier New" pitchFamily="49" charset="0"/>
              </a:rPr>
              <a:t> 3; /*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1; */</a:t>
            </a:r>
            <a:endParaRPr lang="ru-RU" sz="1800" dirty="0">
              <a:latin typeface="Courier New" pitchFamily="49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ru-RU" sz="2000" dirty="0"/>
              <a:t>Деление целых сопровождается отбрасыванием дробной части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b="1" dirty="0">
                <a:latin typeface="Courier New" pitchFamily="49" charset="0"/>
              </a:rPr>
              <a:t>double</a:t>
            </a:r>
            <a:r>
              <a:rPr lang="en-US" sz="1800" dirty="0">
                <a:latin typeface="Courier New" pitchFamily="49" charset="0"/>
              </a:rPr>
              <a:t> x = 8 </a:t>
            </a:r>
            <a:r>
              <a:rPr lang="en-US" sz="1800" b="1" dirty="0">
                <a:latin typeface="Courier New" pitchFamily="49" charset="0"/>
              </a:rPr>
              <a:t>/</a:t>
            </a:r>
            <a:r>
              <a:rPr lang="en-US" sz="1800" dirty="0">
                <a:latin typeface="Courier New" pitchFamily="49" charset="0"/>
              </a:rPr>
              <a:t> 3; /* x = 2.0 */</a:t>
            </a:r>
            <a:endParaRPr lang="ru-RU" sz="1800" dirty="0">
              <a:latin typeface="Courier New" pitchFamily="49" charset="0"/>
            </a:endParaRPr>
          </a:p>
          <a:p>
            <a:pPr lvl="2">
              <a:lnSpc>
                <a:spcPct val="80000"/>
              </a:lnSpc>
            </a:pPr>
            <a:r>
              <a:rPr lang="en-US" sz="1800" b="1" dirty="0">
                <a:latin typeface="Courier New" pitchFamily="49" charset="0"/>
              </a:rPr>
              <a:t>double</a:t>
            </a:r>
            <a:r>
              <a:rPr lang="en-US" sz="1800" dirty="0">
                <a:latin typeface="Courier New" pitchFamily="49" charset="0"/>
              </a:rPr>
              <a:t> y = 8</a:t>
            </a:r>
            <a:r>
              <a:rPr lang="ru-RU" sz="1800" dirty="0">
                <a:latin typeface="Courier New" pitchFamily="49" charset="0"/>
              </a:rPr>
              <a:t>.0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b="1" dirty="0">
                <a:latin typeface="Courier New" pitchFamily="49" charset="0"/>
              </a:rPr>
              <a:t>/</a:t>
            </a:r>
            <a:r>
              <a:rPr lang="en-US" sz="1800" dirty="0">
                <a:latin typeface="Courier New" pitchFamily="49" charset="0"/>
              </a:rPr>
              <a:t> 3; /* y = 2.666666667 */</a:t>
            </a:r>
            <a:endParaRPr lang="ru-RU" sz="1800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400" dirty="0"/>
              <a:t>Унарные (ставятся перед операндом)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/>
              <a:t>+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+1;</a:t>
            </a:r>
            <a:endParaRPr lang="ru-RU" sz="1800" dirty="0">
              <a:latin typeface="Courier New" pitchFamily="49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ru-RU" sz="2000" dirty="0"/>
              <a:t>-</a:t>
            </a:r>
            <a:endParaRPr lang="en-US" sz="2000" dirty="0"/>
          </a:p>
          <a:p>
            <a:pPr lvl="2" eaLnBrk="1" hangingPunct="1">
              <a:lnSpc>
                <a:spcPct val="80000"/>
              </a:lnSpc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j = -8;</a:t>
            </a:r>
            <a:endParaRPr lang="ru-RU" sz="1800" dirty="0">
              <a:latin typeface="Courier New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710950-0677-45BA-2CC1-32DEC140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41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620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0" y="1628801"/>
            <a:ext cx="9001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Вася купил 10 килограммов яблок,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а бананов - на 5 килограммов больше, чем яблок.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Груш он купил столько же, сколько яблок и бананов вместе.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Во сколько раз больше масса всех фруктов, чем яблок?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10;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bananas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+ 5;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pears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bananas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totalFruit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bananas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pears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totalFruit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"Total fruit to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aplles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ratio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B78A80-DBFA-4946-8406-42239B542214}"/>
              </a:ext>
            </a:extLst>
          </p:cNvPr>
          <p:cNvSpPr/>
          <p:nvPr/>
        </p:nvSpPr>
        <p:spPr>
          <a:xfrm>
            <a:off x="7563883" y="1646458"/>
            <a:ext cx="30963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fruit to </a:t>
            </a:r>
            <a:r>
              <a:rPr lang="en-US" dirty="0" err="1"/>
              <a:t>aplles</a:t>
            </a:r>
            <a:r>
              <a:rPr lang="en-US" dirty="0"/>
              <a:t> ratio is 5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80457D-3EB7-9777-A185-BBE95D59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98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Операторы отношения 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1800" dirty="0"/>
              <a:t>Операторы отношения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&gt;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&gt;=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&lt;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&lt;=</a:t>
            </a:r>
          </a:p>
          <a:p>
            <a:pPr eaLnBrk="1" hangingPunct="1">
              <a:lnSpc>
                <a:spcPct val="80000"/>
              </a:lnSpc>
            </a:pPr>
            <a:r>
              <a:rPr lang="ru-RU" sz="1800" dirty="0"/>
              <a:t>Операторы сравнения на равенство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600" dirty="0"/>
              <a:t>==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600" dirty="0"/>
              <a:t>!=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739427-F9BD-D84A-4A05-DA32C610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43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76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486E-C75A-4A64-8271-B7FA8BF5D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Логические операторы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12416-BF61-411F-B1B1-1885598CA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&amp;&amp;</a:t>
            </a:r>
            <a:r>
              <a:rPr lang="ru-RU" dirty="0"/>
              <a:t> - логическое И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getchar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bool </a:t>
            </a:r>
            <a:r>
              <a:rPr lang="en-US" dirty="0" err="1">
                <a:latin typeface="Consolas" panose="020B0609020204030204" pitchFamily="49" charset="0"/>
              </a:rPr>
              <a:t>isDigit</a:t>
            </a:r>
            <a:r>
              <a:rPr lang="en-US" dirty="0">
                <a:latin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&gt;= '0')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&amp;&amp;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&lt;= '9');</a:t>
            </a:r>
          </a:p>
          <a:p>
            <a:r>
              <a:rPr lang="en-US" dirty="0"/>
              <a:t>||</a:t>
            </a:r>
            <a:r>
              <a:rPr lang="ru-RU" dirty="0"/>
              <a:t> - логическое ИЛИ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getchar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if ((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== ' ')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||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== '\n')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||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== '\t'))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</a:t>
            </a:r>
            <a:r>
              <a:rPr lang="ru-RU" dirty="0">
                <a:latin typeface="Consolas" panose="020B0609020204030204" pitchFamily="49" charset="0"/>
              </a:rPr>
              <a:t>Разделитель</a:t>
            </a:r>
            <a:r>
              <a:rPr lang="en-US" dirty="0">
                <a:latin typeface="Consolas" panose="020B0609020204030204" pitchFamily="49" charset="0"/>
              </a:rPr>
              <a:t>";</a:t>
            </a:r>
          </a:p>
          <a:p>
            <a:r>
              <a:rPr lang="en-US" dirty="0"/>
              <a:t>! – </a:t>
            </a:r>
            <a:r>
              <a:rPr lang="ru-RU" dirty="0"/>
              <a:t>логическое НЕ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if (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!</a:t>
            </a:r>
            <a:r>
              <a:rPr lang="en-US" dirty="0">
                <a:latin typeface="Consolas" panose="020B0609020204030204" pitchFamily="49" charset="0"/>
              </a:rPr>
              <a:t>valid)</a:t>
            </a:r>
          </a:p>
          <a:p>
            <a:r>
              <a:rPr lang="ru-RU" dirty="0"/>
              <a:t>Вычисления операторов </a:t>
            </a:r>
            <a:r>
              <a:rPr lang="en-US" dirty="0"/>
              <a:t>&amp;&amp; </a:t>
            </a:r>
            <a:r>
              <a:rPr lang="ru-RU" dirty="0"/>
              <a:t>и </a:t>
            </a:r>
            <a:r>
              <a:rPr lang="en-US" dirty="0"/>
              <a:t>|| </a:t>
            </a:r>
            <a:r>
              <a:rPr lang="ru-RU" dirty="0"/>
              <a:t>прекращаются как только станет известна истинность или ложность результата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6F358-7441-8EB4-7C55-1038C9D8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98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Нахождение максимума 3-х чисел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26688"/>
            <a:ext cx="914623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Пользователь вводит 3 числа: a, b и c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Найти вывести максимальное из этих чисел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"Enter 3 integer numbers: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"Maximum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D6CF9-D5A9-E1F5-BB4E-0B4BD5DE5308}"/>
              </a:ext>
            </a:extLst>
          </p:cNvPr>
          <p:cNvSpPr txBox="1"/>
          <p:nvPr/>
        </p:nvSpPr>
        <p:spPr>
          <a:xfrm>
            <a:off x="5375920" y="1526688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https://wandbox.org/permlink/CxGG7re3wgkzIFRy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524A44-7E10-3050-A33B-260F242B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54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Определяем високосный год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690689"/>
            <a:ext cx="965028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Определить, является ли високосным введённый пользователем год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Високосный год делится на 4 и не делится на 100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Если год делится на 400, то он всё равно високосный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"Enter year: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isLeap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4 == 0) &amp;&amp; 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((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100 != 0) ||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400 == 0));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isLeap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is a leap year\n"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is not a leap year\n"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07B28-B81F-B31A-3E2C-B3071296829C}"/>
              </a:ext>
            </a:extLst>
          </p:cNvPr>
          <p:cNvSpPr txBox="1"/>
          <p:nvPr/>
        </p:nvSpPr>
        <p:spPr>
          <a:xfrm>
            <a:off x="5318721" y="6336268"/>
            <a:ext cx="5183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https://godbolt.org/z/nb9rnEeE8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6CA404-D505-499C-B0C5-DC820C23D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352" y="3948423"/>
            <a:ext cx="2724530" cy="272453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1C8D4-88F8-08CE-CB97-6BF1B4B1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89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0DBC3C-C6A2-C91D-09A2-A4B9AF0E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Альтернативные логические операторы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9E364-5F38-0517-37D0-C265AC886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C++ существуют </a:t>
            </a:r>
            <a:r>
              <a:rPr lang="ru-RU" b="1" dirty="0"/>
              <a:t>альтернативные ключевые слова</a:t>
            </a:r>
            <a:r>
              <a:rPr lang="ru-RU" dirty="0"/>
              <a:t> для логических операторов:</a:t>
            </a:r>
          </a:p>
          <a:p>
            <a:pPr lvl="1"/>
            <a:r>
              <a:rPr lang="ru-RU" dirty="0" err="1"/>
              <a:t>and</a:t>
            </a:r>
            <a:r>
              <a:rPr lang="ru-RU" dirty="0"/>
              <a:t> вместо &amp;&amp;</a:t>
            </a:r>
          </a:p>
          <a:p>
            <a:pPr lvl="1"/>
            <a:r>
              <a:rPr lang="ru-RU" dirty="0" err="1"/>
              <a:t>or</a:t>
            </a:r>
            <a:r>
              <a:rPr lang="ru-RU" dirty="0"/>
              <a:t> вместо ||</a:t>
            </a:r>
          </a:p>
          <a:p>
            <a:pPr lvl="1"/>
            <a:r>
              <a:rPr lang="ru-RU" dirty="0" err="1"/>
              <a:t>not</a:t>
            </a:r>
            <a:r>
              <a:rPr lang="ru-RU" dirty="0"/>
              <a:t> вместо 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71E98-4C40-1987-A3FE-D206F8C0D45D}"/>
              </a:ext>
            </a:extLst>
          </p:cNvPr>
          <p:cNvSpPr txBox="1"/>
          <p:nvPr/>
        </p:nvSpPr>
        <p:spPr>
          <a:xfrm>
            <a:off x="838200" y="4001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b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}</a:t>
            </a: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(x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or y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}</a:t>
            </a: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(not valid) { 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1DC80D-B689-4A25-9D14-2FC5965C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3344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/>
              <a:t>Операторы инкремента и декремента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Увеличивают или уменьшают значение операнда на 1</a:t>
            </a:r>
          </a:p>
          <a:p>
            <a:pPr lvl="1"/>
            <a:r>
              <a:rPr lang="ru-RU" dirty="0"/>
              <a:t>++</a:t>
            </a:r>
          </a:p>
          <a:p>
            <a:pPr lvl="1"/>
            <a:r>
              <a:rPr lang="ru-RU" dirty="0"/>
              <a:t>--</a:t>
            </a:r>
            <a:endParaRPr lang="en-US" dirty="0"/>
          </a:p>
          <a:p>
            <a:r>
              <a:rPr lang="ru-RU" dirty="0"/>
              <a:t>Имеют две формы</a:t>
            </a:r>
          </a:p>
          <a:p>
            <a:pPr lvl="1"/>
            <a:r>
              <a:rPr lang="ru-RU" dirty="0"/>
              <a:t>Префиксная форма (возвращает новое значение аргумента)</a:t>
            </a:r>
          </a:p>
          <a:p>
            <a:pPr lvl="2"/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0;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j = ++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; /*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1; j = 1; */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Постфиксная форма (возвращает старое значение аргумента)</a:t>
            </a:r>
            <a:endParaRPr lang="en-US" dirty="0"/>
          </a:p>
          <a:p>
            <a:pPr lvl="2"/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0;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j 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--; /*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-1; j = 0; */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Операторы инкремента и декремента можно применять только к переменным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(j + y)++; /*</a:t>
            </a:r>
            <a:r>
              <a:rPr lang="ru-RU" dirty="0">
                <a:latin typeface="Consolas" panose="020B0609020204030204" pitchFamily="49" charset="0"/>
              </a:rPr>
              <a:t> ошибка</a:t>
            </a:r>
            <a:r>
              <a:rPr lang="en-US" dirty="0">
                <a:latin typeface="Consolas" panose="020B0609020204030204" pitchFamily="49" charset="0"/>
              </a:rPr>
              <a:t> */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345EB0-5F0B-68AC-24CB-67B0507A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74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117694"/>
            <a:ext cx="903649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Пользователь вводит натуральное число.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Вывести количество цифр 2 в десятичной записи этого числа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"Enter a natural number: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units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10;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units –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число в разряде единиц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units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2)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++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/= 10;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0);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"Decimal notation of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contains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69077-5A2B-DDB3-9567-13F186339577}"/>
              </a:ext>
            </a:extLst>
          </p:cNvPr>
          <p:cNvSpPr txBox="1"/>
          <p:nvPr/>
        </p:nvSpPr>
        <p:spPr>
          <a:xfrm>
            <a:off x="6477583" y="6322753"/>
            <a:ext cx="3759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https://godbolt.org/z/EvsY4bMjd</a:t>
            </a:r>
            <a:r>
              <a:rPr lang="ru-RU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829E8-F542-871F-26E4-FC0F07492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210" y="4941168"/>
            <a:ext cx="1754949" cy="17991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C4F22-5CD0-0E2F-E977-64910CA2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51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Операторы обработки битов</a:t>
            </a:r>
            <a:endParaRPr lang="ru-RU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ru-RU" sz="2400" dirty="0"/>
              <a:t>&amp; - побитовое </a:t>
            </a:r>
            <a:r>
              <a:rPr lang="ru-RU" sz="2400" b="1" dirty="0"/>
              <a:t>И</a:t>
            </a:r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int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0b1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01 </a:t>
            </a:r>
            <a:r>
              <a:rPr lang="en-US" sz="2200" b="1" dirty="0">
                <a:latin typeface="Courier New" pitchFamily="49" charset="0"/>
              </a:rPr>
              <a:t>&amp;</a:t>
            </a:r>
            <a:r>
              <a:rPr lang="en-US" sz="2200" dirty="0">
                <a:latin typeface="Courier New" pitchFamily="49" charset="0"/>
              </a:rPr>
              <a:t> 0b0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10;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00 */</a:t>
            </a:r>
            <a:endParaRPr lang="ru-RU" sz="22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| - побитовое </a:t>
            </a:r>
            <a:r>
              <a:rPr lang="ru-RU" sz="2400" b="1" dirty="0"/>
              <a:t>ИЛИ</a:t>
            </a:r>
            <a:r>
              <a:rPr lang="ru-RU" sz="24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int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11</a:t>
            </a:r>
            <a:r>
              <a:rPr lang="en-US" sz="2200" dirty="0">
                <a:latin typeface="Courier New" pitchFamily="49" charset="0"/>
              </a:rPr>
              <a:t>00 </a:t>
            </a:r>
            <a:r>
              <a:rPr lang="en-US" sz="2200" b="1" dirty="0">
                <a:latin typeface="Courier New" pitchFamily="49" charset="0"/>
              </a:rPr>
              <a:t>|</a:t>
            </a:r>
            <a:r>
              <a:rPr lang="en-US" sz="2200" dirty="0">
                <a:latin typeface="Courier New" pitchFamily="49" charset="0"/>
              </a:rPr>
              <a:t> 0b00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0;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111</a:t>
            </a:r>
            <a:r>
              <a:rPr lang="en-US" sz="2200" dirty="0">
                <a:latin typeface="Courier New" pitchFamily="49" charset="0"/>
              </a:rPr>
              <a:t>0 */</a:t>
            </a:r>
            <a:endParaRPr lang="ru-RU" sz="22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^ - побитовое исключающее ИЛИ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int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r>
              <a:rPr lang="en-US" sz="2200" dirty="0">
                <a:latin typeface="Courier New" pitchFamily="49" charset="0"/>
              </a:rPr>
              <a:t>10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b="1" dirty="0">
                <a:latin typeface="Courier New" pitchFamily="49" charset="0"/>
              </a:rPr>
              <a:t>^</a:t>
            </a:r>
            <a:r>
              <a:rPr lang="en-US" sz="2200" dirty="0">
                <a:latin typeface="Courier New" pitchFamily="49" charset="0"/>
              </a:rPr>
              <a:t> 0b110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r>
              <a:rPr lang="en-US" sz="2200" dirty="0">
                <a:latin typeface="Courier New" pitchFamily="49" charset="0"/>
              </a:rPr>
              <a:t>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00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 */</a:t>
            </a:r>
            <a:endParaRPr lang="ru-RU" sz="22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&lt;&lt; - сдвиг влево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int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0001</a:t>
            </a:r>
            <a:r>
              <a:rPr lang="en-US" sz="2200" dirty="0">
                <a:latin typeface="Courier New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sz="2200" dirty="0">
                <a:latin typeface="Courier New" pitchFamily="49" charset="0"/>
              </a:rPr>
              <a:t>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1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000</a:t>
            </a:r>
            <a:r>
              <a:rPr lang="en-US" sz="2200" dirty="0">
                <a:latin typeface="Courier New" pitchFamily="49" charset="0"/>
              </a:rPr>
              <a:t> */</a:t>
            </a:r>
            <a:endParaRPr lang="ru-RU" sz="22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&gt;&gt; - сдвиг вправо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int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1100</a:t>
            </a:r>
            <a:r>
              <a:rPr lang="en-US" sz="2200" dirty="0">
                <a:latin typeface="Courier New" pitchFamily="49" charset="0"/>
              </a:rPr>
              <a:t>1 &gt;&gt; 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2</a:t>
            </a:r>
            <a:r>
              <a:rPr lang="en-US" sz="2200" dirty="0">
                <a:latin typeface="Courier New" pitchFamily="49" charset="0"/>
              </a:rPr>
              <a:t>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00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110</a:t>
            </a:r>
            <a:r>
              <a:rPr lang="en-US" sz="2200" dirty="0">
                <a:latin typeface="Courier New" pitchFamily="49" charset="0"/>
              </a:rPr>
              <a:t> */</a:t>
            </a:r>
            <a:endParaRPr lang="ru-RU" sz="22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~ - побитовое отрицание (унарный оператор).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char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~0b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0000000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</a:t>
            </a:r>
            <a:r>
              <a:rPr lang="ru-RU" sz="2200" dirty="0">
                <a:latin typeface="Courier New" pitchFamily="49" charset="0"/>
              </a:rPr>
              <a:t>0</a:t>
            </a:r>
            <a:r>
              <a:rPr lang="en-US" sz="2200" dirty="0">
                <a:latin typeface="Courier New" pitchFamily="49" charset="0"/>
              </a:rPr>
              <a:t>b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1111111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r>
              <a:rPr lang="en-US" sz="2200" dirty="0">
                <a:latin typeface="Courier New" pitchFamily="49" charset="0"/>
              </a:rPr>
              <a:t>) */</a:t>
            </a:r>
            <a:endParaRPr lang="ru-RU" sz="2200" dirty="0">
              <a:latin typeface="Courier New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146047-24B5-C0B8-3C2D-7CB53BAA7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711608"/>
              </p:ext>
            </p:extLst>
          </p:nvPr>
        </p:nvGraphicFramePr>
        <p:xfrm>
          <a:off x="8616280" y="100806"/>
          <a:ext cx="338437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00">
                  <a:extLst>
                    <a:ext uri="{9D8B030D-6E8A-4147-A177-3AD203B41FA5}">
                      <a16:colId xmlns:a16="http://schemas.microsoft.com/office/drawing/2014/main" val="4198879743"/>
                    </a:ext>
                  </a:extLst>
                </a:gridCol>
                <a:gridCol w="610628">
                  <a:extLst>
                    <a:ext uri="{9D8B030D-6E8A-4147-A177-3AD203B41FA5}">
                      <a16:colId xmlns:a16="http://schemas.microsoft.com/office/drawing/2014/main" val="1001153694"/>
                    </a:ext>
                  </a:extLst>
                </a:gridCol>
                <a:gridCol w="878497">
                  <a:extLst>
                    <a:ext uri="{9D8B030D-6E8A-4147-A177-3AD203B41FA5}">
                      <a16:colId xmlns:a16="http://schemas.microsoft.com/office/drawing/2014/main" val="1098360014"/>
                    </a:ext>
                  </a:extLst>
                </a:gridCol>
                <a:gridCol w="676875">
                  <a:extLst>
                    <a:ext uri="{9D8B030D-6E8A-4147-A177-3AD203B41FA5}">
                      <a16:colId xmlns:a16="http://schemas.microsoft.com/office/drawing/2014/main" val="1451611224"/>
                    </a:ext>
                  </a:extLst>
                </a:gridCol>
                <a:gridCol w="676875">
                  <a:extLst>
                    <a:ext uri="{9D8B030D-6E8A-4147-A177-3AD203B41FA5}">
                      <a16:colId xmlns:a16="http://schemas.microsoft.com/office/drawing/2014/main" val="1277499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&amp;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|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^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85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719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215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39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0842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3A10CD-913E-3D4A-562E-1654E543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50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097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bldLvl="2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7D7145-0715-C605-8F1D-A59B3D72A7B6}"/>
              </a:ext>
            </a:extLst>
          </p:cNvPr>
          <p:cNvSpPr txBox="1"/>
          <p:nvPr/>
        </p:nvSpPr>
        <p:spPr>
          <a:xfrm>
            <a:off x="0" y="-1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RGBAColor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RGBAColor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RGBAColorFromARGB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argb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hlinkClick r:id="rId2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hlinkClick r:id="rId2"/>
              </a:rPr>
              <a:t>::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hlinkClick r:id="rId2"/>
              </a:rPr>
              <a:t>hex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RGBAColorFromARGB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RGBAColorFromABGR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1BDC07-79E4-04BD-2FD4-7A9F4DE2CD47}"/>
              </a:ext>
            </a:extLst>
          </p:cNvPr>
          <p:cNvSpPr txBox="1"/>
          <p:nvPr/>
        </p:nvSpPr>
        <p:spPr>
          <a:xfrm>
            <a:off x="6096000" y="0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RGBAColor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RGBAColorFromABGR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RGBAColor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endParaRPr lang="en-US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         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g: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endParaRPr lang="en-US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         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b: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a: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Унарный +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преобразует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uint8_t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int,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чтобы значение выводилось в виде числа,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//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а не в виде символа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794721-21AD-BB7E-D9EA-22FD6ED6B54F}"/>
              </a:ext>
            </a:extLst>
          </p:cNvPr>
          <p:cNvSpPr txBox="1"/>
          <p:nvPr/>
        </p:nvSpPr>
        <p:spPr>
          <a:xfrm>
            <a:off x="7176120" y="6370974"/>
            <a:ext cx="3543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https://godbolt.org/z/8x49qoe8d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6F7E93-87FD-0226-B530-015B058D5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512" y="5335552"/>
            <a:ext cx="1399807" cy="140475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287FB-EA4E-7E3E-C7D4-F4CD1520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69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/>
              <a:t>Операторы и выражения присваивания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400" dirty="0"/>
              <a:t>Служат для присваивания переменным значения некоторого выражения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/>
              <a:t>i</a:t>
            </a:r>
            <a:r>
              <a:rPr lang="en-US" sz="2000" dirty="0"/>
              <a:t> = 3;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/>
              <a:t>i</a:t>
            </a:r>
            <a:r>
              <a:rPr lang="en-US" sz="2000" dirty="0"/>
              <a:t> += 8;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/>
              <a:t>i</a:t>
            </a:r>
            <a:r>
              <a:rPr lang="en-US" sz="2000" dirty="0"/>
              <a:t> &lt;&lt;= 1;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j %= 3;</a:t>
            </a:r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Типом и значением выражения присваивания является тип и значение левого операнда после завершения присваивания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Courier New" pitchFamily="49" charset="0"/>
              </a:rPr>
              <a:t>while ((c = </a:t>
            </a:r>
            <a:r>
              <a:rPr lang="en-US" sz="2000" dirty="0" err="1">
                <a:latin typeface="Courier New" pitchFamily="49" charset="0"/>
              </a:rPr>
              <a:t>getchar</a:t>
            </a:r>
            <a:r>
              <a:rPr lang="en-US" sz="2000" dirty="0">
                <a:latin typeface="Courier New" pitchFamily="49" charset="0"/>
              </a:rPr>
              <a:t>()) != EOF)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{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    // do something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}</a:t>
            </a:r>
            <a:endParaRPr lang="ru-RU" sz="2000" dirty="0">
              <a:latin typeface="Courier New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84C215-8979-32D1-3AEA-5BCE3325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52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62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Наивный аналог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std::</a:t>
            </a:r>
            <a:r>
              <a:rPr lang="en-US" dirty="0" err="1">
                <a:hlinkClick r:id="rId4"/>
              </a:rPr>
              <a:t>popcount</a:t>
            </a:r>
            <a:endParaRPr lang="ru-RU" dirty="0"/>
          </a:p>
        </p:txBody>
      </p:sp>
      <p:sp>
        <p:nvSpPr>
          <p:cNvPr id="49155" name="Rectangle 4"/>
          <p:cNvSpPr>
            <a:spLocks noChangeArrowheads="1"/>
          </p:cNvSpPr>
          <p:nvPr/>
        </p:nvSpPr>
        <p:spPr bwMode="auto">
          <a:xfrm>
            <a:off x="838418" y="1556792"/>
            <a:ext cx="9433048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542925"/>
            <a:r>
              <a:rPr lang="ru-RU" i="1" dirty="0">
                <a:latin typeface="Consolas" panose="020B0609020204030204" pitchFamily="49" charset="0"/>
              </a:rPr>
              <a:t>/</a:t>
            </a:r>
            <a:r>
              <a:rPr lang="en-US" i="1" dirty="0">
                <a:latin typeface="Consolas" panose="020B0609020204030204" pitchFamily="49" charset="0"/>
              </a:rPr>
              <a:t>/</a:t>
            </a:r>
            <a:r>
              <a:rPr lang="ru-RU" i="1" dirty="0">
                <a:latin typeface="Consolas" panose="020B0609020204030204" pitchFamily="49" charset="0"/>
              </a:rPr>
              <a:t> </a:t>
            </a:r>
            <a:r>
              <a:rPr lang="en-US" i="1" dirty="0" err="1">
                <a:latin typeface="Consolas" panose="020B0609020204030204" pitchFamily="49" charset="0"/>
              </a:rPr>
              <a:t>PopCount</a:t>
            </a:r>
            <a:r>
              <a:rPr lang="ru-RU" i="1" dirty="0">
                <a:latin typeface="Consolas" panose="020B0609020204030204" pitchFamily="49" charset="0"/>
              </a:rPr>
              <a:t>: подсчет количества битов в числе </a:t>
            </a:r>
            <a:r>
              <a:rPr lang="en-US" i="1" dirty="0">
                <a:latin typeface="Consolas" panose="020B0609020204030204" pitchFamily="49" charset="0"/>
              </a:rPr>
              <a:t>x</a:t>
            </a:r>
            <a:r>
              <a:rPr lang="ru-RU" i="1" dirty="0">
                <a:latin typeface="Consolas" panose="020B0609020204030204" pitchFamily="49" charset="0"/>
              </a:rPr>
              <a:t> , равных 1</a:t>
            </a:r>
            <a:endParaRPr lang="en-US" i="1" dirty="0">
              <a:latin typeface="Consolas" panose="020B0609020204030204" pitchFamily="49" charset="0"/>
            </a:endParaRPr>
          </a:p>
          <a:p>
            <a:pPr defTabSz="542925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PopCount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unsigned</a:t>
            </a:r>
            <a:r>
              <a:rPr lang="ru-RU" dirty="0">
                <a:latin typeface="Consolas" panose="020B0609020204030204" pitchFamily="49" charset="0"/>
              </a:rPr>
              <a:t> х)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ru-RU" dirty="0">
                <a:latin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b</a:t>
            </a:r>
            <a:r>
              <a:rPr lang="ru-RU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ru-RU" dirty="0" err="1">
                <a:latin typeface="Consolas" panose="020B0609020204030204" pitchFamily="49" charset="0"/>
              </a:rPr>
              <a:t>for</a:t>
            </a:r>
            <a:r>
              <a:rPr lang="ru-RU" dirty="0">
                <a:latin typeface="Consolas" panose="020B0609020204030204" pitchFamily="49" charset="0"/>
              </a:rPr>
              <a:t> (</a:t>
            </a:r>
            <a:r>
              <a:rPr lang="ru-RU" dirty="0" err="1">
                <a:latin typeface="Consolas" panose="020B0609020204030204" pitchFamily="49" charset="0"/>
              </a:rPr>
              <a:t>b</a:t>
            </a:r>
            <a:r>
              <a:rPr lang="ru-RU" dirty="0">
                <a:latin typeface="Consolas" panose="020B0609020204030204" pitchFamily="49" charset="0"/>
              </a:rPr>
              <a:t> = 0; </a:t>
            </a:r>
            <a:r>
              <a:rPr lang="ru-RU" dirty="0" err="1">
                <a:latin typeface="Consolas" panose="020B0609020204030204" pitchFamily="49" charset="0"/>
              </a:rPr>
              <a:t>х</a:t>
            </a:r>
            <a:r>
              <a:rPr lang="ru-RU" dirty="0">
                <a:latin typeface="Consolas" panose="020B0609020204030204" pitchFamily="49" charset="0"/>
              </a:rPr>
              <a:t> != 0; </a:t>
            </a:r>
            <a:r>
              <a:rPr lang="ru-RU" dirty="0" err="1">
                <a:latin typeface="Consolas" panose="020B0609020204030204" pitchFamily="49" charset="0"/>
              </a:rPr>
              <a:t>x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&gt;&gt;=</a:t>
            </a:r>
            <a:r>
              <a:rPr lang="ru-RU" dirty="0">
                <a:latin typeface="Consolas" panose="020B0609020204030204" pitchFamily="49" charset="0"/>
              </a:rPr>
              <a:t> 1)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{</a:t>
            </a: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ru-RU" dirty="0" err="1">
                <a:latin typeface="Consolas" panose="020B0609020204030204" pitchFamily="49" charset="0"/>
              </a:rPr>
              <a:t>if</a:t>
            </a:r>
            <a:r>
              <a:rPr lang="ru-RU" dirty="0">
                <a:latin typeface="Consolas" panose="020B0609020204030204" pitchFamily="49" charset="0"/>
              </a:rPr>
              <a:t> (</a:t>
            </a:r>
            <a:r>
              <a:rPr lang="ru-RU" dirty="0" err="1">
                <a:latin typeface="Consolas" panose="020B0609020204030204" pitchFamily="49" charset="0"/>
              </a:rPr>
              <a:t>x</a:t>
            </a:r>
            <a:r>
              <a:rPr lang="ru-RU" dirty="0">
                <a:latin typeface="Consolas" panose="020B0609020204030204" pitchFamily="49" charset="0"/>
              </a:rPr>
              <a:t> &amp; 0</a:t>
            </a:r>
            <a:r>
              <a:rPr lang="en-US" dirty="0">
                <a:latin typeface="Consolas" panose="020B0609020204030204" pitchFamily="49" charset="0"/>
              </a:rPr>
              <a:t>x0</a:t>
            </a:r>
            <a:r>
              <a:rPr lang="ru-RU" dirty="0">
                <a:latin typeface="Consolas" panose="020B0609020204030204" pitchFamily="49" charset="0"/>
              </a:rPr>
              <a:t>1)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		</a:t>
            </a:r>
            <a:r>
              <a:rPr lang="ru-RU" dirty="0">
                <a:latin typeface="Consolas" panose="020B0609020204030204" pitchFamily="49" charset="0"/>
              </a:rPr>
              <a:t>++b; 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ru-RU" dirty="0">
                <a:latin typeface="Consolas" panose="020B0609020204030204" pitchFamily="49" charset="0"/>
              </a:rPr>
              <a:t>} 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ru-RU" dirty="0" err="1">
                <a:latin typeface="Consolas" panose="020B0609020204030204" pitchFamily="49" charset="0"/>
              </a:rPr>
              <a:t>return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b</a:t>
            </a:r>
            <a:r>
              <a:rPr lang="ru-RU" dirty="0">
                <a:latin typeface="Consolas" panose="020B0609020204030204" pitchFamily="49" charset="0"/>
              </a:rPr>
              <a:t>; 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517B65-8500-C49C-456F-10F263AB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53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00840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2E2D-2A45-6F0F-9299-50D6DC2E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чисел до первого отрицательного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352DD-D05E-953C-7FEC-9EF2678C0AA1}"/>
              </a:ext>
            </a:extLst>
          </p:cNvPr>
          <p:cNvSpPr txBox="1"/>
          <p:nvPr/>
        </p:nvSpPr>
        <p:spPr>
          <a:xfrm>
            <a:off x="838200" y="1690688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Считываем до первого отрицательного числа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ReadInt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2E6B67-72BF-8A14-DACD-F554AB98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6579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Условное выражение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ru-RU" sz="2800" dirty="0"/>
              <a:t>Синтаксис:</a:t>
            </a:r>
            <a:endParaRPr lang="en-US" dirty="0"/>
          </a:p>
          <a:p>
            <a:pPr lvl="1"/>
            <a:r>
              <a:rPr lang="en-US" dirty="0"/>
              <a:t>condition</a:t>
            </a:r>
            <a:r>
              <a:rPr lang="ru-RU" dirty="0"/>
              <a:t> ? </a:t>
            </a:r>
            <a:r>
              <a:rPr lang="en-US" dirty="0" err="1"/>
              <a:t>expr_true</a:t>
            </a:r>
            <a:r>
              <a:rPr lang="ru-RU" dirty="0"/>
              <a:t> : </a:t>
            </a:r>
            <a:r>
              <a:rPr lang="en-US" dirty="0" err="1"/>
              <a:t>expr_false</a:t>
            </a:r>
            <a:endParaRPr lang="ru-RU" dirty="0"/>
          </a:p>
          <a:p>
            <a:r>
              <a:rPr lang="ru-RU" dirty="0"/>
              <a:t>Поведение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Сначала вычисляется</a:t>
            </a:r>
            <a:r>
              <a:rPr lang="en-US" dirty="0"/>
              <a:t> </a:t>
            </a:r>
            <a:r>
              <a:rPr lang="en-US" b="1" dirty="0"/>
              <a:t>condition</a:t>
            </a:r>
            <a:endParaRPr lang="ru-RU" b="1" dirty="0"/>
          </a:p>
          <a:p>
            <a:pPr lvl="1"/>
            <a:r>
              <a:rPr lang="ru-RU" dirty="0"/>
              <a:t>Если условие истинно</a:t>
            </a:r>
            <a:r>
              <a:rPr lang="en-US" dirty="0"/>
              <a:t> →</a:t>
            </a:r>
            <a:r>
              <a:rPr lang="ru-RU" dirty="0"/>
              <a:t> вычисляется </a:t>
            </a:r>
            <a:r>
              <a:rPr lang="en-US" b="1" dirty="0" err="1"/>
              <a:t>expr_true</a:t>
            </a:r>
            <a:endParaRPr lang="ru-RU" b="1" dirty="0"/>
          </a:p>
          <a:p>
            <a:pPr lvl="1"/>
            <a:r>
              <a:rPr lang="ru-RU" dirty="0"/>
              <a:t>Иначе </a:t>
            </a:r>
            <a:r>
              <a:rPr lang="en-US" dirty="0"/>
              <a:t>→</a:t>
            </a:r>
            <a:r>
              <a:rPr lang="ru-RU" dirty="0"/>
              <a:t> вычисляется </a:t>
            </a:r>
            <a:r>
              <a:rPr lang="en-US" b="1" dirty="0" err="1"/>
              <a:t>expr_false</a:t>
            </a:r>
            <a:endParaRPr lang="ru-RU" b="1" dirty="0"/>
          </a:p>
          <a:p>
            <a:pPr lvl="1"/>
            <a:r>
              <a:rPr lang="ru-RU" dirty="0"/>
              <a:t>Результат выбранного выражения – значение всего выражения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Вычисляется только одно из двух выражений</a:t>
            </a:r>
          </a:p>
          <a:p>
            <a:pPr lvl="1"/>
            <a:r>
              <a:rPr lang="ru-RU" dirty="0"/>
              <a:t>Может использоваться как часть более сложного выражения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ru-RU" sz="2800" dirty="0"/>
              <a:t>Пример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600" dirty="0">
                <a:latin typeface="Courier New" pitchFamily="49" charset="0"/>
              </a:rPr>
              <a:t>z = (a &gt; b) ? a : b; /* z = max(a, b)*/</a:t>
            </a:r>
            <a:endParaRPr lang="ru-RU" sz="2600" dirty="0">
              <a:latin typeface="Courier New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975633-7CED-A956-64E5-E23D5459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55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90708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BCBA40-D936-170B-4E98-B2CE6A3B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Приоритет и ассоциативность операций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15ACA-B7EB-EE53-3689-9CA645EFF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C++ operator precedence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https://en.cppreference.com/w/cpp/language/operator_precedence</a:t>
            </a:r>
            <a:r>
              <a:rPr lang="en-US" b="1" dirty="0"/>
              <a:t> </a:t>
            </a:r>
            <a:endParaRPr lang="en-US" dirty="0"/>
          </a:p>
          <a:p>
            <a:r>
              <a:rPr lang="ru-RU" b="1" dirty="0"/>
              <a:t>Приоритет</a:t>
            </a:r>
            <a:r>
              <a:rPr lang="ru-RU" dirty="0"/>
              <a:t> определяет порядок выполнения операций в отсутствие скобок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 + B * C</a:t>
            </a:r>
            <a:r>
              <a:rPr lang="en-US" dirty="0"/>
              <a:t> </a:t>
            </a:r>
            <a:r>
              <a:rPr lang="ru-RU" dirty="0"/>
              <a:t>вычисляется как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 + (B * C)</a:t>
            </a:r>
            <a:endParaRPr lang="ru-RU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ru-RU" b="1" dirty="0"/>
              <a:t>Ассоциативность</a:t>
            </a:r>
            <a:r>
              <a:rPr lang="ru-RU" dirty="0"/>
              <a:t> выполняет порядок вычисления операций с одинаковым приоритетом</a:t>
            </a:r>
          </a:p>
          <a:p>
            <a:pPr lvl="1"/>
            <a:r>
              <a:rPr lang="ru-RU" dirty="0" err="1"/>
              <a:t>Левоассоциативность</a:t>
            </a:r>
            <a:r>
              <a:rPr lang="ru-RU" dirty="0"/>
              <a:t>:</a:t>
            </a:r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 - B - 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/>
              <a:t>вычисляется как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(A - B) - C</a:t>
            </a:r>
          </a:p>
          <a:p>
            <a:pPr lvl="1"/>
            <a:r>
              <a:rPr lang="ru-RU" dirty="0" err="1"/>
              <a:t>Правоассоциативность</a:t>
            </a:r>
            <a:r>
              <a:rPr lang="ru-RU" dirty="0"/>
              <a:t>:</a:t>
            </a:r>
          </a:p>
          <a:p>
            <a:pPr lvl="2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 = B = 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/>
              <a:t>вычисляется как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 = (B = C)</a:t>
            </a:r>
            <a:endParaRPr lang="ru-RU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B0E465-4EDD-8CFC-4984-A30D15A4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3350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803C18-5B56-D6FB-4B39-C9046BE7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типов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B3079-D1D5-ECCA-03F0-57BC6DF08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CD4098-E190-7036-36E6-54D44CB0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7902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Преобразование типов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Происходит, когда операнды оператора принадлежат к разным типам</a:t>
            </a:r>
          </a:p>
          <a:p>
            <a:pPr eaLnBrk="1" hangingPunct="1"/>
            <a:r>
              <a:rPr lang="ru-RU" dirty="0"/>
              <a:t>Неявное преобразование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ru-RU" dirty="0"/>
              <a:t>типу 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endParaRPr lang="ru-RU" dirty="0">
              <a:latin typeface="Consolas" panose="020B0609020204030204" pitchFamily="49" charset="0"/>
            </a:endParaRPr>
          </a:p>
          <a:p>
            <a:pPr lvl="1" eaLnBrk="1" hangingPunct="1"/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7.0 + 3 – 2.0f;</a:t>
            </a:r>
            <a:endParaRPr lang="ru-RU" dirty="0">
              <a:latin typeface="Consolas" panose="020B0609020204030204" pitchFamily="49" charset="0"/>
            </a:endParaRPr>
          </a:p>
          <a:p>
            <a:pPr eaLnBrk="1" hangingPunct="1"/>
            <a:r>
              <a:rPr lang="ru-RU" dirty="0"/>
              <a:t>Явное преобразование к типу 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r>
              <a:rPr lang="en-US" dirty="0"/>
              <a:t> </a:t>
            </a:r>
            <a:r>
              <a:rPr lang="ru-RU" dirty="0"/>
              <a:t>в стиле </a:t>
            </a:r>
            <a:r>
              <a:rPr lang="en-US" dirty="0"/>
              <a:t>C</a:t>
            </a:r>
          </a:p>
          <a:p>
            <a:pPr lvl="1" eaLnBrk="1" hangingPunct="1"/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b="1" dirty="0">
                <a:latin typeface="Consolas" panose="020B0609020204030204" pitchFamily="49" charset="0"/>
              </a:rPr>
              <a:t>(</a:t>
            </a:r>
            <a:r>
              <a:rPr lang="en-US" b="1" dirty="0" err="1">
                <a:latin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(7.0 + 3 – 2.0f);</a:t>
            </a:r>
          </a:p>
          <a:p>
            <a:pPr eaLnBrk="1" hangingPunct="1"/>
            <a:r>
              <a:rPr lang="ru-RU" dirty="0"/>
              <a:t>Операторы явного преобразования в стиле </a:t>
            </a:r>
            <a:r>
              <a:rPr lang="en-US" dirty="0"/>
              <a:t>C++</a:t>
            </a:r>
            <a:endParaRPr lang="ru-RU" dirty="0"/>
          </a:p>
          <a:p>
            <a:pPr eaLnBrk="1" hangingPunct="1"/>
            <a:r>
              <a:rPr lang="ru-RU" dirty="0"/>
              <a:t>Если один из аргументов является знаковым целым, а второй беззнаковым, результатом будет целое число </a:t>
            </a:r>
            <a:r>
              <a:rPr lang="ru-RU" b="1" dirty="0"/>
              <a:t>без знака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85D3F-9485-172A-2121-DB193E75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419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Опасность неявного приведения типов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63598"/>
            <a:ext cx="10515600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int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	int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pictureWidth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, unsigned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return (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-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pictureWidth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 / 2;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main(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argc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, char *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argv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= 100;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pic1Width = 50;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pic1X =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(pic1Width,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defTabSz="542925"/>
            <a:r>
              <a:rPr lang="en-US" sz="17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	// pic1x = 25: ok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pic2Width = 150;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pic2X =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(pic2Width,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defTabSz="542925"/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// pic2x = 2147483623: error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8ED09A-21D3-3141-C82D-E148FDF7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69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Явное приведение типов (в стиле </a:t>
            </a:r>
            <a:r>
              <a:rPr lang="en-US" dirty="0"/>
              <a:t>C</a:t>
            </a:r>
            <a:r>
              <a:rPr lang="ru-RU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772816"/>
            <a:ext cx="9829800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int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(int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pictureWidth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, unsigned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return (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(int)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-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pictureWidth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 / 2;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int main()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= 100;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pic1Width = 50;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pic1X =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(pic1Width,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pic1x = 25: ok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pic2Width = 150;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pic2X =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(pic2Width,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pic2x = -25:ok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8F6C7-239C-AAA6-E0A5-A967C71E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5109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Недостатки оператора преобразования типов в стиле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Синтаксис</a:t>
            </a:r>
          </a:p>
          <a:p>
            <a:pPr lvl="1"/>
            <a:r>
              <a:rPr lang="ru-RU" dirty="0"/>
              <a:t>(</a:t>
            </a:r>
            <a:r>
              <a:rPr lang="en-US" dirty="0"/>
              <a:t>Type)expr</a:t>
            </a:r>
            <a:endParaRPr lang="ru-RU" dirty="0"/>
          </a:p>
          <a:p>
            <a:r>
              <a:rPr lang="ru-RU" b="1" dirty="0"/>
              <a:t>Недостатки</a:t>
            </a:r>
            <a:endParaRPr lang="ru-RU" dirty="0"/>
          </a:p>
          <a:p>
            <a:pPr lvl="1"/>
            <a:r>
              <a:rPr lang="ru-RU" dirty="0"/>
              <a:t>Разрешает </a:t>
            </a:r>
            <a:r>
              <a:rPr lang="ru-RU" b="1" dirty="0"/>
              <a:t>слишком много разных преобразований</a:t>
            </a:r>
            <a:r>
              <a:rPr lang="ru-RU" dirty="0"/>
              <a:t> одной формой</a:t>
            </a:r>
          </a:p>
          <a:p>
            <a:pPr lvl="1"/>
            <a:r>
              <a:rPr lang="ru-RU" dirty="0"/>
              <a:t>Скрывает намерение программиста</a:t>
            </a:r>
          </a:p>
          <a:p>
            <a:pPr lvl="1"/>
            <a:r>
              <a:rPr lang="ru-RU" dirty="0"/>
              <a:t>Трудно заметить в коде и при чтении, и при поиске</a:t>
            </a:r>
          </a:p>
          <a:p>
            <a:pPr lvl="1"/>
            <a:r>
              <a:rPr lang="ru-RU" dirty="0"/>
              <a:t>Может </a:t>
            </a:r>
            <a:r>
              <a:rPr lang="ru-RU" b="1" dirty="0"/>
              <a:t>незаметно нарушать </a:t>
            </a:r>
            <a:r>
              <a:rPr lang="ru-RU" b="1" dirty="0" err="1"/>
              <a:t>const</a:t>
            </a:r>
            <a:endParaRPr lang="ru-RU" dirty="0"/>
          </a:p>
          <a:p>
            <a:pPr lvl="1"/>
            <a:r>
              <a:rPr lang="ru-RU" dirty="0"/>
              <a:t>Не поддерживает безопасную работу с полиморфизмом</a:t>
            </a:r>
            <a:endParaRPr lang="en-US" dirty="0"/>
          </a:p>
          <a:p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предпочтительнее использовать </a:t>
            </a:r>
            <a:r>
              <a:rPr lang="en-US" dirty="0" err="1"/>
              <a:t>static_cast</a:t>
            </a:r>
            <a:r>
              <a:rPr lang="en-US" dirty="0"/>
              <a:t>, </a:t>
            </a:r>
            <a:r>
              <a:rPr lang="en-US" dirty="0" err="1"/>
              <a:t>const_cast</a:t>
            </a:r>
            <a:r>
              <a:rPr lang="en-US" dirty="0"/>
              <a:t>, </a:t>
            </a:r>
            <a:r>
              <a:rPr lang="en-US" dirty="0" err="1"/>
              <a:t>dynamic_cast</a:t>
            </a:r>
            <a:r>
              <a:rPr lang="en-US" dirty="0"/>
              <a:t>, </a:t>
            </a:r>
            <a:r>
              <a:rPr lang="en-US" dirty="0" err="1"/>
              <a:t>reinterpret_cast</a:t>
            </a:r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CEBFCD-B47F-2045-FEF0-9650A1C9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6230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BD16EF-0A72-3E17-0A08-688FB86B7C9C}"/>
              </a:ext>
            </a:extLst>
          </p:cNvPr>
          <p:cNvSpPr txBox="1"/>
          <p:nvPr/>
        </p:nvSpPr>
        <p:spPr>
          <a:xfrm>
            <a:off x="838200" y="2060848"/>
            <a:ext cx="10515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Программист хотел получить целую часть числа,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но по ошибке привёл указатель, а не значение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содержит часть адреса в памяти — мусор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2BDFD1-46BD-01A7-C33C-E7F25658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848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Преобразование типов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языке </a:t>
            </a:r>
            <a:r>
              <a:rPr lang="en-US" dirty="0"/>
              <a:t>C++</a:t>
            </a:r>
            <a:r>
              <a:rPr lang="ru-RU" dirty="0"/>
              <a:t> введены 4 оператора приведения типов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static_cast</a:t>
            </a:r>
            <a:r>
              <a:rPr lang="en-US" dirty="0">
                <a:latin typeface="Consolas" panose="020B0609020204030204" pitchFamily="49" charset="0"/>
              </a:rPr>
              <a:t>&lt;Type&gt;(</a:t>
            </a:r>
            <a:r>
              <a:rPr lang="en-US" dirty="0" err="1">
                <a:latin typeface="Consolas" panose="020B0609020204030204" pitchFamily="49" charset="0"/>
              </a:rPr>
              <a:t>arg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dynamic_cast</a:t>
            </a:r>
            <a:r>
              <a:rPr lang="en-US" dirty="0">
                <a:latin typeface="Consolas" panose="020B0609020204030204" pitchFamily="49" charset="0"/>
              </a:rPr>
              <a:t>&lt;Type&gt;(</a:t>
            </a:r>
            <a:r>
              <a:rPr lang="en-US" dirty="0" err="1">
                <a:latin typeface="Consolas" panose="020B0609020204030204" pitchFamily="49" charset="0"/>
              </a:rPr>
              <a:t>arg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const_cast</a:t>
            </a:r>
            <a:r>
              <a:rPr lang="en-US" dirty="0">
                <a:latin typeface="Consolas" panose="020B0609020204030204" pitchFamily="49" charset="0"/>
              </a:rPr>
              <a:t>&lt;Type&gt;(</a:t>
            </a:r>
            <a:r>
              <a:rPr lang="en-US" dirty="0" err="1">
                <a:latin typeface="Consolas" panose="020B0609020204030204" pitchFamily="49" charset="0"/>
              </a:rPr>
              <a:t>arg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reinterpret_cast</a:t>
            </a:r>
            <a:r>
              <a:rPr lang="en-US" dirty="0">
                <a:latin typeface="Consolas" panose="020B0609020204030204" pitchFamily="49" charset="0"/>
              </a:rPr>
              <a:t>&lt;Type&gt;(</a:t>
            </a:r>
            <a:r>
              <a:rPr lang="en-US" dirty="0" err="1">
                <a:latin typeface="Consolas" panose="020B0609020204030204" pitchFamily="49" charset="0"/>
              </a:rPr>
              <a:t>arg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ru-RU" dirty="0"/>
              <a:t>Каждый них предназначен для конкретной задачи</a:t>
            </a:r>
          </a:p>
          <a:p>
            <a:pPr lvl="1"/>
            <a:r>
              <a:rPr lang="ru-RU" dirty="0"/>
              <a:t>Сложнее ошибиться</a:t>
            </a:r>
          </a:p>
          <a:p>
            <a:r>
              <a:rPr lang="ru-RU" dirty="0"/>
              <a:t>Их легче найти в коде</a:t>
            </a:r>
          </a:p>
          <a:p>
            <a:r>
              <a:rPr lang="ru-RU" dirty="0"/>
              <a:t>В программах на </a:t>
            </a:r>
            <a:r>
              <a:rPr lang="en-US" dirty="0"/>
              <a:t>C++</a:t>
            </a:r>
            <a:r>
              <a:rPr lang="ru-RU" dirty="0"/>
              <a:t> следует использовать эти операторы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7AAB10-B9E8-159E-98FE-A221B267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56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static_cast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ru-RU" dirty="0"/>
              <a:t>Выполняет статическое преобразование одного типа к другому</a:t>
            </a:r>
            <a:endParaRPr lang="en-US" dirty="0"/>
          </a:p>
          <a:p>
            <a:pPr lvl="1"/>
            <a:r>
              <a:rPr lang="ru-RU" dirty="0"/>
              <a:t>Например, </a:t>
            </a:r>
            <a:r>
              <a:rPr lang="en-US" dirty="0"/>
              <a:t>double </a:t>
            </a:r>
            <a:r>
              <a:rPr lang="ru-RU" dirty="0"/>
              <a:t>в </a:t>
            </a:r>
            <a:r>
              <a:rPr lang="en-US" dirty="0"/>
              <a:t>int</a:t>
            </a:r>
            <a:endParaRPr lang="ru-RU" dirty="0"/>
          </a:p>
          <a:p>
            <a:pPr lvl="1"/>
            <a:r>
              <a:rPr lang="ru-RU" dirty="0"/>
              <a:t>Указатель </a:t>
            </a:r>
            <a:r>
              <a:rPr lang="en-US" dirty="0"/>
              <a:t>void* </a:t>
            </a:r>
            <a:r>
              <a:rPr lang="ru-RU" dirty="0"/>
              <a:t>в указатель на конкретный тип</a:t>
            </a:r>
          </a:p>
          <a:p>
            <a:r>
              <a:rPr lang="ru-RU" dirty="0"/>
              <a:t>Также выполняет</a:t>
            </a:r>
            <a:r>
              <a:rPr lang="en-US" dirty="0"/>
              <a:t> </a:t>
            </a:r>
            <a:r>
              <a:rPr lang="ru-RU" dirty="0"/>
              <a:t>статическое преобразование указателей и ссылок в пределах иерархии классов</a:t>
            </a:r>
            <a:endParaRPr lang="en-US" dirty="0"/>
          </a:p>
          <a:p>
            <a:pPr lvl="1"/>
            <a:r>
              <a:rPr lang="ru-RU" dirty="0"/>
              <a:t>Например, если </a:t>
            </a:r>
            <a:r>
              <a:rPr lang="en-US" dirty="0"/>
              <a:t>Cat</a:t>
            </a:r>
            <a:r>
              <a:rPr lang="ru-RU" dirty="0"/>
              <a:t> унаследован от </a:t>
            </a:r>
            <a:r>
              <a:rPr lang="en-US" dirty="0"/>
              <a:t>Animal</a:t>
            </a:r>
            <a:r>
              <a:rPr lang="ru-RU" dirty="0"/>
              <a:t>, то можно выполнять преобразования:</a:t>
            </a:r>
          </a:p>
          <a:p>
            <a:pPr lvl="2"/>
            <a:r>
              <a:rPr lang="en-US" dirty="0"/>
              <a:t>Cat* </a:t>
            </a:r>
            <a:r>
              <a:rPr lang="ru-RU" dirty="0"/>
              <a:t>в </a:t>
            </a:r>
            <a:r>
              <a:rPr lang="en-US" dirty="0"/>
              <a:t>Animal*</a:t>
            </a:r>
            <a:endParaRPr lang="ru-RU" dirty="0"/>
          </a:p>
          <a:p>
            <a:pPr lvl="2"/>
            <a:r>
              <a:rPr lang="en-US" dirty="0"/>
              <a:t>Animal* </a:t>
            </a:r>
            <a:r>
              <a:rPr lang="ru-RU" dirty="0"/>
              <a:t>в </a:t>
            </a:r>
            <a:r>
              <a:rPr lang="en-US" dirty="0"/>
              <a:t>Cat*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E568D-E8CC-E50C-E576-1F457618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91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DC3CB-FE95-608B-994C-D017E3AE2204}"/>
              </a:ext>
            </a:extLst>
          </p:cNvPr>
          <p:cNvSpPr txBox="1"/>
          <p:nvPr/>
        </p:nvSpPr>
        <p:spPr>
          <a:xfrm>
            <a:off x="838200" y="1690688"/>
            <a:ext cx="1051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 нельзя привести к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 помощью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static_cast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❌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компиляции</a:t>
            </a: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содержит часть адреса в памяти — мусор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38761-CC3C-EF1E-CB5C-6F3852F59EBD}"/>
              </a:ext>
            </a:extLst>
          </p:cNvPr>
          <p:cNvSpPr txBox="1"/>
          <p:nvPr/>
        </p:nvSpPr>
        <p:spPr>
          <a:xfrm>
            <a:off x="838200" y="4461550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✅ OK</a:t>
            </a: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5466EA-CF6B-3DC3-6D71-4AF805E9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2880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const_cast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Снимает константность с ссылки или указателя</a:t>
            </a:r>
          </a:p>
          <a:p>
            <a:r>
              <a:rPr lang="ru-RU" dirty="0"/>
              <a:t>Если оригинальный объект был константным, попытка снять с него константность и </a:t>
            </a:r>
            <a:r>
              <a:rPr lang="ru-RU" b="1" dirty="0"/>
              <a:t>изменить значение</a:t>
            </a:r>
            <a:r>
              <a:rPr lang="ru-RU" dirty="0"/>
              <a:t> вызовет неопределённое поведение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527D5-B989-409A-CA58-E2B33641A459}"/>
              </a:ext>
            </a:extLst>
          </p:cNvPr>
          <p:cNvSpPr txBox="1"/>
          <p:nvPr/>
        </p:nvSpPr>
        <p:spPr>
          <a:xfrm>
            <a:off x="838200" y="3645024"/>
            <a:ext cx="101048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Оригинальный объект не является константным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3.14159265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CONST_PI = PI;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Изменить константную ссылку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CONST_PI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нельзя: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CONST_PI = 4;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 можно снять константность со ссылки и модифицировать объект.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&amp;&gt;(CONST_PI)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Now pi is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PI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AB4C7-8C92-2C4F-2F39-081F457C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0694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44F8-DF90-F941-F3E1-0FD938F3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44636-3119-FA98-1D69-FE666D2F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Снятие константности с константного объекта</a:t>
            </a:r>
            <a:r>
              <a:rPr lang="en-US" dirty="0"/>
              <a:t> </a:t>
            </a:r>
            <a:r>
              <a:rPr lang="ru-RU" dirty="0"/>
              <a:t>вызывает</a:t>
            </a:r>
            <a:r>
              <a:rPr lang="en-US" dirty="0"/>
              <a:t> UB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5CD105-E66A-8EE6-BEB9-10F3B21A51D8}"/>
              </a:ext>
            </a:extLst>
          </p:cNvPr>
          <p:cNvSpPr txBox="1"/>
          <p:nvPr/>
        </p:nvSpPr>
        <p:spPr>
          <a:xfrm>
            <a:off x="838199" y="2132143"/>
            <a:ext cx="11040997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PI -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константный объект.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3.1415927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мы обманываем компилятор,</a:t>
            </a:r>
            <a:endParaRPr lang="en-US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снимая константность к константной переменной.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nonConstPI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&amp;&gt;(PI);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Попытка изменить константный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объект, сняв константность со ссылки на него,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приводит к неопределённому поведению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nonConstPI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PI: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PI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nonConstPI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nonConstPI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std::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14784-3541-552A-29C5-7C8005AB7710}"/>
              </a:ext>
            </a:extLst>
          </p:cNvPr>
          <p:cNvSpPr txBox="1"/>
          <p:nvPr/>
        </p:nvSpPr>
        <p:spPr>
          <a:xfrm>
            <a:off x="834533" y="6061327"/>
            <a:ext cx="3241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https://godbolt.org/z/Gq5ff3jEz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ADDCF9-8C27-4493-1452-33CF240A7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96" y="1710224"/>
            <a:ext cx="1728192" cy="17524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D0E080-B320-734F-95FA-C2C0E8D7122F}"/>
              </a:ext>
            </a:extLst>
          </p:cNvPr>
          <p:cNvSpPr txBox="1"/>
          <p:nvPr/>
        </p:nvSpPr>
        <p:spPr>
          <a:xfrm>
            <a:off x="8545235" y="6010128"/>
            <a:ext cx="3384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https://godbolt.org/z/x43qo8Tqf</a:t>
            </a:r>
            <a:r>
              <a:rPr lang="en-US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DA0620-02D2-2494-E02E-0DA237DBC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6440" y="1663775"/>
            <a:ext cx="1728192" cy="17652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C00F6A-BF1E-82AB-E341-4A270467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3058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reinterpret_cast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Назначение</a:t>
            </a:r>
            <a:endParaRPr lang="ru-RU" dirty="0"/>
          </a:p>
          <a:p>
            <a:pPr lvl="1"/>
            <a:r>
              <a:rPr lang="ru-RU" dirty="0"/>
              <a:t>Низкоуровневое приведение, интерпретирующее биты объекта как другой тип</a:t>
            </a:r>
          </a:p>
          <a:p>
            <a:r>
              <a:rPr lang="ru-RU" b="1" dirty="0"/>
              <a:t>Возможности</a:t>
            </a:r>
            <a:endParaRPr lang="ru-RU" dirty="0"/>
          </a:p>
          <a:p>
            <a:pPr lvl="1"/>
            <a:r>
              <a:rPr lang="ru-RU" dirty="0"/>
              <a:t>Преобразование между указателями на </a:t>
            </a:r>
            <a:r>
              <a:rPr lang="ru-RU" b="1" dirty="0"/>
              <a:t>несвязанные типы</a:t>
            </a:r>
            <a:endParaRPr lang="ru-RU" dirty="0"/>
          </a:p>
          <a:p>
            <a:pPr lvl="1"/>
            <a:r>
              <a:rPr lang="ru-RU" dirty="0"/>
              <a:t>Преобразование указателей в целочисленные типы и обратно</a:t>
            </a:r>
          </a:p>
          <a:p>
            <a:pPr lvl="1"/>
            <a:r>
              <a:rPr lang="ru-RU" dirty="0"/>
              <a:t>Преобразование между различными целочисленными типами одинакового размера</a:t>
            </a:r>
          </a:p>
          <a:p>
            <a:r>
              <a:rPr lang="ru-RU" b="1" dirty="0"/>
              <a:t>Применение</a:t>
            </a:r>
            <a:endParaRPr lang="ru-RU" dirty="0"/>
          </a:p>
          <a:p>
            <a:pPr lvl="1"/>
            <a:r>
              <a:rPr lang="ru-RU" dirty="0"/>
              <a:t>Низкоуровневая работа с памятью</a:t>
            </a:r>
          </a:p>
          <a:p>
            <a:pPr lvl="1"/>
            <a:r>
              <a:rPr lang="ru-RU" dirty="0"/>
              <a:t>Системное программирование, драйверы, сериализация</a:t>
            </a:r>
          </a:p>
          <a:p>
            <a:r>
              <a:rPr lang="ru-RU" b="1" dirty="0"/>
              <a:t>Ограничения</a:t>
            </a:r>
            <a:endParaRPr lang="ru-RU" dirty="0"/>
          </a:p>
          <a:p>
            <a:pPr lvl="1"/>
            <a:r>
              <a:rPr lang="ru-RU" dirty="0"/>
              <a:t>Не проверяет корректность преобразования</a:t>
            </a:r>
          </a:p>
          <a:p>
            <a:pPr lvl="1"/>
            <a:r>
              <a:rPr lang="ru-RU" dirty="0"/>
              <a:t>Легко приводит к неопределённому поведению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93E25-7FF9-AEEE-C44A-34FF2A08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505221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B7F536-1F4E-4D59-BC85-EAA0F18AD84D}"/>
              </a:ext>
            </a:extLst>
          </p:cNvPr>
          <p:cNvSpPr/>
          <p:nvPr/>
        </p:nvSpPr>
        <p:spPr>
          <a:xfrm>
            <a:off x="838200" y="474345"/>
            <a:ext cx="105156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cstdint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uintptr_t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"Goodbye"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Так нельзя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, так как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uintptr_t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std::string*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разные типы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ChangeString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Так можно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ptr</a:t>
            </a: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_t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Goodbye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F5BEEE-DC01-2BFA-6B05-E6FCD1A1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61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dynamic_cast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Применяется для динамического преобразования типов в пределах иерархии классов</a:t>
            </a:r>
          </a:p>
          <a:p>
            <a:r>
              <a:rPr lang="en-US" dirty="0"/>
              <a:t>C </a:t>
            </a:r>
            <a:r>
              <a:rPr lang="en-US" dirty="0" err="1"/>
              <a:t>dynamic_cast</a:t>
            </a:r>
            <a:r>
              <a:rPr lang="en-US" dirty="0"/>
              <a:t> </a:t>
            </a:r>
            <a:r>
              <a:rPr lang="ru-RU" dirty="0"/>
              <a:t>познакомимся, когда будем проходить наследование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71819-5A01-F55F-C0A6-CB5F365D3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724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выполнением программы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4ADBAB-52E6-0E01-4CF1-365281E1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798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Инструкции и блоки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Инструкция</a:t>
            </a:r>
            <a:r>
              <a:rPr lang="ru-RU" dirty="0"/>
              <a:t> (</a:t>
            </a:r>
            <a:r>
              <a:rPr lang="ru-RU" dirty="0" err="1"/>
              <a:t>statement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Законченное действие в программе</a:t>
            </a:r>
          </a:p>
          <a:p>
            <a:pPr lvl="1"/>
            <a:r>
              <a:rPr lang="ru-RU" dirty="0"/>
              <a:t>Выражение становится инструкцией, если после него стоит ;</a:t>
            </a:r>
          </a:p>
          <a:p>
            <a:pPr lvl="1">
              <a:lnSpc>
                <a:spcPct val="80000"/>
              </a:lnSpc>
            </a:pPr>
            <a:r>
              <a:rPr lang="ru-RU" dirty="0"/>
              <a:t>Примеры:</a:t>
            </a:r>
          </a:p>
          <a:p>
            <a:pPr lvl="2">
              <a:lnSpc>
                <a:spcPct val="80000"/>
              </a:lnSpc>
            </a:pPr>
            <a:r>
              <a:rPr lang="en-US" dirty="0">
                <a:latin typeface="Consolas" panose="020B0609020204030204" pitchFamily="49" charset="0"/>
              </a:rPr>
              <a:t>x = a + b;</a:t>
            </a:r>
          </a:p>
          <a:p>
            <a:pPr lvl="2">
              <a:lnSpc>
                <a:spcPct val="80000"/>
              </a:lnSpc>
            </a:pPr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"Hello";</a:t>
            </a:r>
          </a:p>
          <a:p>
            <a:pPr lvl="2">
              <a:lnSpc>
                <a:spcPct val="80000"/>
              </a:lnSpc>
            </a:pPr>
            <a:r>
              <a:rPr lang="en-US" dirty="0" err="1">
                <a:latin typeface="Consolas" panose="020B0609020204030204" pitchFamily="49" charset="0"/>
              </a:rPr>
              <a:t>DrawCat</a:t>
            </a:r>
            <a:r>
              <a:rPr lang="en-US" dirty="0">
                <a:latin typeface="Consolas" panose="020B0609020204030204" pitchFamily="49" charset="0"/>
              </a:rPr>
              <a:t>(cat);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b="1" dirty="0"/>
              <a:t>Блок или составная инструкция</a:t>
            </a:r>
            <a:r>
              <a:rPr lang="ru-RU" sz="2800" dirty="0"/>
              <a:t> (</a:t>
            </a:r>
            <a:r>
              <a:rPr lang="en-US" sz="2800" dirty="0"/>
              <a:t>compound statement)</a:t>
            </a:r>
          </a:p>
          <a:p>
            <a:pPr lvl="1">
              <a:lnSpc>
                <a:spcPct val="80000"/>
              </a:lnSpc>
            </a:pPr>
            <a:r>
              <a:rPr lang="ru-RU" dirty="0"/>
              <a:t>Последовательность объявлений и инструкций в фигурных скобках </a:t>
            </a:r>
            <a:r>
              <a:rPr lang="en-US" dirty="0">
                <a:latin typeface="Consolas" panose="020B0609020204030204" pitchFamily="49" charset="0"/>
              </a:rPr>
              <a:t>{ }</a:t>
            </a:r>
          </a:p>
          <a:p>
            <a:pPr lvl="1">
              <a:lnSpc>
                <a:spcPct val="80000"/>
              </a:lnSpc>
            </a:pPr>
            <a:r>
              <a:rPr lang="ru-RU" dirty="0"/>
              <a:t>С точки зрения синтаксиса считается </a:t>
            </a:r>
            <a:r>
              <a:rPr lang="ru-RU" b="1" dirty="0"/>
              <a:t>одной инструкцией</a:t>
            </a:r>
          </a:p>
          <a:p>
            <a:pPr lvl="1">
              <a:lnSpc>
                <a:spcPct val="80000"/>
              </a:lnSpc>
            </a:pPr>
            <a:r>
              <a:rPr lang="ru-RU" dirty="0"/>
              <a:t>Примеры</a:t>
            </a:r>
          </a:p>
          <a:p>
            <a:pPr lvl="2">
              <a:lnSpc>
                <a:spcPct val="80000"/>
              </a:lnSpc>
            </a:pPr>
            <a:r>
              <a:rPr lang="en-US" dirty="0">
                <a:latin typeface="Consolas" panose="020B0609020204030204" pitchFamily="49" charset="0"/>
              </a:rPr>
              <a:t>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int x = 0;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x += 10;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BEDFFF-E29C-86A0-769C-1751A6E0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72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32986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Блоки и область видимости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Блок создаёт новую область видимости переменных, которые в нём объявлены</a:t>
            </a:r>
            <a:endParaRPr lang="ru-RU" sz="2800" dirty="0"/>
          </a:p>
          <a:p>
            <a:r>
              <a:rPr lang="ru-RU" sz="2800" dirty="0"/>
              <a:t>При покидании блока видимости переменная уничтожается, а занимаемая ею область памяти – освобождается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3552" y="3573016"/>
            <a:ext cx="424847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58775"/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, char *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defTabSz="358775"/>
            <a:r>
              <a:rPr lang="en-US" sz="17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defTabSz="358775"/>
            <a:r>
              <a:rPr lang="en-US" sz="17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a = 0;</a:t>
            </a:r>
          </a:p>
          <a:p>
            <a:pPr defTabSz="358775"/>
            <a:r>
              <a:rPr lang="en-US" sz="1700" b="1" dirty="0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&gt; 1)</a:t>
            </a:r>
          </a:p>
          <a:p>
            <a:pPr defTabSz="358775"/>
            <a:r>
              <a:rPr lang="en-US" sz="17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{</a:t>
            </a:r>
          </a:p>
          <a:p>
            <a:pPr defTabSz="358775"/>
            <a:r>
              <a:rPr lang="en-US" sz="17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700" b="1" dirty="0" err="1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 b = </a:t>
            </a:r>
            <a:r>
              <a:rPr lang="en-US" sz="1700" b="1" dirty="0" err="1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7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 - 1;</a:t>
            </a:r>
          </a:p>
          <a:p>
            <a:pPr defTabSz="358775"/>
            <a:r>
              <a:rPr lang="en-US" sz="17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}</a:t>
            </a:r>
          </a:p>
          <a:p>
            <a:pPr defTabSz="358775"/>
            <a:r>
              <a:rPr lang="en-US" sz="1700" b="1" dirty="0"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defTabSz="358775"/>
            <a:r>
              <a:rPr lang="en-US" sz="17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17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99DC2-688A-1059-6BB8-FAC2695F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04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Инструкция </a:t>
            </a:r>
            <a:r>
              <a:rPr lang="en-US" dirty="0"/>
              <a:t>if-else</a:t>
            </a:r>
            <a:endParaRPr lang="ru-RU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Оператор </a:t>
            </a:r>
            <a:r>
              <a:rPr lang="en-US" b="1" dirty="0"/>
              <a:t>if</a:t>
            </a:r>
            <a:r>
              <a:rPr lang="en-US" dirty="0"/>
              <a:t> </a:t>
            </a:r>
            <a:r>
              <a:rPr lang="ru-RU" dirty="0"/>
              <a:t>позволяет выполнить тот или иной участок кода в зависимости от значения некоторого выражения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if (&lt;</a:t>
            </a:r>
            <a:r>
              <a:rPr lang="ru-RU" dirty="0"/>
              <a:t>выражение</a:t>
            </a:r>
            <a:r>
              <a:rPr lang="en-US" dirty="0"/>
              <a:t>&gt;)</a:t>
            </a:r>
            <a:br>
              <a:rPr lang="en-US" dirty="0"/>
            </a:br>
            <a:r>
              <a:rPr lang="en-US" dirty="0"/>
              <a:t>    &lt;</a:t>
            </a:r>
            <a:r>
              <a:rPr lang="ru-RU" dirty="0"/>
              <a:t>инстр.1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else</a:t>
            </a:r>
            <a:br>
              <a:rPr lang="en-US" dirty="0"/>
            </a:br>
            <a:r>
              <a:rPr lang="en-US" dirty="0"/>
              <a:t>    &lt;</a:t>
            </a:r>
            <a:r>
              <a:rPr lang="ru-RU" dirty="0" err="1"/>
              <a:t>инстр</a:t>
            </a:r>
            <a:r>
              <a:rPr lang="ru-RU" dirty="0"/>
              <a:t>.</a:t>
            </a:r>
            <a:r>
              <a:rPr lang="en-US" dirty="0"/>
              <a:t>2&gt;</a:t>
            </a:r>
            <a:endParaRPr lang="ru-RU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if (&lt;</a:t>
            </a:r>
            <a:r>
              <a:rPr lang="ru-RU" dirty="0"/>
              <a:t>выражение</a:t>
            </a:r>
            <a:r>
              <a:rPr lang="en-US" dirty="0"/>
              <a:t>&gt;)</a:t>
            </a:r>
            <a:br>
              <a:rPr lang="en-US" dirty="0"/>
            </a:br>
            <a:r>
              <a:rPr lang="en-US" dirty="0"/>
              <a:t>    &lt;</a:t>
            </a:r>
            <a:r>
              <a:rPr lang="ru-RU" dirty="0" err="1"/>
              <a:t>инстр</a:t>
            </a:r>
            <a:r>
              <a:rPr lang="en-US" dirty="0"/>
              <a:t>&gt;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5D1FAF-2216-E9B4-E14A-F0980DE9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74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159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bldLvl="2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E60A57-6414-384C-F0A9-76D86768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C0FCF7-EBF5-EB98-6B95-B4C8F8AED399}"/>
              </a:ext>
            </a:extLst>
          </p:cNvPr>
          <p:cNvSpPr txBox="1"/>
          <p:nvPr/>
        </p:nvSpPr>
        <p:spPr>
          <a:xfrm>
            <a:off x="838200" y="1988840"/>
            <a:ext cx="1051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Удалось ли прочитать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 консоли?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 is even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 is odd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ли здесь использовать переменную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number?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CFFE59-83BB-B3C6-E263-1E546647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01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B5CC0-688C-0FDD-8537-BE71461F4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выражении</a:t>
            </a:r>
            <a:r>
              <a:rPr lang="en-US" dirty="0"/>
              <a:t> if </a:t>
            </a:r>
            <a:r>
              <a:rPr lang="ru-RU" dirty="0"/>
              <a:t>можно объявлять переменные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ACDA7-D529-4B65-99FD-20D2E8F38879}"/>
              </a:ext>
            </a:extLst>
          </p:cNvPr>
          <p:cNvSpPr txBox="1"/>
          <p:nvPr/>
        </p:nvSpPr>
        <p:spPr>
          <a:xfrm>
            <a:off x="838200" y="1916832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Видимость переменной `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number`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ограничена блоком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 is even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 is odd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видна и здесь,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но тут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инициализирована и использовать её нельзя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Присваиваем переменной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number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значение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видна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5E2CF8-B84B-87B8-FDB9-D655DAF0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14558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8AEED-3847-B270-BE8B-50489D60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Значение объявленной переменной участвует в проверке условия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DE2B1-E378-07D8-F981-9E01926A64EE}"/>
              </a:ext>
            </a:extLst>
          </p:cNvPr>
          <p:cNvSpPr txBox="1"/>
          <p:nvPr/>
        </p:nvSpPr>
        <p:spPr>
          <a:xfrm>
            <a:off x="838200" y="2276872"/>
            <a:ext cx="8305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сюда попадём, если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sum —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sum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равна нулю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D2427D-7021-D85C-B9A6-AF00863C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6119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Конструкция </a:t>
            </a:r>
            <a:r>
              <a:rPr lang="en-US" dirty="0"/>
              <a:t>else-if</a:t>
            </a:r>
            <a:endParaRPr lang="ru-RU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ru-RU" sz="2800" dirty="0"/>
              <a:t>Позволяет осуществлять многоступенчатое решение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 err="1">
                <a:latin typeface="Courier New" pitchFamily="49" charset="0"/>
              </a:rPr>
              <a:t>if</a:t>
            </a:r>
            <a:r>
              <a:rPr lang="ru-RU" dirty="0">
                <a:latin typeface="Courier New" pitchFamily="49" charset="0"/>
              </a:rPr>
              <a:t> (</a:t>
            </a:r>
            <a:r>
              <a:rPr lang="ru-RU" i="1" dirty="0">
                <a:latin typeface="Courier New" pitchFamily="49" charset="0"/>
              </a:rPr>
              <a:t>выражение</a:t>
            </a:r>
            <a:r>
              <a:rPr lang="ru-RU" dirty="0">
                <a:latin typeface="Courier New" pitchFamily="49" charset="0"/>
              </a:rPr>
              <a:t>) </a:t>
            </a:r>
            <a:br>
              <a:rPr lang="ru-RU" dirty="0">
                <a:latin typeface="Courier New" pitchFamily="49" charset="0"/>
              </a:rPr>
            </a:br>
            <a:r>
              <a:rPr lang="ru-RU" dirty="0">
                <a:latin typeface="Courier New" pitchFamily="49" charset="0"/>
              </a:rPr>
              <a:t>    </a:t>
            </a:r>
            <a:r>
              <a:rPr lang="ru-RU" i="1" dirty="0">
                <a:latin typeface="Courier New" pitchFamily="49" charset="0"/>
              </a:rPr>
              <a:t>инструкция</a:t>
            </a:r>
            <a:r>
              <a:rPr lang="ru-RU" dirty="0">
                <a:latin typeface="Courier New" pitchFamily="49" charset="0"/>
              </a:rPr>
              <a:t> </a:t>
            </a:r>
            <a:br>
              <a:rPr lang="ru-RU" dirty="0">
                <a:latin typeface="Courier New" pitchFamily="49" charset="0"/>
              </a:rPr>
            </a:br>
            <a:r>
              <a:rPr lang="ru-RU" dirty="0" err="1">
                <a:latin typeface="Courier New" pitchFamily="49" charset="0"/>
              </a:rPr>
              <a:t>else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if</a:t>
            </a:r>
            <a:r>
              <a:rPr lang="ru-RU" dirty="0">
                <a:latin typeface="Courier New" pitchFamily="49" charset="0"/>
              </a:rPr>
              <a:t> (</a:t>
            </a:r>
            <a:r>
              <a:rPr lang="ru-RU" i="1" dirty="0">
                <a:latin typeface="Courier New" pitchFamily="49" charset="0"/>
              </a:rPr>
              <a:t>выражение</a:t>
            </a:r>
            <a:r>
              <a:rPr lang="ru-RU" dirty="0">
                <a:latin typeface="Courier New" pitchFamily="49" charset="0"/>
              </a:rPr>
              <a:t>) </a:t>
            </a:r>
            <a:br>
              <a:rPr lang="ru-RU" dirty="0">
                <a:latin typeface="Courier New" pitchFamily="49" charset="0"/>
              </a:rPr>
            </a:br>
            <a:r>
              <a:rPr lang="ru-RU" dirty="0">
                <a:latin typeface="Courier New" pitchFamily="49" charset="0"/>
              </a:rPr>
              <a:t>    </a:t>
            </a:r>
            <a:r>
              <a:rPr lang="ru-RU" i="1" dirty="0">
                <a:latin typeface="Courier New" pitchFamily="49" charset="0"/>
              </a:rPr>
              <a:t>инструкция</a:t>
            </a:r>
            <a:r>
              <a:rPr lang="ru-RU" dirty="0">
                <a:latin typeface="Courier New" pitchFamily="49" charset="0"/>
              </a:rPr>
              <a:t> </a:t>
            </a:r>
            <a:br>
              <a:rPr lang="ru-RU" dirty="0">
                <a:latin typeface="Courier New" pitchFamily="49" charset="0"/>
              </a:rPr>
            </a:br>
            <a:r>
              <a:rPr lang="ru-RU" dirty="0" err="1">
                <a:latin typeface="Courier New" pitchFamily="49" charset="0"/>
              </a:rPr>
              <a:t>else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if</a:t>
            </a:r>
            <a:r>
              <a:rPr lang="ru-RU" dirty="0">
                <a:latin typeface="Courier New" pitchFamily="49" charset="0"/>
              </a:rPr>
              <a:t> (</a:t>
            </a:r>
            <a:r>
              <a:rPr lang="ru-RU" i="1" dirty="0">
                <a:latin typeface="Courier New" pitchFamily="49" charset="0"/>
              </a:rPr>
              <a:t>выражение</a:t>
            </a:r>
            <a:r>
              <a:rPr lang="ru-RU" dirty="0">
                <a:latin typeface="Courier New" pitchFamily="49" charset="0"/>
              </a:rPr>
              <a:t>) </a:t>
            </a:r>
            <a:br>
              <a:rPr lang="ru-RU" dirty="0">
                <a:latin typeface="Courier New" pitchFamily="49" charset="0"/>
              </a:rPr>
            </a:br>
            <a:r>
              <a:rPr lang="ru-RU" dirty="0">
                <a:latin typeface="Courier New" pitchFamily="49" charset="0"/>
              </a:rPr>
              <a:t>    </a:t>
            </a:r>
            <a:r>
              <a:rPr lang="ru-RU" i="1" dirty="0">
                <a:latin typeface="Courier New" pitchFamily="49" charset="0"/>
              </a:rPr>
              <a:t>инструкция</a:t>
            </a:r>
            <a:r>
              <a:rPr lang="ru-RU" dirty="0">
                <a:latin typeface="Courier New" pitchFamily="49" charset="0"/>
              </a:rPr>
              <a:t> </a:t>
            </a:r>
            <a:br>
              <a:rPr lang="ru-RU" dirty="0">
                <a:latin typeface="Courier New" pitchFamily="49" charset="0"/>
              </a:rPr>
            </a:br>
            <a:r>
              <a:rPr lang="ru-RU" dirty="0" err="1">
                <a:latin typeface="Courier New" pitchFamily="49" charset="0"/>
              </a:rPr>
              <a:t>else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if</a:t>
            </a:r>
            <a:r>
              <a:rPr lang="ru-RU" dirty="0">
                <a:latin typeface="Courier New" pitchFamily="49" charset="0"/>
              </a:rPr>
              <a:t> (</a:t>
            </a:r>
            <a:r>
              <a:rPr lang="ru-RU" i="1" dirty="0">
                <a:latin typeface="Courier New" pitchFamily="49" charset="0"/>
              </a:rPr>
              <a:t>выражение</a:t>
            </a:r>
            <a:r>
              <a:rPr lang="ru-RU" dirty="0">
                <a:latin typeface="Courier New" pitchFamily="49" charset="0"/>
              </a:rPr>
              <a:t>) </a:t>
            </a:r>
            <a:br>
              <a:rPr lang="ru-RU" dirty="0">
                <a:latin typeface="Courier New" pitchFamily="49" charset="0"/>
              </a:rPr>
            </a:br>
            <a:r>
              <a:rPr lang="ru-RU" dirty="0">
                <a:latin typeface="Courier New" pitchFamily="49" charset="0"/>
              </a:rPr>
              <a:t>    </a:t>
            </a:r>
            <a:r>
              <a:rPr lang="ru-RU" i="1" dirty="0">
                <a:latin typeface="Courier New" pitchFamily="49" charset="0"/>
              </a:rPr>
              <a:t>инструкция</a:t>
            </a:r>
            <a:r>
              <a:rPr lang="ru-RU" dirty="0">
                <a:latin typeface="Courier New" pitchFamily="49" charset="0"/>
              </a:rPr>
              <a:t> </a:t>
            </a:r>
            <a:br>
              <a:rPr lang="ru-RU" dirty="0">
                <a:latin typeface="Courier New" pitchFamily="49" charset="0"/>
              </a:rPr>
            </a:br>
            <a:r>
              <a:rPr lang="ru-RU" dirty="0" err="1">
                <a:latin typeface="Courier New" pitchFamily="49" charset="0"/>
              </a:rPr>
              <a:t>else</a:t>
            </a:r>
            <a:r>
              <a:rPr lang="ru-RU" dirty="0">
                <a:latin typeface="Courier New" pitchFamily="49" charset="0"/>
              </a:rPr>
              <a:t> </a:t>
            </a:r>
            <a:br>
              <a:rPr lang="ru-RU" dirty="0">
                <a:latin typeface="Courier New" pitchFamily="49" charset="0"/>
              </a:rPr>
            </a:br>
            <a:r>
              <a:rPr lang="ru-RU" dirty="0">
                <a:latin typeface="Courier New" pitchFamily="49" charset="0"/>
              </a:rPr>
              <a:t>    </a:t>
            </a:r>
            <a:r>
              <a:rPr lang="ru-RU" i="1" dirty="0">
                <a:latin typeface="Courier New" pitchFamily="49" charset="0"/>
              </a:rPr>
              <a:t>инструкция</a:t>
            </a:r>
            <a:r>
              <a:rPr lang="ru-RU" dirty="0">
                <a:latin typeface="Courier New" pitchFamily="49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13381C-23DA-977C-D0F9-15D5B3E6E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93005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535A40-C920-A881-6429-99B690BE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выставление оценки в зависимости от баллов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FE50F3-6688-C76B-D89D-BF3777AE1262}"/>
              </a:ext>
            </a:extLst>
          </p:cNvPr>
          <p:cNvSpPr txBox="1"/>
          <p:nvPr/>
        </p:nvSpPr>
        <p:spPr>
          <a:xfrm>
            <a:off x="838200" y="1690688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PrintMark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Excellent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Good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Satisfactory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Unsatisfactory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PrintMark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9F4B00-4752-812E-C126-4738C7150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443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578818-5708-40D2-B779-AB2709E23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304" y="1846168"/>
            <a:ext cx="2984328" cy="2950984"/>
          </a:xfrm>
          <a:prstGeom prst="rect">
            <a:avLst/>
          </a:prstGeom>
        </p:spPr>
      </p:pic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Пример, бинарный поиск</a:t>
            </a:r>
          </a:p>
        </p:txBody>
      </p:sp>
      <p:sp>
        <p:nvSpPr>
          <p:cNvPr id="55299" name="Rectangle 5"/>
          <p:cNvSpPr>
            <a:spLocks noChangeArrowheads="1"/>
          </p:cNvSpPr>
          <p:nvPr/>
        </p:nvSpPr>
        <p:spPr bwMode="auto">
          <a:xfrm>
            <a:off x="983432" y="1846168"/>
            <a:ext cx="8027987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 b="1" dirty="0">
                <a:latin typeface="Courier New" pitchFamily="49" charset="0"/>
              </a:rPr>
              <a:t>/* Найти x в v[0] &lt;= v[1] &lt;= ... &lt;= v[n-1] */</a:t>
            </a:r>
          </a:p>
          <a:p>
            <a:r>
              <a:rPr lang="ru-RU" sz="1600" b="1" dirty="0" err="1">
                <a:latin typeface="Courier New" pitchFamily="49" charset="0"/>
              </a:rPr>
              <a:t>int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en-US" sz="1600" b="1" dirty="0">
                <a:latin typeface="Courier New" pitchFamily="49" charset="0"/>
              </a:rPr>
              <a:t>B</a:t>
            </a:r>
            <a:r>
              <a:rPr lang="ru-RU" sz="1600" b="1" dirty="0" err="1">
                <a:latin typeface="Courier New" pitchFamily="49" charset="0"/>
              </a:rPr>
              <a:t>in</a:t>
            </a:r>
            <a:r>
              <a:rPr lang="en-US" sz="1600" b="1" dirty="0" err="1">
                <a:latin typeface="Courier New" pitchFamily="49" charset="0"/>
              </a:rPr>
              <a:t>aryS</a:t>
            </a:r>
            <a:r>
              <a:rPr lang="ru-RU" sz="1600" b="1" dirty="0" err="1">
                <a:latin typeface="Courier New" pitchFamily="49" charset="0"/>
              </a:rPr>
              <a:t>earch</a:t>
            </a:r>
            <a:r>
              <a:rPr lang="ru-RU" sz="1600" b="1" dirty="0">
                <a:latin typeface="Courier New" pitchFamily="49" charset="0"/>
              </a:rPr>
              <a:t>(</a:t>
            </a:r>
            <a:r>
              <a:rPr lang="ru-RU" sz="1600" b="1" dirty="0" err="1">
                <a:latin typeface="Courier New" pitchFamily="49" charset="0"/>
              </a:rPr>
              <a:t>int</a:t>
            </a:r>
            <a:r>
              <a:rPr lang="ru-RU" sz="1600" b="1" dirty="0">
                <a:latin typeface="Courier New" pitchFamily="49" charset="0"/>
              </a:rPr>
              <a:t> x, </a:t>
            </a:r>
            <a:r>
              <a:rPr lang="ru-RU" sz="1600" b="1" dirty="0" err="1">
                <a:latin typeface="Courier New" pitchFamily="49" charset="0"/>
              </a:rPr>
              <a:t>const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int</a:t>
            </a:r>
            <a:r>
              <a:rPr lang="ru-RU" sz="1600" b="1" dirty="0">
                <a:latin typeface="Courier New" pitchFamily="49" charset="0"/>
              </a:rPr>
              <a:t> v[], </a:t>
            </a:r>
            <a:r>
              <a:rPr lang="ru-RU" sz="1600" b="1" dirty="0" err="1">
                <a:latin typeface="Courier New" pitchFamily="49" charset="0"/>
              </a:rPr>
              <a:t>int</a:t>
            </a:r>
            <a:r>
              <a:rPr lang="ru-RU" sz="1600" b="1" dirty="0">
                <a:latin typeface="Courier New" pitchFamily="49" charset="0"/>
              </a:rPr>
              <a:t> n)</a:t>
            </a:r>
          </a:p>
          <a:p>
            <a:r>
              <a:rPr lang="ru-RU" sz="1600" b="1" dirty="0">
                <a:latin typeface="Courier New" pitchFamily="49" charset="0"/>
              </a:rPr>
              <a:t>{</a:t>
            </a:r>
          </a:p>
          <a:p>
            <a:r>
              <a:rPr lang="ru-RU" sz="1600" b="1" dirty="0">
                <a:latin typeface="Courier New" pitchFamily="49" charset="0"/>
              </a:rPr>
              <a:t>	</a:t>
            </a:r>
            <a:r>
              <a:rPr lang="ru-RU" sz="1600" b="1" dirty="0" err="1">
                <a:latin typeface="Courier New" pitchFamily="49" charset="0"/>
              </a:rPr>
              <a:t>int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low</a:t>
            </a:r>
            <a:r>
              <a:rPr lang="en-US" sz="1600" b="1" dirty="0">
                <a:latin typeface="Courier New" pitchFamily="49" charset="0"/>
              </a:rPr>
              <a:t> = 0;</a:t>
            </a:r>
          </a:p>
          <a:p>
            <a:r>
              <a:rPr lang="en-US" sz="1600" b="1" dirty="0">
                <a:latin typeface="Courier New" pitchFamily="49" charset="0"/>
              </a:rPr>
              <a:t>	int high = n;</a:t>
            </a:r>
            <a:endParaRPr lang="ru-RU" sz="1600" b="1" dirty="0">
              <a:latin typeface="Courier New" pitchFamily="49" charset="0"/>
            </a:endParaRPr>
          </a:p>
          <a:p>
            <a:r>
              <a:rPr lang="ru-RU" sz="1600" b="1" dirty="0">
                <a:latin typeface="Courier New" pitchFamily="49" charset="0"/>
              </a:rPr>
              <a:t>	</a:t>
            </a:r>
          </a:p>
          <a:p>
            <a:r>
              <a:rPr lang="ru-RU" sz="1600" b="1" dirty="0">
                <a:latin typeface="Courier New" pitchFamily="49" charset="0"/>
              </a:rPr>
              <a:t>	</a:t>
            </a:r>
            <a:r>
              <a:rPr lang="ru-RU" sz="1600" b="1" dirty="0" err="1">
                <a:latin typeface="Courier New" pitchFamily="49" charset="0"/>
              </a:rPr>
              <a:t>while</a:t>
            </a:r>
            <a:r>
              <a:rPr lang="ru-RU" sz="1600" b="1" dirty="0">
                <a:latin typeface="Courier New" pitchFamily="49" charset="0"/>
              </a:rPr>
              <a:t> (</a:t>
            </a:r>
            <a:r>
              <a:rPr lang="ru-RU" sz="1600" b="1" dirty="0" err="1">
                <a:latin typeface="Courier New" pitchFamily="49" charset="0"/>
              </a:rPr>
              <a:t>low</a:t>
            </a:r>
            <a:r>
              <a:rPr lang="ru-RU" sz="1600" b="1" dirty="0">
                <a:latin typeface="Courier New" pitchFamily="49" charset="0"/>
              </a:rPr>
              <a:t> &lt;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high</a:t>
            </a:r>
            <a:r>
              <a:rPr lang="ru-RU" sz="1600" b="1" dirty="0">
                <a:latin typeface="Courier New" pitchFamily="49" charset="0"/>
              </a:rPr>
              <a:t>)</a:t>
            </a:r>
          </a:p>
          <a:p>
            <a:r>
              <a:rPr lang="ru-RU" sz="1600" b="1" dirty="0">
                <a:latin typeface="Courier New" pitchFamily="49" charset="0"/>
              </a:rPr>
              <a:t>	{</a:t>
            </a:r>
          </a:p>
          <a:p>
            <a:r>
              <a:rPr lang="ru-RU" sz="1600" b="1" dirty="0">
                <a:latin typeface="Courier New" pitchFamily="49" charset="0"/>
              </a:rPr>
              <a:t>		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 = (</a:t>
            </a:r>
            <a:r>
              <a:rPr lang="ru-RU" sz="1600" b="1" dirty="0" err="1">
                <a:latin typeface="Courier New" pitchFamily="49" charset="0"/>
              </a:rPr>
              <a:t>low</a:t>
            </a:r>
            <a:r>
              <a:rPr lang="ru-RU" sz="1600" b="1" dirty="0">
                <a:latin typeface="Courier New" pitchFamily="49" charset="0"/>
              </a:rPr>
              <a:t> + </a:t>
            </a:r>
            <a:r>
              <a:rPr lang="ru-RU" sz="1600" b="1" dirty="0" err="1">
                <a:latin typeface="Courier New" pitchFamily="49" charset="0"/>
              </a:rPr>
              <a:t>high</a:t>
            </a:r>
            <a:r>
              <a:rPr lang="ru-RU" sz="1600" b="1" dirty="0">
                <a:latin typeface="Courier New" pitchFamily="49" charset="0"/>
              </a:rPr>
              <a:t>) / 2;</a:t>
            </a:r>
          </a:p>
          <a:p>
            <a:r>
              <a:rPr lang="ru-RU" sz="1600" b="1" dirty="0">
                <a:latin typeface="Courier New" pitchFamily="49" charset="0"/>
              </a:rPr>
              <a:t>		</a:t>
            </a:r>
            <a:r>
              <a:rPr lang="ru-RU" sz="1600" b="1" dirty="0" err="1">
                <a:latin typeface="Courier New" pitchFamily="49" charset="0"/>
              </a:rPr>
              <a:t>if</a:t>
            </a:r>
            <a:r>
              <a:rPr lang="ru-RU" sz="1600" b="1" dirty="0">
                <a:latin typeface="Courier New" pitchFamily="49" charset="0"/>
              </a:rPr>
              <a:t> (x &lt; v[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])</a:t>
            </a:r>
          </a:p>
          <a:p>
            <a:r>
              <a:rPr lang="ru-RU" sz="1600" b="1" dirty="0">
                <a:latin typeface="Courier New" pitchFamily="49" charset="0"/>
              </a:rPr>
              <a:t>			</a:t>
            </a:r>
            <a:r>
              <a:rPr lang="ru-RU" sz="1600" b="1" dirty="0" err="1">
                <a:latin typeface="Courier New" pitchFamily="49" charset="0"/>
              </a:rPr>
              <a:t>high</a:t>
            </a:r>
            <a:r>
              <a:rPr lang="ru-RU" sz="1600" b="1" dirty="0">
                <a:latin typeface="Courier New" pitchFamily="49" charset="0"/>
              </a:rPr>
              <a:t> = 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;</a:t>
            </a:r>
          </a:p>
          <a:p>
            <a:r>
              <a:rPr lang="ru-RU" sz="1600" b="1" dirty="0">
                <a:latin typeface="Courier New" pitchFamily="49" charset="0"/>
              </a:rPr>
              <a:t>		</a:t>
            </a:r>
            <a:r>
              <a:rPr lang="ru-RU" sz="1600" b="1" dirty="0" err="1">
                <a:latin typeface="Courier New" pitchFamily="49" charset="0"/>
              </a:rPr>
              <a:t>else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if</a:t>
            </a:r>
            <a:r>
              <a:rPr lang="ru-RU" sz="1600" b="1" dirty="0">
                <a:latin typeface="Courier New" pitchFamily="49" charset="0"/>
              </a:rPr>
              <a:t> (x &gt; v[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])</a:t>
            </a:r>
          </a:p>
          <a:p>
            <a:r>
              <a:rPr lang="ru-RU" sz="1600" b="1" dirty="0">
                <a:latin typeface="Courier New" pitchFamily="49" charset="0"/>
              </a:rPr>
              <a:t>			</a:t>
            </a:r>
            <a:r>
              <a:rPr lang="ru-RU" sz="1600" b="1" dirty="0" err="1">
                <a:latin typeface="Courier New" pitchFamily="49" charset="0"/>
              </a:rPr>
              <a:t>low</a:t>
            </a:r>
            <a:r>
              <a:rPr lang="ru-RU" sz="1600" b="1" dirty="0">
                <a:latin typeface="Courier New" pitchFamily="49" charset="0"/>
              </a:rPr>
              <a:t> = 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 + 1;</a:t>
            </a:r>
          </a:p>
          <a:p>
            <a:r>
              <a:rPr lang="ru-RU" sz="1600" b="1" dirty="0">
                <a:latin typeface="Courier New" pitchFamily="49" charset="0"/>
              </a:rPr>
              <a:t>		</a:t>
            </a:r>
            <a:r>
              <a:rPr lang="ru-RU" sz="1600" b="1" dirty="0" err="1">
                <a:latin typeface="Courier New" pitchFamily="49" charset="0"/>
              </a:rPr>
              <a:t>else</a:t>
            </a:r>
            <a:r>
              <a:rPr lang="ru-RU" sz="1600" b="1" dirty="0">
                <a:latin typeface="Courier New" pitchFamily="49" charset="0"/>
              </a:rPr>
              <a:t> /* совпадение найдено */</a:t>
            </a:r>
          </a:p>
          <a:p>
            <a:r>
              <a:rPr lang="ru-RU" sz="1600" b="1" dirty="0">
                <a:latin typeface="Courier New" pitchFamily="49" charset="0"/>
              </a:rPr>
              <a:t>			</a:t>
            </a:r>
            <a:r>
              <a:rPr lang="ru-RU" sz="1600" b="1" dirty="0" err="1">
                <a:latin typeface="Courier New" pitchFamily="49" charset="0"/>
              </a:rPr>
              <a:t>return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;</a:t>
            </a:r>
          </a:p>
          <a:p>
            <a:r>
              <a:rPr lang="ru-RU" sz="1600" b="1" dirty="0">
                <a:latin typeface="Courier New" pitchFamily="49" charset="0"/>
              </a:rPr>
              <a:t>	}</a:t>
            </a:r>
          </a:p>
          <a:p>
            <a:r>
              <a:rPr lang="ru-RU" sz="1600" b="1" dirty="0">
                <a:latin typeface="Courier New" pitchFamily="49" charset="0"/>
              </a:rPr>
              <a:t>	</a:t>
            </a:r>
            <a:r>
              <a:rPr lang="ru-RU" sz="1600" b="1" dirty="0" err="1">
                <a:latin typeface="Courier New" pitchFamily="49" charset="0"/>
              </a:rPr>
              <a:t>return</a:t>
            </a:r>
            <a:r>
              <a:rPr lang="ru-RU" sz="1600" b="1" dirty="0">
                <a:latin typeface="Courier New" pitchFamily="49" charset="0"/>
              </a:rPr>
              <a:t> -1; /* совпадения нет */</a:t>
            </a:r>
          </a:p>
          <a:p>
            <a:r>
              <a:rPr lang="ru-RU" sz="1600" b="1" dirty="0">
                <a:latin typeface="Courier New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2FB591-8764-A9CB-1ED7-129984B742F4}"/>
              </a:ext>
            </a:extLst>
          </p:cNvPr>
          <p:cNvSpPr txBox="1"/>
          <p:nvPr/>
        </p:nvSpPr>
        <p:spPr>
          <a:xfrm>
            <a:off x="5519936" y="6400224"/>
            <a:ext cx="511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5"/>
              </a:rPr>
              <a:t>https://wandbox.org/permlink/OH7svtLrRjT6b2wV</a:t>
            </a:r>
            <a:r>
              <a:rPr lang="ru-RU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5EC13-3F73-B98B-7D29-06532C52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80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578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2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2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2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Оператор </a:t>
            </a:r>
            <a:r>
              <a:rPr lang="en-US"/>
              <a:t>switch</a:t>
            </a:r>
            <a:endParaRPr 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Используется для выбора одного из нескольких путей</a:t>
            </a:r>
          </a:p>
          <a:p>
            <a:pPr lvl="1"/>
            <a:r>
              <a:rPr lang="ru-RU" dirty="0"/>
              <a:t>Если </a:t>
            </a:r>
            <a:r>
              <a:rPr lang="ru-RU" i="1" dirty="0"/>
              <a:t>выражение</a:t>
            </a:r>
            <a:r>
              <a:rPr lang="ru-RU" dirty="0"/>
              <a:t> равно одному из указанных целочисленных констант, выполняются соответствующие действия</a:t>
            </a:r>
          </a:p>
          <a:p>
            <a:pPr eaLnBrk="1" hangingPunct="1"/>
            <a:r>
              <a:rPr lang="ru-RU" dirty="0"/>
              <a:t>Инструкция </a:t>
            </a:r>
            <a:r>
              <a:rPr lang="en-US" dirty="0">
                <a:latin typeface="Consolas" panose="020B0609020204030204" pitchFamily="49" charset="0"/>
              </a:rPr>
              <a:t>break</a:t>
            </a:r>
            <a:r>
              <a:rPr lang="ru-RU" dirty="0"/>
              <a:t> выполняет выход из блока </a:t>
            </a:r>
            <a:r>
              <a:rPr lang="en-US" dirty="0">
                <a:latin typeface="Consolas" panose="020B0609020204030204" pitchFamily="49" charset="0"/>
              </a:rPr>
              <a:t>switch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6418262" y="5180239"/>
            <a:ext cx="4249738" cy="16573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533400">
              <a:tabLst>
                <a:tab pos="533400" algn="l"/>
              </a:tabLst>
              <a:defRPr/>
            </a:pPr>
            <a:r>
              <a:rPr lang="ru-RU" dirty="0" err="1">
                <a:latin typeface="Courier New" pitchFamily="49" charset="0"/>
              </a:rPr>
              <a:t>switch</a:t>
            </a:r>
            <a:r>
              <a:rPr lang="ru-RU" dirty="0">
                <a:latin typeface="Courier New" pitchFamily="49" charset="0"/>
              </a:rPr>
              <a:t> (выражение) </a:t>
            </a:r>
          </a:p>
          <a:p>
            <a:pPr defTabSz="533400">
              <a:tabLst>
                <a:tab pos="533400" algn="l"/>
              </a:tabLst>
              <a:defRPr/>
            </a:pPr>
            <a:r>
              <a:rPr lang="ru-RU" dirty="0">
                <a:latin typeface="Courier New" pitchFamily="49" charset="0"/>
              </a:rPr>
              <a:t>{</a:t>
            </a:r>
          </a:p>
          <a:p>
            <a:pPr defTabSz="533400">
              <a:tabLst>
                <a:tab pos="533400" algn="l"/>
              </a:tabLst>
              <a:defRPr/>
            </a:pPr>
            <a:r>
              <a:rPr lang="ru-RU" dirty="0">
                <a:latin typeface="Courier New" pitchFamily="49" charset="0"/>
              </a:rPr>
              <a:t>	</a:t>
            </a:r>
            <a:r>
              <a:rPr lang="ru-RU" dirty="0" err="1">
                <a:latin typeface="Courier New" pitchFamily="49" charset="0"/>
              </a:rPr>
              <a:t>case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конст-выр</a:t>
            </a:r>
            <a:r>
              <a:rPr lang="ru-RU" dirty="0">
                <a:latin typeface="Courier New" pitchFamily="49" charset="0"/>
              </a:rPr>
              <a:t>: инструкции </a:t>
            </a:r>
          </a:p>
          <a:p>
            <a:pPr defTabSz="533400">
              <a:tabLst>
                <a:tab pos="533400" algn="l"/>
              </a:tabLst>
              <a:defRPr/>
            </a:pPr>
            <a:r>
              <a:rPr lang="ru-RU" dirty="0">
                <a:latin typeface="Courier New" pitchFamily="49" charset="0"/>
              </a:rPr>
              <a:t>	</a:t>
            </a:r>
            <a:r>
              <a:rPr lang="ru-RU" dirty="0" err="1">
                <a:latin typeface="Courier New" pitchFamily="49" charset="0"/>
              </a:rPr>
              <a:t>case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конст-выр</a:t>
            </a:r>
            <a:r>
              <a:rPr lang="ru-RU" dirty="0">
                <a:latin typeface="Courier New" pitchFamily="49" charset="0"/>
              </a:rPr>
              <a:t>: инструкции </a:t>
            </a:r>
          </a:p>
          <a:p>
            <a:pPr defTabSz="533400">
              <a:tabLst>
                <a:tab pos="533400" algn="l"/>
              </a:tabLst>
              <a:defRPr/>
            </a:pPr>
            <a:r>
              <a:rPr lang="ru-RU" dirty="0">
                <a:latin typeface="Courier New" pitchFamily="49" charset="0"/>
              </a:rPr>
              <a:t>	</a:t>
            </a:r>
            <a:r>
              <a:rPr lang="ru-RU" dirty="0" err="1">
                <a:latin typeface="Courier New" pitchFamily="49" charset="0"/>
              </a:rPr>
              <a:t>default</a:t>
            </a:r>
            <a:r>
              <a:rPr lang="ru-RU" dirty="0">
                <a:latin typeface="Courier New" pitchFamily="49" charset="0"/>
              </a:rPr>
              <a:t>: инструкции </a:t>
            </a:r>
          </a:p>
          <a:p>
            <a:pPr defTabSz="533400">
              <a:tabLst>
                <a:tab pos="533400" algn="l"/>
              </a:tabLst>
              <a:defRPr/>
            </a:pPr>
            <a:r>
              <a:rPr lang="ru-RU" dirty="0">
                <a:latin typeface="Courier New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9F610-793E-6BAD-A27E-6BBC8322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81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77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  <p:bldP spid="69636" grpId="0" animBg="1"/>
      <p:bldP spid="69636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524000" y="-6243"/>
            <a:ext cx="9144000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&lt;string&gt;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cassert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Sunday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Monday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Tuesday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Wednesday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Thursday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Friday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Saturday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Sunday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"Sunday"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Monday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"Monday"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Tuesday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"Tuesday"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Wednesday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"Wednesday"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Thursday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"Thursday"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Friday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"Friday"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Saturday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"Saturday"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(!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"This is not possible"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Sunday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BB0BC-0D92-ADFF-6897-967E86EA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0062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0" y="5025"/>
            <a:ext cx="9324528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</a:t>
            </a:r>
            <a:r>
              <a:rPr lang="ru-RU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include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ru-RU" sz="14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подсчет цифр, символов-разделителей и прочих символов */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numSpaces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numDigits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[10] = {};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numOther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'0'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'1'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'2'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'3'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'4'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'5'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'6'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'7'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'8'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'9'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++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numDigits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'0'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 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'\t'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++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numSpaces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++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numOther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"Digits:"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numDigits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whitespaces: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numSpaces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other: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numOther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E34692-3256-FDAB-3566-F94F55BB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2558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Циклическое выполнение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82A353-A5F8-8E04-0178-40661AEE1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2F00C1-938A-A8DE-E94F-47C52C91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84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28862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Циклы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sz="2800" dirty="0"/>
              <a:t>Циклическое выполнение в языке осуществляется при использовании следующих операторов цикла:</a:t>
            </a:r>
          </a:p>
          <a:p>
            <a:pPr lvl="1" eaLnBrk="1" hangingPunct="1"/>
            <a:r>
              <a:rPr lang="en-US" dirty="0"/>
              <a:t>while</a:t>
            </a:r>
          </a:p>
          <a:p>
            <a:pPr lvl="1" eaLnBrk="1" hangingPunct="1"/>
            <a:r>
              <a:rPr lang="en-US" dirty="0"/>
              <a:t>for</a:t>
            </a:r>
          </a:p>
          <a:p>
            <a:pPr lvl="1" eaLnBrk="1" hangingPunct="1"/>
            <a:r>
              <a:rPr lang="en-US" dirty="0" err="1"/>
              <a:t>do..while</a:t>
            </a:r>
            <a:endParaRPr lang="ru-RU" dirty="0"/>
          </a:p>
          <a:p>
            <a:pPr eaLnBrk="1" hangingPunct="1"/>
            <a:r>
              <a:rPr lang="ru-RU" sz="2800" dirty="0"/>
              <a:t>Внутри циклов могут использоваться операторы управления работой цикла:</a:t>
            </a:r>
          </a:p>
          <a:p>
            <a:pPr lvl="1" eaLnBrk="1" hangingPunct="1"/>
            <a:r>
              <a:rPr lang="en-US" b="1" dirty="0"/>
              <a:t>break</a:t>
            </a:r>
            <a:r>
              <a:rPr lang="ru-RU" dirty="0"/>
              <a:t> для досрочного выхода из цикла</a:t>
            </a:r>
            <a:endParaRPr lang="en-US" dirty="0"/>
          </a:p>
          <a:p>
            <a:pPr lvl="1" eaLnBrk="1" hangingPunct="1"/>
            <a:r>
              <a:rPr lang="en-US" b="1" dirty="0"/>
              <a:t>continue</a:t>
            </a:r>
            <a:r>
              <a:rPr lang="ru-RU" dirty="0"/>
              <a:t> для пропуска текущей итерации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D35BE3-E73F-CCA6-AE80-59C6F8F8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85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195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Инструкция </a:t>
            </a:r>
            <a:r>
              <a:rPr lang="en-US" dirty="0"/>
              <a:t>while</a:t>
            </a:r>
            <a:endParaRPr lang="ru-RU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С</a:t>
            </a:r>
            <a:r>
              <a:rPr lang="ru-RU" sz="2800" dirty="0"/>
              <a:t>лужит для организации </a:t>
            </a:r>
            <a:r>
              <a:rPr lang="ru-RU" sz="2800" b="1" dirty="0">
                <a:solidFill>
                  <a:srgbClr val="FF0000"/>
                </a:solidFill>
              </a:rPr>
              <a:t>циклов с предусловием</a:t>
            </a:r>
            <a:endParaRPr lang="ru-RU" sz="28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цикл, который выполняется, пока истинно некоторое условие, указанное перед его началом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/>
              <a:t>Синтаксис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Consolas" panose="020B0609020204030204" pitchFamily="49" charset="0"/>
              </a:rPr>
              <a:t>while (</a:t>
            </a:r>
            <a:r>
              <a:rPr lang="ru-RU" i="1" dirty="0">
                <a:latin typeface="Consolas" panose="020B0609020204030204" pitchFamily="49" charset="0"/>
              </a:rPr>
              <a:t>выражение</a:t>
            </a:r>
            <a:r>
              <a:rPr lang="ru-RU" dirty="0">
                <a:latin typeface="Consolas" panose="020B0609020204030204" pitchFamily="49" charset="0"/>
              </a:rPr>
              <a:t>)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i="1" dirty="0">
                <a:latin typeface="Consolas" panose="020B0609020204030204" pitchFamily="49" charset="0"/>
              </a:rPr>
              <a:t>инструкция</a:t>
            </a:r>
          </a:p>
          <a:p>
            <a:pPr lvl="1" eaLnBrk="1" hangingPunct="1">
              <a:lnSpc>
                <a:spcPct val="90000"/>
              </a:lnSpc>
            </a:pPr>
            <a:r>
              <a:rPr lang="ru-RU" b="1" i="1" dirty="0"/>
              <a:t>Инструкция</a:t>
            </a:r>
            <a:r>
              <a:rPr lang="ru-RU" dirty="0"/>
              <a:t> (тело цикла) выполняется до тех пор, пока </a:t>
            </a:r>
            <a:r>
              <a:rPr lang="ru-RU" b="1" i="1" dirty="0"/>
              <a:t>выражение</a:t>
            </a:r>
            <a:r>
              <a:rPr lang="ru-RU" dirty="0"/>
              <a:t> принимает ненулевое значение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DB90DD-C234-9782-773B-620C100F6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86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871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Пример: нахождение наибольшего общего делителя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838200" y="1988840"/>
            <a:ext cx="935765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Поиск наибольшего общего делителя чисел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714;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312;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"Greatest Common Denominator of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and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is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0)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swap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1u)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FCB5AB-12DE-C868-C988-5DD86D16A6C9}"/>
              </a:ext>
            </a:extLst>
          </p:cNvPr>
          <p:cNvSpPr txBox="1"/>
          <p:nvPr/>
        </p:nvSpPr>
        <p:spPr>
          <a:xfrm>
            <a:off x="838200" y="5026329"/>
            <a:ext cx="753033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Greatest Common Denominator of 714 and 312 is 6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23D78-530D-B978-D51B-F26FD297F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336" y="3843966"/>
            <a:ext cx="2705478" cy="27340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A5C3F3-714E-3619-EE95-2AE88ACFF1FD}"/>
              </a:ext>
            </a:extLst>
          </p:cNvPr>
          <p:cNvSpPr txBox="1"/>
          <p:nvPr/>
        </p:nvSpPr>
        <p:spPr>
          <a:xfrm>
            <a:off x="5517028" y="6127809"/>
            <a:ext cx="379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https://godbolt.org/z/xGr76ha7G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C2A710-5D6B-B94C-0D50-B56B01A5F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87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686796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Инструкция </a:t>
            </a:r>
            <a:r>
              <a:rPr lang="en-US" dirty="0"/>
              <a:t>for</a:t>
            </a:r>
            <a:endParaRPr lang="ru-RU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 b="1" dirty="0"/>
              <a:t>Назначение</a:t>
            </a:r>
          </a:p>
          <a:p>
            <a:pPr lvl="1">
              <a:lnSpc>
                <a:spcPct val="80000"/>
              </a:lnSpc>
            </a:pPr>
            <a:r>
              <a:rPr lang="ru-RU" sz="2000" dirty="0"/>
              <a:t>Задаёт </a:t>
            </a:r>
            <a:r>
              <a:rPr lang="ru-RU" sz="2000" b="1" dirty="0"/>
              <a:t>цикл со счетчиком</a:t>
            </a:r>
            <a:endParaRPr lang="en-US" sz="2000" b="1" dirty="0"/>
          </a:p>
          <a:p>
            <a:pPr eaLnBrk="1" hangingPunct="1">
              <a:lnSpc>
                <a:spcPct val="80000"/>
              </a:lnSpc>
            </a:pPr>
            <a:r>
              <a:rPr lang="ru-RU" sz="2400" b="1" dirty="0"/>
              <a:t>Синтаксис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i="1" dirty="0">
                <a:latin typeface="Consolas" panose="020B0609020204030204" pitchFamily="49" charset="0"/>
              </a:rPr>
              <a:t>for (</a:t>
            </a:r>
            <a:r>
              <a:rPr lang="en-US" sz="2000" i="1" dirty="0" err="1">
                <a:latin typeface="Consolas" panose="020B0609020204030204" pitchFamily="49" charset="0"/>
              </a:rPr>
              <a:t>init</a:t>
            </a:r>
            <a:r>
              <a:rPr lang="en-US" sz="2000" i="1" dirty="0">
                <a:latin typeface="Consolas" panose="020B0609020204030204" pitchFamily="49" charset="0"/>
              </a:rPr>
              <a:t>; condition;</a:t>
            </a:r>
            <a:r>
              <a:rPr lang="ru-RU" sz="2000" i="1" dirty="0">
                <a:latin typeface="Consolas" panose="020B0609020204030204" pitchFamily="49" charset="0"/>
              </a:rPr>
              <a:t> </a:t>
            </a:r>
            <a:r>
              <a:rPr lang="en-US" sz="2000" i="1" dirty="0">
                <a:latin typeface="Consolas" panose="020B0609020204030204" pitchFamily="49" charset="0"/>
              </a:rPr>
              <a:t>step</a:t>
            </a:r>
            <a:r>
              <a:rPr lang="ru-RU" sz="2000" i="1" dirty="0">
                <a:latin typeface="Consolas" panose="020B0609020204030204" pitchFamily="49" charset="0"/>
              </a:rPr>
              <a:t>)</a:t>
            </a:r>
            <a:br>
              <a:rPr lang="ru-RU" sz="2000" i="1" dirty="0">
                <a:latin typeface="Consolas" panose="020B0609020204030204" pitchFamily="49" charset="0"/>
              </a:rPr>
            </a:br>
            <a:r>
              <a:rPr lang="ru-RU" sz="2000" i="1" dirty="0">
                <a:latin typeface="Consolas" panose="020B0609020204030204" pitchFamily="49" charset="0"/>
              </a:rPr>
              <a:t>    </a:t>
            </a:r>
            <a:r>
              <a:rPr lang="en-US" sz="2000" i="1" dirty="0">
                <a:latin typeface="Consolas" panose="020B0609020204030204" pitchFamily="49" charset="0"/>
              </a:rPr>
              <a:t>statement</a:t>
            </a:r>
            <a:endParaRPr lang="ru-RU" sz="2000" i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b="1" dirty="0"/>
              <a:t>Поведение</a:t>
            </a:r>
            <a:endParaRPr lang="ru-RU" dirty="0"/>
          </a:p>
          <a:p>
            <a:pPr lvl="1"/>
            <a:r>
              <a:rPr lang="ru-RU" dirty="0" err="1"/>
              <a:t>init</a:t>
            </a:r>
            <a:r>
              <a:rPr lang="ru-RU" dirty="0"/>
              <a:t> — выполняется </a:t>
            </a:r>
            <a:r>
              <a:rPr lang="ru-RU" b="1" dirty="0"/>
              <a:t>один раз</a:t>
            </a:r>
            <a:r>
              <a:rPr lang="ru-RU" dirty="0"/>
              <a:t> перед началом цикла</a:t>
            </a:r>
            <a:r>
              <a:rPr lang="en-US" dirty="0"/>
              <a:t> </a:t>
            </a:r>
            <a:r>
              <a:rPr lang="ru-RU" dirty="0"/>
              <a:t>(обычно инициализация счётчика)</a:t>
            </a:r>
          </a:p>
          <a:p>
            <a:pPr lvl="1"/>
            <a:r>
              <a:rPr lang="ru-RU" dirty="0" err="1"/>
              <a:t>condition</a:t>
            </a:r>
            <a:r>
              <a:rPr lang="ru-RU" dirty="0"/>
              <a:t> — проверяется </a:t>
            </a:r>
            <a:r>
              <a:rPr lang="ru-RU" b="1" dirty="0"/>
              <a:t>перед каждой итерацией</a:t>
            </a:r>
            <a:r>
              <a:rPr lang="en-US" b="1" dirty="0"/>
              <a:t>. </a:t>
            </a:r>
            <a:r>
              <a:rPr lang="ru-RU" dirty="0"/>
              <a:t>Цикл выполняется, пока условие истинно. Если отсутствует — цикл бесконечный</a:t>
            </a:r>
          </a:p>
          <a:p>
            <a:pPr lvl="1"/>
            <a:r>
              <a:rPr lang="ru-RU" dirty="0" err="1"/>
              <a:t>step</a:t>
            </a:r>
            <a:r>
              <a:rPr lang="ru-RU" dirty="0"/>
              <a:t> — выполняется </a:t>
            </a:r>
            <a:r>
              <a:rPr lang="ru-RU" b="1" dirty="0"/>
              <a:t>после каждой итерации</a:t>
            </a:r>
            <a:r>
              <a:rPr lang="ru-RU" dirty="0"/>
              <a:t> (обычно изменение счётчика)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F03A87-281A-139D-83DB-CACB86A4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052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bldLvl="2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Простой цикл </a:t>
            </a:r>
            <a:r>
              <a:rPr lang="en-US" dirty="0"/>
              <a:t>for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838200" y="1663159"/>
            <a:ext cx="97943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Выводит 0, 1, 2, 3, 4, 5, 6, 7, 8, 9,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Область видимости переменной i ограничена телом цикла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10; ++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100;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&gt;= 0;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-= 2)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FB4C25-12AB-F8B8-CB8C-ECB06D46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89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991500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Range-based for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Версия цикла </a:t>
            </a:r>
            <a:r>
              <a:rPr lang="en-US" dirty="0"/>
              <a:t>for</a:t>
            </a:r>
            <a:r>
              <a:rPr lang="ru-RU" dirty="0"/>
              <a:t>, предназначенная для перебора элементов некоторого диапазона</a:t>
            </a:r>
          </a:p>
          <a:p>
            <a:pPr lvl="1"/>
            <a:r>
              <a:rPr lang="ru-RU" dirty="0"/>
              <a:t>Массивы, строки, контейнеры</a:t>
            </a:r>
            <a:r>
              <a:rPr lang="en-US" dirty="0"/>
              <a:t> </a:t>
            </a:r>
            <a:r>
              <a:rPr lang="ru-RU" dirty="0"/>
              <a:t>стандартной библиотеки, пользовательские типы данных</a:t>
            </a:r>
          </a:p>
          <a:p>
            <a:r>
              <a:rPr lang="ru-RU" dirty="0"/>
              <a:t>Синтаксис:</a:t>
            </a:r>
          </a:p>
          <a:p>
            <a:pPr lvl="1"/>
            <a:r>
              <a:rPr lang="en-US" dirty="0"/>
              <a:t>for (</a:t>
            </a:r>
            <a:r>
              <a:rPr lang="ru-RU" i="1" dirty="0"/>
              <a:t>тип</a:t>
            </a:r>
            <a:r>
              <a:rPr lang="ru-RU" dirty="0"/>
              <a:t> </a:t>
            </a:r>
            <a:r>
              <a:rPr lang="ru-RU" i="1" dirty="0"/>
              <a:t>идентификатор</a:t>
            </a:r>
            <a:r>
              <a:rPr lang="en-US" dirty="0"/>
              <a:t> : </a:t>
            </a:r>
            <a:r>
              <a:rPr lang="ru-RU" i="1" dirty="0"/>
              <a:t>диапазон</a:t>
            </a:r>
            <a:r>
              <a:rPr lang="ru-RU" dirty="0"/>
              <a:t>)</a:t>
            </a:r>
            <a:br>
              <a:rPr lang="ru-RU" dirty="0"/>
            </a:br>
            <a:r>
              <a:rPr lang="en-US" dirty="0"/>
              <a:t>    </a:t>
            </a:r>
            <a:r>
              <a:rPr lang="ru-RU" i="1" dirty="0"/>
              <a:t>инструкция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784EE-08E8-439C-8BD6-6A624D598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4779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Пример: обход элементов массива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1700809"/>
            <a:ext cx="1080241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Обход элементов массива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= { 10, 15, 17, 33, 18 };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"Array items: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tSum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tProduct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55CE52-E771-77F6-FA7A-F2D696D2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55302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911424" y="310164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Обход символов строки и контейнера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map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pangram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"the quick brown fox jumps over the lazy dog"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map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characterOccurrences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pangram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ru-RU" sz="14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isalpha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Возращенное значение частоты встречаемости символа увеличиваем на 1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++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characterOccurrences</a:t>
            </a:r>
            <a:r>
              <a:rPr lang="ru-RU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ru-RU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"Character occurrence in \""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pangram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"\":"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charOcc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characterOccurrences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charOcc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first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charOcc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second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"Character occurrence in \""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pangram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"\":"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count]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characterOccurrences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00575-3607-28F8-8296-7FB1B1EE547D}"/>
              </a:ext>
            </a:extLst>
          </p:cNvPr>
          <p:cNvSpPr txBox="1"/>
          <p:nvPr/>
        </p:nvSpPr>
        <p:spPr>
          <a:xfrm>
            <a:off x="6096000" y="6287264"/>
            <a:ext cx="4139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https://godbolt.org/z/8o93fYrhT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C946B-4142-53DC-A1C4-9A1CB9945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360" y="3273911"/>
            <a:ext cx="2734057" cy="277216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8D3A20-37CC-CACF-63C3-6C951767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6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Цикл </a:t>
            </a:r>
            <a:r>
              <a:rPr lang="en-US" dirty="0"/>
              <a:t>do-while</a:t>
            </a:r>
            <a:endParaRPr lang="ru-RU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800" dirty="0"/>
              <a:t>Задаёт </a:t>
            </a:r>
            <a:r>
              <a:rPr lang="ru-RU" sz="2800" b="1" dirty="0">
                <a:solidFill>
                  <a:srgbClr val="FF0000"/>
                </a:solidFill>
              </a:rPr>
              <a:t>цикл с постусловием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цикл, в котором условие проверяется </a:t>
            </a:r>
            <a:r>
              <a:rPr lang="ru-RU" b="1" dirty="0">
                <a:solidFill>
                  <a:srgbClr val="FF0000"/>
                </a:solidFill>
              </a:rPr>
              <a:t>после</a:t>
            </a:r>
            <a:r>
              <a:rPr lang="ru-RU" dirty="0"/>
              <a:t> выполнения тела цикла</a:t>
            </a:r>
            <a:endParaRPr lang="en-US" dirty="0"/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тело </a:t>
            </a:r>
            <a:r>
              <a:rPr lang="ru-RU" b="1" dirty="0">
                <a:solidFill>
                  <a:srgbClr val="FF0000"/>
                </a:solidFill>
              </a:rPr>
              <a:t>всегда выполняется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хотя бы один раз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Синтаксис</a:t>
            </a:r>
          </a:p>
          <a:p>
            <a:pPr lvl="1" eaLnBrk="1" hangingPunct="1">
              <a:lnSpc>
                <a:spcPct val="80000"/>
              </a:lnSpc>
            </a:pPr>
            <a:r>
              <a:rPr lang="ru-RU" b="1" dirty="0" err="1">
                <a:latin typeface="Courier New" pitchFamily="49" charset="0"/>
              </a:rPr>
              <a:t>do</a:t>
            </a:r>
            <a:br>
              <a:rPr lang="ru-RU" b="1" dirty="0">
                <a:latin typeface="Courier New" pitchFamily="49" charset="0"/>
              </a:rPr>
            </a:br>
            <a:r>
              <a:rPr lang="ru-RU" b="1" dirty="0">
                <a:latin typeface="Courier New" pitchFamily="49" charset="0"/>
              </a:rPr>
              <a:t>    </a:t>
            </a:r>
            <a:r>
              <a:rPr lang="en-US" b="1" i="1" dirty="0">
                <a:latin typeface="Courier New" pitchFamily="49" charset="0"/>
              </a:rPr>
              <a:t>statement</a:t>
            </a:r>
            <a:br>
              <a:rPr lang="ru-RU" b="1" i="1" dirty="0">
                <a:latin typeface="Courier New" pitchFamily="49" charset="0"/>
              </a:rPr>
            </a:br>
            <a:r>
              <a:rPr lang="ru-RU" b="1" dirty="0" err="1">
                <a:latin typeface="Courier New" pitchFamily="49" charset="0"/>
              </a:rPr>
              <a:t>while</a:t>
            </a:r>
            <a:r>
              <a:rPr lang="ru-RU" b="1" dirty="0">
                <a:latin typeface="Courier New" pitchFamily="49" charset="0"/>
              </a:rPr>
              <a:t> (</a:t>
            </a:r>
            <a:r>
              <a:rPr lang="en-US" b="1" i="1" dirty="0">
                <a:latin typeface="Courier New" pitchFamily="49" charset="0"/>
              </a:rPr>
              <a:t>condition</a:t>
            </a:r>
            <a:r>
              <a:rPr lang="ru-RU" b="1" dirty="0">
                <a:latin typeface="Courier New" pitchFamily="49" charset="0"/>
              </a:rPr>
              <a:t>)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pPr lvl="1" eaLnBrk="1" hangingPunct="1">
              <a:lnSpc>
                <a:spcPct val="80000"/>
              </a:lnSpc>
            </a:pPr>
            <a:r>
              <a:rPr lang="en-US" b="1" i="1" dirty="0"/>
              <a:t>statement</a:t>
            </a:r>
            <a:r>
              <a:rPr lang="ru-RU" dirty="0"/>
              <a:t> выполняется, пока </a:t>
            </a:r>
            <a:r>
              <a:rPr lang="en-US" b="1" i="1" dirty="0"/>
              <a:t>condition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истина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E6B675-B7E7-A93F-2DE9-EB215316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93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048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1690689"/>
            <a:ext cx="1051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Ввод продолжается, пока пользователь не введет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bye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userInput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R"(Enter text or "bye" to finish: )"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userInput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entered: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userInput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ru-RU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userInput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!=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bye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99AEEF-A1DB-4FF9-E3B8-5B3375A9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7456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Бесконечные циклы </a:t>
            </a:r>
            <a:r>
              <a:rPr lang="en-US" dirty="0"/>
              <a:t>for, while, do-while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72244" y="1456521"/>
            <a:ext cx="1065840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Генератор псевдослучайных чисел с использованием Вихря </a:t>
            </a:r>
            <a:r>
              <a:rPr lang="ru-RU" sz="15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Мерсенна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15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Mersenne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Twister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5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mt19937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generator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Адаптер для получения равномерно распределенных чисел в диапазоне [1; 10]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uniform_int_distribution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(1, 10);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(;;) {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"Next random number: 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dist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generator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"Type q or Q to quit the game: 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getline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5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cin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==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"q"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|| 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==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"Q"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ru-RU" sz="15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break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Также можно использовать цикл </a:t>
            </a:r>
            <a:r>
              <a:rPr lang="ru-RU" sz="15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while (true) {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 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тело цикла 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}</a:t>
            </a:r>
          </a:p>
          <a:p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либо цикл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do-while: 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do {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 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тело цикла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} while(true);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271DA-9D7F-8FA6-8760-5623D3C6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10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Инструкции </a:t>
            </a:r>
            <a:r>
              <a:rPr lang="en-US"/>
              <a:t>break </a:t>
            </a:r>
            <a:r>
              <a:rPr lang="ru-RU"/>
              <a:t>и </a:t>
            </a:r>
            <a:r>
              <a:rPr lang="en-US"/>
              <a:t>continue</a:t>
            </a:r>
            <a:endParaRPr lang="ru-RU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/>
              <a:t>Инструкция </a:t>
            </a:r>
            <a:r>
              <a:rPr lang="en-US" sz="2800" b="1" dirty="0">
                <a:solidFill>
                  <a:srgbClr val="FF0000"/>
                </a:solidFill>
              </a:rPr>
              <a:t>break</a:t>
            </a:r>
            <a:r>
              <a:rPr lang="en-US" sz="2800" dirty="0"/>
              <a:t> </a:t>
            </a:r>
            <a:r>
              <a:rPr lang="ru-RU" sz="2800" dirty="0"/>
              <a:t>осуществляет немедленный выход из тела цикла, внутри которого она находится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Также инструкция </a:t>
            </a:r>
            <a:r>
              <a:rPr lang="en-US" b="1" dirty="0"/>
              <a:t>break</a:t>
            </a:r>
            <a:r>
              <a:rPr lang="en-US" dirty="0"/>
              <a:t> </a:t>
            </a:r>
            <a:r>
              <a:rPr lang="ru-RU" dirty="0"/>
              <a:t>осуществляет выход из оператора </a:t>
            </a:r>
            <a:r>
              <a:rPr lang="en-US" b="1" dirty="0"/>
              <a:t>switch</a:t>
            </a:r>
            <a:endParaRPr lang="ru-RU" b="1" dirty="0"/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Инструкция </a:t>
            </a:r>
            <a:r>
              <a:rPr lang="en-US" sz="2800" b="1" dirty="0">
                <a:solidFill>
                  <a:srgbClr val="FF0000"/>
                </a:solidFill>
              </a:rPr>
              <a:t>continue</a:t>
            </a:r>
            <a:r>
              <a:rPr lang="en-US" sz="2800" dirty="0"/>
              <a:t> </a:t>
            </a:r>
            <a:r>
              <a:rPr lang="ru-RU" sz="2800" dirty="0"/>
              <a:t>осуществляет пропуск оставшихся операторов тела цикла, внутри которого она находится, и переход на следующую итерацию цикла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В циклах </a:t>
            </a:r>
            <a:r>
              <a:rPr lang="en-US" dirty="0"/>
              <a:t>while </a:t>
            </a:r>
            <a:r>
              <a:rPr lang="ru-RU" dirty="0"/>
              <a:t>и </a:t>
            </a:r>
            <a:r>
              <a:rPr lang="en-US" dirty="0"/>
              <a:t>do-while</a:t>
            </a:r>
            <a:r>
              <a:rPr lang="ru-RU" dirty="0"/>
              <a:t> осуществляется переход к проверке условия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В цикле </a:t>
            </a:r>
            <a:r>
              <a:rPr lang="en-US" dirty="0"/>
              <a:t>for </a:t>
            </a:r>
            <a:r>
              <a:rPr lang="ru-RU" dirty="0"/>
              <a:t>осуществляется переход к приращению переменной цикла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FFD4DD-2E0B-7D8D-5E64-3EEF34FF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96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358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поиск простых чисел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690689"/>
            <a:ext cx="10515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"Primes: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2;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100; ++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isPrime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Наивный метод определения простоты числа i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проверяем i на делимость на любое из чисел диапазона [2;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(i)]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2;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&lt;=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++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Если найден множитель числа i, выходим из цикла при помощи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0)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isPrime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isPrime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E7D57-8566-E40B-58B4-0495B8288A24}"/>
              </a:ext>
            </a:extLst>
          </p:cNvPr>
          <p:cNvSpPr txBox="1"/>
          <p:nvPr/>
        </p:nvSpPr>
        <p:spPr>
          <a:xfrm>
            <a:off x="5375920" y="6358709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2"/>
              </a:rPr>
              <a:t>https://wandbox.org/permlink/cmBWCRvwemRUAjVJ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47FC8-927F-EBE8-7497-B1D539700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36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Инструкция </a:t>
            </a:r>
            <a:r>
              <a:rPr lang="en-US" b="1"/>
              <a:t>goto</a:t>
            </a:r>
            <a:endParaRPr lang="ru-RU" b="1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ru-RU" dirty="0"/>
              <a:t>Безусловный переход к метке внутри текущей функции</a:t>
            </a:r>
          </a:p>
          <a:p>
            <a:pPr eaLnBrk="1" hangingPunct="1"/>
            <a:r>
              <a:rPr lang="ru-RU" sz="2800" dirty="0"/>
              <a:t>Синтаксис:</a:t>
            </a:r>
          </a:p>
          <a:p>
            <a:pPr lvl="1" eaLnBrk="1" hangingPunct="1"/>
            <a:r>
              <a:rPr lang="en-US" dirty="0" err="1">
                <a:latin typeface="Consolas" panose="020B0609020204030204" pitchFamily="49" charset="0"/>
              </a:rPr>
              <a:t>goto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label</a:t>
            </a:r>
            <a:r>
              <a:rPr lang="en-US" dirty="0">
                <a:latin typeface="Consolas" panose="020B0609020204030204" pitchFamily="49" charset="0"/>
              </a:rPr>
              <a:t>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// …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label:</a:t>
            </a:r>
            <a:endParaRPr lang="ru-RU" dirty="0">
              <a:latin typeface="Consolas" panose="020B0609020204030204" pitchFamily="49" charset="0"/>
            </a:endParaRPr>
          </a:p>
          <a:p>
            <a:pPr eaLnBrk="1" hangingPunct="1"/>
            <a:r>
              <a:rPr lang="ru-RU" sz="2800" dirty="0"/>
              <a:t>Ограничения</a:t>
            </a:r>
          </a:p>
          <a:p>
            <a:pPr lvl="1"/>
            <a:r>
              <a:rPr lang="ru-RU" dirty="0"/>
              <a:t>Переход возможен только в пределах одной функции</a:t>
            </a:r>
          </a:p>
          <a:p>
            <a:pPr lvl="1"/>
            <a:r>
              <a:rPr lang="ru-RU" dirty="0"/>
              <a:t>Нельзя перескакивать через объявления с инициализацией</a:t>
            </a:r>
          </a:p>
          <a:p>
            <a:r>
              <a:rPr lang="ru-RU" dirty="0"/>
              <a:t>Применения</a:t>
            </a:r>
          </a:p>
          <a:p>
            <a:pPr lvl="1"/>
            <a:r>
              <a:rPr lang="ru-RU" dirty="0"/>
              <a:t>Аккуратны выход из глубоко вложенных конструкций</a:t>
            </a:r>
          </a:p>
          <a:p>
            <a:pPr lvl="1"/>
            <a:r>
              <a:rPr lang="ru-RU" dirty="0"/>
              <a:t>Обработка ошибок в низкоуровневом коде</a:t>
            </a:r>
          </a:p>
          <a:p>
            <a:r>
              <a:rPr lang="ru-RU" dirty="0"/>
              <a:t>Рекомендации</a:t>
            </a:r>
          </a:p>
          <a:p>
            <a:pPr lvl="1"/>
            <a:r>
              <a:rPr lang="ru-RU" dirty="0"/>
              <a:t>Усложняет понимание и сопровождения кода</a:t>
            </a:r>
          </a:p>
          <a:p>
            <a:pPr lvl="1"/>
            <a:r>
              <a:rPr lang="ru-RU" dirty="0"/>
              <a:t>В современном </a:t>
            </a:r>
            <a:r>
              <a:rPr lang="en-US" dirty="0"/>
              <a:t>C++</a:t>
            </a:r>
            <a:r>
              <a:rPr lang="ru-RU" dirty="0"/>
              <a:t> почти всегда есть более понятные альтернативы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A01855-A313-8187-65C3-9C6A4558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72906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Пример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F8B986-2E10-7611-F429-4C462D782C2A}"/>
              </a:ext>
            </a:extLst>
          </p:cNvPr>
          <p:cNvSpPr txBox="1"/>
          <p:nvPr/>
        </p:nvSpPr>
        <p:spPr>
          <a:xfrm>
            <a:off x="861579" y="1460417"/>
            <a:ext cx="8301643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cleanup;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cleanup;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 с данными…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cleanup: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FAEAE4-5B98-91DD-A2E5-5CC82524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99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849347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C49286-775F-41EF-8C2C-3A993D2C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96B4A-0E36-470A-ACA9-C2C7ECEAE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00A0D0-7D10-A61B-3771-773C7EEA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19696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7C85F0-63DF-4EA4-902C-535C6A0C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CF831D-814C-4D98-90B9-291792080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Что такое функция</a:t>
            </a:r>
            <a:endParaRPr lang="ru-RU" dirty="0"/>
          </a:p>
          <a:p>
            <a:pPr lvl="1"/>
            <a:r>
              <a:rPr lang="ru-RU" dirty="0"/>
              <a:t>Именованный фрагмент кода</a:t>
            </a:r>
          </a:p>
          <a:p>
            <a:pPr lvl="1"/>
            <a:r>
              <a:rPr lang="ru-RU" dirty="0"/>
              <a:t>Может принимать параметры</a:t>
            </a:r>
          </a:p>
          <a:p>
            <a:pPr lvl="1"/>
            <a:r>
              <a:rPr lang="ru-RU" dirty="0"/>
              <a:t>Может возвращать значение</a:t>
            </a:r>
          </a:p>
          <a:p>
            <a:r>
              <a:rPr lang="ru-RU" b="1" dirty="0"/>
              <a:t>Назначение</a:t>
            </a:r>
            <a:endParaRPr lang="ru-RU" dirty="0"/>
          </a:p>
          <a:p>
            <a:pPr lvl="1"/>
            <a:r>
              <a:rPr lang="ru-RU" dirty="0"/>
              <a:t>Повторное использование кода</a:t>
            </a:r>
          </a:p>
          <a:p>
            <a:pPr lvl="1"/>
            <a:r>
              <a:rPr lang="ru-RU" dirty="0"/>
              <a:t>Структурирование программы</a:t>
            </a:r>
          </a:p>
          <a:p>
            <a:pPr lvl="1"/>
            <a:r>
              <a:rPr lang="ru-RU" dirty="0"/>
              <a:t>Основа процедурного подхода</a:t>
            </a:r>
          </a:p>
          <a:p>
            <a:r>
              <a:rPr lang="ru-RU" b="1" dirty="0"/>
              <a:t>Возврат значения</a:t>
            </a:r>
            <a:endParaRPr lang="ru-RU" dirty="0"/>
          </a:p>
          <a:p>
            <a:pPr lvl="1"/>
            <a:r>
              <a:rPr lang="ru-RU" dirty="0"/>
              <a:t>Оператор </a:t>
            </a:r>
            <a:r>
              <a:rPr lang="ru-RU" dirty="0" err="1"/>
              <a:t>return</a:t>
            </a:r>
            <a:r>
              <a:rPr lang="ru-RU" dirty="0"/>
              <a:t> завершает функцию</a:t>
            </a:r>
          </a:p>
          <a:p>
            <a:pPr lvl="1"/>
            <a:r>
              <a:rPr lang="ru-RU" dirty="0"/>
              <a:t>Тип </a:t>
            </a:r>
            <a:r>
              <a:rPr lang="ru-RU" dirty="0" err="1"/>
              <a:t>void</a:t>
            </a:r>
            <a:r>
              <a:rPr lang="ru-RU" dirty="0"/>
              <a:t> — функция не возвращает значение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F810D8-0CA0-7BDE-09FF-AE0B8E60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73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1789A4-546E-4B3E-B521-4A3271A37FD4}"/>
              </a:ext>
            </a:extLst>
          </p:cNvPr>
          <p:cNvSpPr/>
          <p:nvPr/>
        </p:nvSpPr>
        <p:spPr>
          <a:xfrm>
            <a:off x="829998" y="1691614"/>
            <a:ext cx="102983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Функция без параметров и возвращаемого значения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с параметром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с параметрами, которая возвращает значение типа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904848-C4DE-44A0-ADFF-313291B4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функций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057876-9E4B-A924-1FC3-73F11FB7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0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6246-8CD5-16D2-F82C-74BB5465C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и определение функции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E55C3-C79F-F151-D84F-8A0D3C1A540C}"/>
              </a:ext>
            </a:extLst>
          </p:cNvPr>
          <p:cNvSpPr txBox="1"/>
          <p:nvPr/>
        </p:nvSpPr>
        <p:spPr>
          <a:xfrm>
            <a:off x="838200" y="1690688"/>
            <a:ext cx="108024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Объявление функции.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Чтобы вызвать функцию, она должна быть объявлена до своего вызова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Определение функции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Add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(в программе должно быть только одно определение функции)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Функция, которая не имеет возвращаемого значения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14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48225-CD5F-2A4A-E977-72877FC5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90909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5D271B-C788-433F-BA78-131CC248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D31228-A993-434C-BBB8-662081899BDE}"/>
              </a:ext>
            </a:extLst>
          </p:cNvPr>
          <p:cNvSpPr/>
          <p:nvPr/>
        </p:nvSpPr>
        <p:spPr>
          <a:xfrm>
            <a:off x="767408" y="1916832"/>
            <a:ext cx="102983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PrintRectangle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PrintRectangle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'$'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Чему равны значения переменных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w, h,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этой точке?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7AD786-DD91-3EF6-6057-3F1F976F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83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E4C2BA-7A86-435E-9B79-70645F8B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Передача параметров по значению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371F9-C4CC-4ED6-868C-E24FEE82A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умолчанию параметры передаются по значению</a:t>
            </a:r>
          </a:p>
          <a:p>
            <a:pPr lvl="1"/>
            <a:r>
              <a:rPr lang="ru-RU" dirty="0"/>
              <a:t>Функция работает со значением выражения</a:t>
            </a:r>
          </a:p>
          <a:p>
            <a:pPr lvl="1"/>
            <a:r>
              <a:rPr lang="ru-RU" dirty="0"/>
              <a:t>Эффект такой же, как если бы функция работал с копией переданного значения</a:t>
            </a:r>
          </a:p>
          <a:p>
            <a:r>
              <a:rPr lang="ru-RU" dirty="0"/>
              <a:t>Изменение параметра внутри функции не сказывается на значении переданного аргумента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F91F66-0D39-8BCF-043C-785BE73E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42562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DC1695-8747-4FCC-897A-BA26B9D0F819}"/>
              </a:ext>
            </a:extLst>
          </p:cNvPr>
          <p:cNvSpPr/>
          <p:nvPr/>
        </p:nvSpPr>
        <p:spPr>
          <a:xfrm>
            <a:off x="838200" y="2420888"/>
            <a:ext cx="78488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TryToChange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"param =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TryToChangeParam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 =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4207C9-A60D-4FD1-AC91-DB14D937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аргумента по значению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AFDDB3-27AF-4F15-B8B8-FD791A4D1D93}"/>
              </a:ext>
            </a:extLst>
          </p:cNvPr>
          <p:cNvSpPr/>
          <p:nvPr/>
        </p:nvSpPr>
        <p:spPr>
          <a:xfrm>
            <a:off x="4295800" y="5690244"/>
            <a:ext cx="12427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/>
              <a:t>param</a:t>
            </a:r>
            <a:r>
              <a:rPr lang="de-DE" dirty="0"/>
              <a:t> = 42</a:t>
            </a:r>
            <a:endParaRPr lang="ru-RU" dirty="0"/>
          </a:p>
          <a:p>
            <a:r>
              <a:rPr lang="de-DE" dirty="0"/>
              <a:t>x = 0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41B3A4-40FA-CA9D-6CEE-17DCEE89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77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4EE748-AFAD-49FB-A26E-38ECC9342620}"/>
              </a:ext>
            </a:extLst>
          </p:cNvPr>
          <p:cNvSpPr/>
          <p:nvPr/>
        </p:nvSpPr>
        <p:spPr>
          <a:xfrm>
            <a:off x="407368" y="548680"/>
            <a:ext cx="1159328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Заменяет в строке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все пробелы на символы подчёркивания и возвращает результат.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UnderscoreSpaces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s)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'_'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внутри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все пробелы заменены на подчёркивания.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s;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literals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world"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Напечатает строку 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Hello_world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".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UnderscoreSpaces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останется без изменения.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world"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491710-3378-C479-E75B-49115C70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92939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9B0D95-1148-4B6E-841D-F43321B6DB6E}"/>
              </a:ext>
            </a:extLst>
          </p:cNvPr>
          <p:cNvSpPr/>
          <p:nvPr/>
        </p:nvSpPr>
        <p:spPr>
          <a:xfrm>
            <a:off x="806517" y="1988840"/>
            <a:ext cx="80165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в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содержимое введённой строки.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B69626-09F3-40D4-A8CB-7491CA79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аргумента по ссылке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6131B-59EC-0FB2-A4FE-0607B3F3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45352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E811E-7CD4-4102-8D96-B8AE66B66C7F}"/>
              </a:ext>
            </a:extLst>
          </p:cNvPr>
          <p:cNvSpPr/>
          <p:nvPr/>
        </p:nvSpPr>
        <p:spPr>
          <a:xfrm>
            <a:off x="839416" y="139050"/>
            <a:ext cx="10945216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Удаляет все пробелы из строки. Параметр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принимается по ссылке.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ndex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Копируем только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непробельные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символы.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ch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: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Копируем символ, только если это не пробел.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dst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ndex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dst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ndex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ndex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хранит позицию в строке, следующую 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за последним скопированным символом.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dst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ndex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Отрезаем всё лишнее.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literals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"Hello!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хранит строку 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Hello!Howareyou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?"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AAE1DC-78D7-AB1D-ECD7-388582E0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65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09AE19-C817-4038-8E81-6A41B09DF710}"/>
              </a:ext>
            </a:extLst>
          </p:cNvPr>
          <p:cNvSpPr/>
          <p:nvPr/>
        </p:nvSpPr>
        <p:spPr>
          <a:xfrm>
            <a:off x="191344" y="120322"/>
            <a:ext cx="1096888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число, обратное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 есть 1 /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Произведение числа на обратное ему даёт единицу.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 переменную, переданную в параметре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записан признак ошибки.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Invert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проверяет, что аргумент – это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корректное число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double,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отличное от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бесконечности. 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literals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inv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Invert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inv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Error"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42C3C3-0087-017A-8B62-EE2E0B2B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9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C5D310-D127-4EEA-BE1F-8539B92623CF}"/>
              </a:ext>
            </a:extLst>
          </p:cNvPr>
          <p:cNvSpPr/>
          <p:nvPr/>
        </p:nvSpPr>
        <p:spPr>
          <a:xfrm>
            <a:off x="695400" y="1772816"/>
            <a:ext cx="11305256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Invert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was_error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was_error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was_error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inv_number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Invert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was_error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was_error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inv_number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Error"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9253E3-C8AA-4562-919C-AC1D1087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выведет программа, если ввести 4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0DE45-28D2-1E2B-5C34-B1014EE0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28755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9C12A-1445-4636-AB57-B541D2B1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параметров по ссылке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5CDC-0113-4892-B514-1E1B58D86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Неконстантная</a:t>
            </a:r>
            <a:r>
              <a:rPr lang="ru-RU" b="1" dirty="0"/>
              <a:t> ссылка (T&amp;)</a:t>
            </a:r>
            <a:endParaRPr lang="ru-RU" dirty="0"/>
          </a:p>
          <a:p>
            <a:pPr lvl="1"/>
            <a:r>
              <a:rPr lang="ru-RU" dirty="0"/>
              <a:t>Можно передать только </a:t>
            </a:r>
            <a:r>
              <a:rPr lang="ru-RU" b="1" dirty="0"/>
              <a:t>существующий изменяемый объект</a:t>
            </a:r>
            <a:endParaRPr lang="ru-RU" dirty="0"/>
          </a:p>
          <a:p>
            <a:pPr lvl="1"/>
            <a:r>
              <a:rPr lang="ru-RU" dirty="0"/>
              <a:t>Нельзя передать:</a:t>
            </a:r>
          </a:p>
          <a:p>
            <a:pPr lvl="2"/>
            <a:r>
              <a:rPr lang="ru-RU" dirty="0"/>
              <a:t>временный объект (результат выражения)</a:t>
            </a:r>
          </a:p>
          <a:p>
            <a:pPr lvl="2"/>
            <a:r>
              <a:rPr lang="ru-RU" dirty="0"/>
              <a:t>константный объект</a:t>
            </a:r>
          </a:p>
          <a:p>
            <a:r>
              <a:rPr lang="ru-RU" b="1" dirty="0"/>
              <a:t>Причина</a:t>
            </a:r>
            <a:endParaRPr lang="ru-RU" dirty="0"/>
          </a:p>
          <a:p>
            <a:pPr lvl="1"/>
            <a:r>
              <a:rPr lang="ru-RU" dirty="0"/>
              <a:t>Функция может изменить переданный аргумент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68130-91BA-CEFF-1048-727266DA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58982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9666E1-2CB4-478A-AF31-143BB5CB5CE4}"/>
              </a:ext>
            </a:extLst>
          </p:cNvPr>
          <p:cNvSpPr/>
          <p:nvPr/>
        </p:nvSpPr>
        <p:spPr>
          <a:xfrm>
            <a:off x="0" y="0"/>
            <a:ext cx="12192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sz="16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{…}</a:t>
            </a:r>
            <a:endParaRPr lang="ru-RU" sz="1600" b="0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"Hello! "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Ошибка: попытка передать временную строку.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Ошибка: </a:t>
            </a:r>
            <a:r>
              <a:rPr lang="de-DE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константная строка. Её нельзя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                  // передать в функцию, принимающую ссылку на строку.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Ошибка: попытка передать временный объект.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Сохраняем строку в переменную 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s.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 вот так 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OK.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Тут тоже всё в порядке. </a:t>
            </a:r>
            <a:r>
              <a:rPr lang="de-DE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[0] —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строка 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                  // в реально существующем массиве.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875620-C652-3526-5793-32BCE220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75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76FFD-0D77-4020-A41D-E71B3A2A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по константной ссылке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CEB66-F7D3-4916-8C01-C8DB299A8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Синтаксис</a:t>
            </a:r>
            <a:endParaRPr lang="ru-RU" dirty="0"/>
          </a:p>
          <a:p>
            <a:pPr lvl="1"/>
            <a:r>
              <a:rPr lang="ru-RU" dirty="0" err="1"/>
              <a:t>void</a:t>
            </a:r>
            <a:r>
              <a:rPr lang="ru-RU" dirty="0"/>
              <a:t> Print(</a:t>
            </a:r>
            <a:r>
              <a:rPr lang="ru-RU" b="1" dirty="0" err="1"/>
              <a:t>const</a:t>
            </a:r>
            <a:r>
              <a:rPr lang="ru-RU" b="1" dirty="0"/>
              <a:t> </a:t>
            </a:r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string</a:t>
            </a:r>
            <a:r>
              <a:rPr lang="ru-RU" b="1" dirty="0"/>
              <a:t>&amp;</a:t>
            </a:r>
            <a:r>
              <a:rPr lang="ru-RU" dirty="0"/>
              <a:t> s);</a:t>
            </a:r>
          </a:p>
          <a:p>
            <a:r>
              <a:rPr lang="ru-RU" b="1" dirty="0"/>
              <a:t>Преимущества</a:t>
            </a:r>
            <a:endParaRPr lang="ru-RU" dirty="0"/>
          </a:p>
          <a:p>
            <a:pPr lvl="1"/>
            <a:r>
              <a:rPr lang="ru-RU" dirty="0"/>
              <a:t>Нет копирования объекта</a:t>
            </a:r>
          </a:p>
          <a:p>
            <a:pPr lvl="1"/>
            <a:r>
              <a:rPr lang="ru-RU" dirty="0"/>
              <a:t>Защита от изменения внутри функции</a:t>
            </a:r>
          </a:p>
          <a:p>
            <a:r>
              <a:rPr lang="ru-RU" b="1" dirty="0"/>
              <a:t>Когда использовать</a:t>
            </a:r>
            <a:endParaRPr lang="ru-RU" dirty="0"/>
          </a:p>
          <a:p>
            <a:pPr lvl="1"/>
            <a:r>
              <a:rPr lang="ru-RU" dirty="0"/>
              <a:t>Объект большой (строка, вектор, контейнер)</a:t>
            </a:r>
          </a:p>
          <a:p>
            <a:pPr lvl="1"/>
            <a:r>
              <a:rPr lang="ru-RU" dirty="0"/>
              <a:t>Функция не должна изменять аргумент</a:t>
            </a:r>
          </a:p>
          <a:p>
            <a:r>
              <a:rPr lang="ru-RU" b="1" dirty="0"/>
              <a:t>Особенность</a:t>
            </a:r>
            <a:endParaRPr lang="ru-RU" dirty="0"/>
          </a:p>
          <a:p>
            <a:pPr lvl="1"/>
            <a:r>
              <a:rPr lang="ru-RU" dirty="0"/>
              <a:t>Можно передавать временные и константные объекты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CAA0D-2BDE-3716-2F9A-4513C9B4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61678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81095F-FDB1-49F0-84B2-EF0FC9F2A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по константной ссылке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5BDCCB-FD7A-406E-9723-795E0A7623E9}"/>
              </a:ext>
            </a:extLst>
          </p:cNvPr>
          <p:cNvSpPr/>
          <p:nvPr/>
        </p:nvSpPr>
        <p:spPr>
          <a:xfrm>
            <a:off x="983432" y="1916831"/>
            <a:ext cx="1072919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Выводит строку, обрамлённую кавычками.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Параметр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передан по константной ссылке.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PrintQuoted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'"'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'"'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"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world"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PrintQuoted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может работать и с временным объектом.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PrintQuoted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функцию можно передать и константную переменную.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PrintQuoted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B3293D-DD6C-6417-AF0E-44CD7BC5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83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A6EC-0122-4D11-B0CF-A76B6B5DA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Простые типы передавайте по значению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720986-C129-4321-9AA0-0DF602114BBC}"/>
              </a:ext>
            </a:extLst>
          </p:cNvPr>
          <p:cNvSpPr/>
          <p:nvPr/>
        </p:nvSpPr>
        <p:spPr>
          <a:xfrm>
            <a:off x="838200" y="2276872"/>
            <a:ext cx="10515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среднее значение между x и y.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простой тип данных, поэтому выгоднее 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передать его по значению, а не по константной ссылке.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Middle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(y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x)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CF4A4-B545-19E1-A63C-2F5D462E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48884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08003-4B3A-9F3D-9E43-38B17725E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Выбора способа передачи параметра в функцию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74F562-BE8D-89F7-B0BA-F0F335EAF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868" y="1604929"/>
            <a:ext cx="6948264" cy="51317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BBF3B7-1F45-7A44-0B79-9D3BFB18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00584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B379-9D8C-449A-B91C-FF73F43A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ссылке или по значению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DC534C-E74A-42C9-B1BE-2E04850B4780}"/>
              </a:ext>
            </a:extLst>
          </p:cNvPr>
          <p:cNvSpPr/>
          <p:nvPr/>
        </p:nvSpPr>
        <p:spPr>
          <a:xfrm>
            <a:off x="983432" y="2348879"/>
            <a:ext cx="81605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количество пробелов в строке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str.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num_spaces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num_spaces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num_spaces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30005-CA97-F9C0-F629-AB8876AF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42740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81ED-5A5D-4B08-8DA4-B4F68CF6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ссылке или по значению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814C00-52FC-473A-B002-5644E96A8266}"/>
              </a:ext>
            </a:extLst>
          </p:cNvPr>
          <p:cNvSpPr/>
          <p:nvPr/>
        </p:nvSpPr>
        <p:spPr>
          <a:xfrm>
            <a:off x="838200" y="2132856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чётное, и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нечётное.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(n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0E83135-801A-D5E8-D4C2-ED56CB271014}"/>
              </a:ext>
            </a:extLst>
          </p:cNvPr>
          <p:cNvSpPr/>
          <p:nvPr/>
        </p:nvSpPr>
        <p:spPr>
          <a:xfrm>
            <a:off x="820942" y="4077072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чётное, и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нечётное.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(n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5FAE9-1D39-C406-2725-A199247C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83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DC19-9805-42AA-8EDE-F325FF21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ссылке или по значению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886607-BD94-4B58-A746-4098F84FC1AF}"/>
              </a:ext>
            </a:extLst>
          </p:cNvPr>
          <p:cNvSpPr/>
          <p:nvPr/>
        </p:nvSpPr>
        <p:spPr>
          <a:xfrm>
            <a:off x="838200" y="1916832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Обменивает переданные значения.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Например,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(a, b) обменивает значения переменных a и b.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y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3E44AF3-467A-6731-5242-B6AA85AAA3BF}"/>
              </a:ext>
            </a:extLst>
          </p:cNvPr>
          <p:cNvSpPr/>
          <p:nvPr/>
        </p:nvSpPr>
        <p:spPr>
          <a:xfrm>
            <a:off x="838200" y="4461550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Обменивает переданные значения.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Например,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(a, b) обменивает значения переменных a и b.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y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B584C-3236-5A73-306C-D7A07C2E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28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B938-3B4F-450A-95CF-0CD0C7CE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ссылке или по значению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FA2582-4CA5-44DB-B658-23C0826B3799}"/>
              </a:ext>
            </a:extLst>
          </p:cNvPr>
          <p:cNvSpPr/>
          <p:nvPr/>
        </p:nvSpPr>
        <p:spPr>
          <a:xfrm>
            <a:off x="838200" y="1916832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модуль (абсолютное значение) числа.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9D56421-3900-89EA-5018-24E28F592F5D}"/>
              </a:ext>
            </a:extLst>
          </p:cNvPr>
          <p:cNvSpPr/>
          <p:nvPr/>
        </p:nvSpPr>
        <p:spPr>
          <a:xfrm>
            <a:off x="838200" y="4208581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модуль (абсолютное значение) числа.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3EB35-83E2-54CC-2349-53C1DCB0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61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8C14-B02E-49F4-AE23-F03D12B6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ссылке или по значению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77C12D-A980-4684-944A-D8C56AECDC43}"/>
              </a:ext>
            </a:extLst>
          </p:cNvPr>
          <p:cNvSpPr/>
          <p:nvPr/>
        </p:nvSpPr>
        <p:spPr>
          <a:xfrm>
            <a:off x="838200" y="1690688"/>
            <a:ext cx="110184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копию строки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которой буквы приведены к нижнему регистру.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Например,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Hello"s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вернёт строку 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".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tolower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приводит символ к нижнему регистру.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tolower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2CB50B-5563-F75C-86F7-D784DCD476AB}"/>
              </a:ext>
            </a:extLst>
          </p:cNvPr>
          <p:cNvSpPr/>
          <p:nvPr/>
        </p:nvSpPr>
        <p:spPr>
          <a:xfrm>
            <a:off x="695400" y="4308912"/>
            <a:ext cx="110184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копию строки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которой буквы приведены к нижнему регистру.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Например,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Hello"s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вернёт строку 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".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tolower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приводит символ к нижнему регистру.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tolower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3B9BB-0666-720F-EA53-66E2C7E7B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32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15BF-BECE-4ACC-C004-27DC926C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подходящий способ передачи параметра в функцию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B4C5-2AA8-7D69-EEF6-9A3C60C93DBD}"/>
              </a:ext>
            </a:extLst>
          </p:cNvPr>
          <p:cNvSpPr txBox="1"/>
          <p:nvPr/>
        </p:nvSpPr>
        <p:spPr>
          <a:xfrm>
            <a:off x="1847528" y="1916833"/>
            <a:ext cx="2952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2 == 0;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75A5C2-D337-0C91-1EDF-A7A40F0DB66D}"/>
              </a:ext>
            </a:extLst>
          </p:cNvPr>
          <p:cNvSpPr txBox="1"/>
          <p:nvPr/>
        </p:nvSpPr>
        <p:spPr>
          <a:xfrm>
            <a:off x="1869454" y="3417650"/>
            <a:ext cx="35064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2 == 0;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E839C-8822-6A48-03F2-54A040954B6C}"/>
              </a:ext>
            </a:extLst>
          </p:cNvPr>
          <p:cNvSpPr txBox="1"/>
          <p:nvPr/>
        </p:nvSpPr>
        <p:spPr>
          <a:xfrm>
            <a:off x="1869454" y="4918467"/>
            <a:ext cx="33624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2 == 0;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1920A3-1111-AD19-1D94-49F0BAAFD38A}"/>
              </a:ext>
            </a:extLst>
          </p:cNvPr>
          <p:cNvSpPr/>
          <p:nvPr/>
        </p:nvSpPr>
        <p:spPr>
          <a:xfrm>
            <a:off x="1703512" y="1916832"/>
            <a:ext cx="3240360" cy="12510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603E2-078C-1981-8C1E-DD14A5A730DC}"/>
              </a:ext>
            </a:extLst>
          </p:cNvPr>
          <p:cNvSpPr txBox="1"/>
          <p:nvPr/>
        </p:nvSpPr>
        <p:spPr>
          <a:xfrm>
            <a:off x="5231904" y="1967566"/>
            <a:ext cx="4978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 </a:t>
            </a:r>
            <a:r>
              <a:rPr lang="en-US" dirty="0"/>
              <a:t>n – </a:t>
            </a:r>
            <a:r>
              <a:rPr lang="ru-RU" dirty="0"/>
              <a:t>входной. Он легковесный, поэтому его лучше принимать по значению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B3840F-93D0-ECE7-8600-9097C57D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83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15BF-BECE-4ACC-C004-27DC926C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подходящий способ передачи параметра в функцию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603E2-078C-1981-8C1E-DD14A5A730DC}"/>
              </a:ext>
            </a:extLst>
          </p:cNvPr>
          <p:cNvSpPr txBox="1"/>
          <p:nvPr/>
        </p:nvSpPr>
        <p:spPr>
          <a:xfrm>
            <a:off x="1631504" y="6211670"/>
            <a:ext cx="9371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Ожидается, что функция изменит значение переданного ей параметра.</a:t>
            </a:r>
          </a:p>
          <a:p>
            <a:r>
              <a:rPr lang="ru-RU" dirty="0"/>
              <a:t>Поэтому она принимает </a:t>
            </a:r>
            <a:r>
              <a:rPr lang="en-US" dirty="0"/>
              <a:t>s </a:t>
            </a:r>
            <a:r>
              <a:rPr lang="ru-RU" dirty="0"/>
              <a:t>по ссылке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01A9B-BBAF-98EF-E44D-D6CB8E61798F}"/>
              </a:ext>
            </a:extLst>
          </p:cNvPr>
          <p:cNvSpPr txBox="1"/>
          <p:nvPr/>
        </p:nvSpPr>
        <p:spPr>
          <a:xfrm>
            <a:off x="1775520" y="1628800"/>
            <a:ext cx="8640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TrimBlanks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start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.find_first_not_of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start !=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.npos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   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.substr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(start,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.find_last_not_of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- start + 1);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1870A-79A9-7E4B-8F7F-7AFE5E482954}"/>
              </a:ext>
            </a:extLst>
          </p:cNvPr>
          <p:cNvSpPr txBox="1"/>
          <p:nvPr/>
        </p:nvSpPr>
        <p:spPr>
          <a:xfrm>
            <a:off x="1775520" y="3129639"/>
            <a:ext cx="8640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TrimBlanks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start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.find_first_not_of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start !=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.npos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   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.substr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(start,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.find_last_not_of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- start + 1);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38BB80-9F5E-ACA2-B1AC-8DC551F7C13E}"/>
              </a:ext>
            </a:extLst>
          </p:cNvPr>
          <p:cNvSpPr txBox="1"/>
          <p:nvPr/>
        </p:nvSpPr>
        <p:spPr>
          <a:xfrm>
            <a:off x="1775520" y="4682593"/>
            <a:ext cx="8640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TrimBlanks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start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.find_first_not_of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start !=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.npos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   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.substr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(start,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.find_last_not_of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- start + 1);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1920A3-1111-AD19-1D94-49F0BAAFD38A}"/>
              </a:ext>
            </a:extLst>
          </p:cNvPr>
          <p:cNvSpPr/>
          <p:nvPr/>
        </p:nvSpPr>
        <p:spPr>
          <a:xfrm>
            <a:off x="1775520" y="4666573"/>
            <a:ext cx="8352928" cy="14875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55FFF71-9CCE-3FFE-4C8B-19CF399C42EB}"/>
              </a:ext>
            </a:extLst>
          </p:cNvPr>
          <p:cNvSpPr/>
          <p:nvPr/>
        </p:nvSpPr>
        <p:spPr>
          <a:xfrm>
            <a:off x="1775520" y="3157876"/>
            <a:ext cx="8064896" cy="13511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563A88-13B4-4893-BF9A-181AACE2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56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 animBg="1"/>
      <p:bldP spid="12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15BF-BECE-4ACC-C004-27DC926C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подходящий способ передачи параметра в функцию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1920A3-1111-AD19-1D94-49F0BAAFD38A}"/>
              </a:ext>
            </a:extLst>
          </p:cNvPr>
          <p:cNvSpPr/>
          <p:nvPr/>
        </p:nvSpPr>
        <p:spPr>
          <a:xfrm>
            <a:off x="1553871" y="2342309"/>
            <a:ext cx="5604175" cy="129621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603E2-078C-1981-8C1E-DD14A5A730DC}"/>
              </a:ext>
            </a:extLst>
          </p:cNvPr>
          <p:cNvSpPr txBox="1"/>
          <p:nvPr/>
        </p:nvSpPr>
        <p:spPr>
          <a:xfrm flipH="1">
            <a:off x="1553868" y="6171114"/>
            <a:ext cx="9114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Входной параметр типа </a:t>
            </a:r>
            <a:r>
              <a:rPr lang="en-US" dirty="0"/>
              <a:t>Point </a:t>
            </a:r>
            <a:r>
              <a:rPr lang="ru-RU" dirty="0"/>
              <a:t>– легковесный.</a:t>
            </a:r>
          </a:p>
          <a:p>
            <a:r>
              <a:rPr lang="ru-RU" dirty="0"/>
              <a:t>Он может быть эффективно передан по значению.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https://godbolt.org/z/WYTq5q6Wx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1B0F6-D8B4-4756-7EE4-9F15569CEA96}"/>
              </a:ext>
            </a:extLst>
          </p:cNvPr>
          <p:cNvSpPr txBox="1"/>
          <p:nvPr/>
        </p:nvSpPr>
        <p:spPr>
          <a:xfrm>
            <a:off x="1542801" y="1403462"/>
            <a:ext cx="23997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3671D-0CB6-C178-DAFD-88F13E021F90}"/>
              </a:ext>
            </a:extLst>
          </p:cNvPr>
          <p:cNvSpPr txBox="1"/>
          <p:nvPr/>
        </p:nvSpPr>
        <p:spPr>
          <a:xfrm>
            <a:off x="1542801" y="2382496"/>
            <a:ext cx="56152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AE70B-3370-E1A9-B7C3-48DA70C262BE}"/>
              </a:ext>
            </a:extLst>
          </p:cNvPr>
          <p:cNvSpPr txBox="1"/>
          <p:nvPr/>
        </p:nvSpPr>
        <p:spPr>
          <a:xfrm>
            <a:off x="1553871" y="3638528"/>
            <a:ext cx="56152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 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Point&amp;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62F077-8F79-3C48-861A-C4B2D9953BC5}"/>
              </a:ext>
            </a:extLst>
          </p:cNvPr>
          <p:cNvSpPr txBox="1"/>
          <p:nvPr/>
        </p:nvSpPr>
        <p:spPr>
          <a:xfrm>
            <a:off x="1542801" y="4854374"/>
            <a:ext cx="56152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Point&amp;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9D036B-0946-9365-E3ED-7EED7F9AB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5E742D-E96B-5109-1AB1-F4647CAEB3AF}"/>
              </a:ext>
            </a:extLst>
          </p:cNvPr>
          <p:cNvSpPr txBox="1"/>
          <p:nvPr/>
        </p:nvSpPr>
        <p:spPr>
          <a:xfrm>
            <a:off x="1559386" y="1512098"/>
            <a:ext cx="69852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15BF-BECE-4ACC-C004-27DC926C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подходящий способ передачи параметра в функцию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1920A3-1111-AD19-1D94-49F0BAAFD38A}"/>
              </a:ext>
            </a:extLst>
          </p:cNvPr>
          <p:cNvSpPr/>
          <p:nvPr/>
        </p:nvSpPr>
        <p:spPr>
          <a:xfrm>
            <a:off x="1574903" y="4280982"/>
            <a:ext cx="6971238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603E2-078C-1981-8C1E-DD14A5A730DC}"/>
              </a:ext>
            </a:extLst>
          </p:cNvPr>
          <p:cNvSpPr txBox="1"/>
          <p:nvPr/>
        </p:nvSpPr>
        <p:spPr>
          <a:xfrm flipH="1">
            <a:off x="1551636" y="6028311"/>
            <a:ext cx="9114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Вызываемый код ожидает, что функция изменит строку </a:t>
            </a:r>
            <a:r>
              <a:rPr lang="en-US" dirty="0"/>
              <a:t>s</a:t>
            </a:r>
            <a:r>
              <a:rPr lang="ru-RU" dirty="0"/>
              <a:t>, переданную снаружи.</a:t>
            </a:r>
          </a:p>
          <a:p>
            <a:r>
              <a:rPr lang="ru-RU" dirty="0"/>
              <a:t>Поэтому параметр </a:t>
            </a:r>
            <a:r>
              <a:rPr lang="en-US" dirty="0"/>
              <a:t>s </a:t>
            </a:r>
            <a:r>
              <a:rPr lang="ru-RU" dirty="0"/>
              <a:t>принимается по ссылке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49544-82E1-1AEB-5AD5-9BD6E85AC74B}"/>
              </a:ext>
            </a:extLst>
          </p:cNvPr>
          <p:cNvSpPr txBox="1"/>
          <p:nvPr/>
        </p:nvSpPr>
        <p:spPr>
          <a:xfrm>
            <a:off x="1561728" y="2945247"/>
            <a:ext cx="69852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6BFDB4-E621-5AC9-59F6-ABD73A831677}"/>
              </a:ext>
            </a:extLst>
          </p:cNvPr>
          <p:cNvSpPr txBox="1"/>
          <p:nvPr/>
        </p:nvSpPr>
        <p:spPr>
          <a:xfrm>
            <a:off x="1518012" y="4257917"/>
            <a:ext cx="69852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9789587-91FE-51C6-9B4D-FD77CA77EC35}"/>
              </a:ext>
            </a:extLst>
          </p:cNvPr>
          <p:cNvSpPr/>
          <p:nvPr/>
        </p:nvSpPr>
        <p:spPr>
          <a:xfrm>
            <a:off x="1574903" y="1535161"/>
            <a:ext cx="6985266" cy="26104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96FBAA-6D49-9729-D48C-CF20FBC4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8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50049F5-5119-3520-3607-C67F66D1BB1D}"/>
              </a:ext>
            </a:extLst>
          </p:cNvPr>
          <p:cNvSpPr txBox="1"/>
          <p:nvPr/>
        </p:nvSpPr>
        <p:spPr>
          <a:xfrm>
            <a:off x="1584158" y="3268411"/>
            <a:ext cx="76801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IsStringInLowerCase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81CC4-43FE-7C84-027E-944514FF5ECB}"/>
              </a:ext>
            </a:extLst>
          </p:cNvPr>
          <p:cNvSpPr txBox="1"/>
          <p:nvPr/>
        </p:nvSpPr>
        <p:spPr>
          <a:xfrm>
            <a:off x="1584158" y="4974293"/>
            <a:ext cx="76801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IsStringInLowerCase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15BF-BECE-4ACC-C004-27DC926C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подходящий способ передачи параметра в функцию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1920A3-1111-AD19-1D94-49F0BAAFD38A}"/>
              </a:ext>
            </a:extLst>
          </p:cNvPr>
          <p:cNvSpPr/>
          <p:nvPr/>
        </p:nvSpPr>
        <p:spPr>
          <a:xfrm>
            <a:off x="1584159" y="3286897"/>
            <a:ext cx="7572763" cy="16631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603E2-078C-1981-8C1E-DD14A5A730DC}"/>
              </a:ext>
            </a:extLst>
          </p:cNvPr>
          <p:cNvSpPr txBox="1"/>
          <p:nvPr/>
        </p:nvSpPr>
        <p:spPr>
          <a:xfrm flipH="1">
            <a:off x="4223792" y="6136644"/>
            <a:ext cx="638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Неизменяемый потенциально тяжёлый аргумент следует принимать </a:t>
            </a:r>
            <a:r>
              <a:rPr lang="ru-RU" b="1" dirty="0"/>
              <a:t>по константной ссылке</a:t>
            </a:r>
            <a:r>
              <a:rPr lang="ru-RU" dirty="0"/>
              <a:t>, чтобы не копировать его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FAF42-23DA-3023-A275-26A2092E2C50}"/>
              </a:ext>
            </a:extLst>
          </p:cNvPr>
          <p:cNvSpPr txBox="1"/>
          <p:nvPr/>
        </p:nvSpPr>
        <p:spPr>
          <a:xfrm>
            <a:off x="1584158" y="1556792"/>
            <a:ext cx="76801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IsStringInLowerCase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B3D6B0-C246-E6A4-9EE4-6F3CA888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78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DDE5-B663-5681-B8B5-EA99B9B5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функций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F98F6-E610-423B-196E-D3655754D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Перегрузка функций</a:t>
            </a:r>
            <a:r>
              <a:rPr lang="ru-RU" dirty="0"/>
              <a:t> — это возможность объявить несколько функций с одинаковым именем, но разными параметрами.</a:t>
            </a:r>
          </a:p>
          <a:p>
            <a:r>
              <a:rPr lang="ru-RU" b="1" dirty="0"/>
              <a:t>Различаться может:</a:t>
            </a:r>
            <a:endParaRPr lang="ru-RU" dirty="0"/>
          </a:p>
          <a:p>
            <a:pPr lvl="1"/>
            <a:r>
              <a:rPr lang="ru-RU" dirty="0"/>
              <a:t>количество параметров</a:t>
            </a:r>
          </a:p>
          <a:p>
            <a:pPr lvl="1"/>
            <a:r>
              <a:rPr lang="ru-RU" dirty="0"/>
              <a:t>типы параметров</a:t>
            </a:r>
          </a:p>
          <a:p>
            <a:pPr lvl="1"/>
            <a:r>
              <a:rPr lang="ru-RU" dirty="0"/>
              <a:t>порядок параметров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Add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a, 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b);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double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Add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double</a:t>
            </a:r>
            <a:r>
              <a:rPr lang="ru-RU" dirty="0">
                <a:latin typeface="Consolas" panose="020B0609020204030204" pitchFamily="49" charset="0"/>
              </a:rPr>
              <a:t> a, </a:t>
            </a:r>
            <a:r>
              <a:rPr lang="ru-RU" dirty="0" err="1">
                <a:latin typeface="Consolas" panose="020B0609020204030204" pitchFamily="49" charset="0"/>
              </a:rPr>
              <a:t>double</a:t>
            </a:r>
            <a:r>
              <a:rPr lang="ru-RU" dirty="0">
                <a:latin typeface="Consolas" panose="020B0609020204030204" pitchFamily="49" charset="0"/>
              </a:rPr>
              <a:t> b);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Add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a, 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b, 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c);</a:t>
            </a:r>
          </a:p>
          <a:p>
            <a:r>
              <a:rPr lang="ru-RU" b="1" dirty="0"/>
              <a:t>Нельзя перегружать только по типу возвращаемого значения</a:t>
            </a:r>
            <a:endParaRPr lang="ru-RU" dirty="0"/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ru-RU" dirty="0" err="1">
                <a:latin typeface="Consolas" panose="020B0609020204030204" pitchFamily="49" charset="0"/>
              </a:rPr>
              <a:t>Foo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x);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double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Foo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x); // Ошибка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65335-CA4C-43BF-AD52-C93F85885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2936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A36E8D-E728-AD3B-6A8F-B1C9AB72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25135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245D24-E94B-795A-9293-40FAAE2D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Пытаемся описать в программе человека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37938-0651-5238-699A-52DEDE4FEAEF}"/>
              </a:ext>
            </a:extLst>
          </p:cNvPr>
          <p:cNvSpPr txBox="1"/>
          <p:nvPr/>
        </p:nvSpPr>
        <p:spPr>
          <a:xfrm>
            <a:off x="838200" y="1988840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name1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Harry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surname2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Potter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birth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ear1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1980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name2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Ronald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surname2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Weasley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birth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ear2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1980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78135-6288-26D4-2FCA-D80361E6A5D2}"/>
              </a:ext>
            </a:extLst>
          </p:cNvPr>
          <p:cNvSpPr txBox="1"/>
          <p:nvPr/>
        </p:nvSpPr>
        <p:spPr>
          <a:xfrm>
            <a:off x="857491" y="43397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std::vector&lt;std::string&gt; names;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std::vector&lt;std::string&gt; surnames;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birth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9ECC37-77F7-DFFB-3DB9-2CFB607D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06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Структуры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 b="1" dirty="0">
                <a:solidFill>
                  <a:schemeClr val="hlink"/>
                </a:solidFill>
              </a:rPr>
              <a:t>Структура</a:t>
            </a:r>
            <a:r>
              <a:rPr lang="ru-RU" sz="2800" dirty="0"/>
              <a:t> - это одна или несколько переменных (возможно, различных типов), которые для удобства работы с ними сгруппированы под одним именем.</a:t>
            </a:r>
          </a:p>
          <a:p>
            <a:pPr lvl="1" eaLnBrk="1" hangingPunct="1"/>
            <a:r>
              <a:rPr lang="ru-RU" dirty="0"/>
              <a:t>Структуры помогают в организации сложных данных, позволяя группу связанных между собой переменных трактовать не как множество отдельных элементов, а как единое целое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1AB2E-6291-57D4-CC36-C39D0792A5F0}"/>
              </a:ext>
            </a:extLst>
          </p:cNvPr>
          <p:cNvSpPr txBox="1"/>
          <p:nvPr/>
        </p:nvSpPr>
        <p:spPr>
          <a:xfrm>
            <a:off x="1127448" y="467691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Person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name;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surname;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birthYear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FD41F7-69E0-8E94-2E62-31D62E8B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31807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524000" y="-12357"/>
            <a:ext cx="9144000" cy="30521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Структура </a:t>
            </a:r>
            <a:r>
              <a:rPr lang="ru-RU" sz="16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, задающая точку на плоскости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en-US" sz="16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x;</a:t>
            </a: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en-US" sz="16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};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Поля глобально объявленной структуры по умолчанию инициализируются нулями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spcAft>
                <a:spcPts val="1000"/>
              </a:spcAft>
              <a:tabLst>
                <a:tab pos="506413" algn="l"/>
              </a:tabLst>
            </a:pPr>
            <a:r>
              <a:rPr lang="ru-RU" sz="1600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globalPoint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en-US" sz="1600" dirty="0">
              <a:solidFill>
                <a:srgbClr val="000000"/>
              </a:solidFill>
              <a:latin typeface="Consolas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tabLst>
                <a:tab pos="506413" algn="l"/>
              </a:tabLst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A2C72E-D93B-D1C9-06FC-9CD0E54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58001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24000" y="1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06400"/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 i="1" dirty="0">
                <a:solidFill>
                  <a:srgbClr val="880000"/>
                </a:solidFill>
                <a:highlight>
                  <a:srgbClr val="FFFFFF"/>
                </a:highlight>
                <a:latin typeface="Consolas"/>
              </a:rPr>
              <a:t>main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pPr defTabSz="406400"/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 defTabSz="406400"/>
            <a:r>
              <a:rPr lang="en-US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Объявляем переменную </a:t>
            </a:r>
            <a:r>
              <a:rPr lang="ru-RU" sz="16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pt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, а затем инициализируем ее поля одно за другим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	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</a:t>
            </a:r>
            <a:r>
              <a:rPr lang="en-US" sz="1600" dirty="0" err="1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10;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</a:t>
            </a:r>
            <a:r>
              <a:rPr lang="en-US" sz="1600" dirty="0" err="1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20;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Объявление переменной-структуры можно совместить</a:t>
            </a:r>
          </a:p>
          <a:p>
            <a:pPr defTabSz="406400"/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// с инициализацией ее полей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	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pt0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 33, 24 };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pt0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33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pt0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24);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Еще один способ инициализации структуры при ее объявлении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	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 14, -22 };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14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-22);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// Недостающие поля при инициализации заполняются нулями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	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 21 };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21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	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{};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Поля глобальных и статических переменных-структур по умолчанию </a:t>
            </a:r>
          </a:p>
          <a:p>
            <a:pPr defTabSz="406400"/>
            <a:r>
              <a:rPr lang="en-US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инициализируются нулями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	static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pt4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pt4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pt4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globalPoint</a:t>
            </a:r>
            <a:r>
              <a:rPr lang="en-US" sz="1600" dirty="0" err="1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globalPoint</a:t>
            </a:r>
            <a:r>
              <a:rPr lang="en-US" sz="1600" dirty="0" err="1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</a:p>
          <a:p>
            <a:pPr defTabSz="4064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endParaRPr lang="ru-RU" sz="1600" dirty="0">
              <a:ea typeface="Calibri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440620-4651-A0B0-6090-DD92ED9E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18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24000" y="0"/>
            <a:ext cx="9144000" cy="6647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506413" algn="l"/>
              </a:tabLst>
            </a:pPr>
            <a:r>
              <a:rPr lang="en-US" sz="16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Triangle</a:t>
            </a:r>
            <a:endParaRPr lang="ru-RU" sz="1600" dirty="0">
              <a:ea typeface="Calibri"/>
              <a:cs typeface="Times New Roman"/>
            </a:endParaRPr>
          </a:p>
          <a:p>
            <a:pPr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600" dirty="0">
              <a:ea typeface="Calibri"/>
              <a:cs typeface="Times New Roman"/>
            </a:endParaRPr>
          </a:p>
          <a:p>
            <a:pPr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vertex3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>
              <a:tabLst>
                <a:tab pos="506413" algn="l"/>
              </a:tabLst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};</a:t>
            </a:r>
          </a:p>
          <a:p>
            <a:pPr defTabSz="520700"/>
            <a:endParaRPr lang="ru-RU" sz="1600" dirty="0">
              <a:solidFill>
                <a:srgbClr val="008000"/>
              </a:solidFill>
              <a:latin typeface="Consolas"/>
              <a:ea typeface="Calibri"/>
              <a:cs typeface="Times New Roman"/>
            </a:endParaRPr>
          </a:p>
          <a:p>
            <a:pPr defTabSz="520700"/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Инициализация структур, содержащих вложенные структуры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 i="1" dirty="0">
                <a:solidFill>
                  <a:srgbClr val="880000"/>
                </a:solidFill>
                <a:highlight>
                  <a:srgbClr val="FFFFFF"/>
                </a:highlight>
                <a:latin typeface="Consolas"/>
              </a:rPr>
              <a:t>main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pPr defTabSz="5207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Triangle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{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{0, 0}, 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{20, 100}, 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{30, 15}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};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20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100);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30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15);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Структура, все поля которой будут проинициализированы нулями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Triangle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{};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r>
              <a:rPr lang="ru-RU" sz="1600" dirty="0">
                <a:ea typeface="Calibri"/>
                <a:cs typeface="Times New Roman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EBB5B-AACD-E70A-1167-7AF7E90046D8}"/>
              </a:ext>
            </a:extLst>
          </p:cNvPr>
          <p:cNvSpPr txBox="1"/>
          <p:nvPr/>
        </p:nvSpPr>
        <p:spPr>
          <a:xfrm>
            <a:off x="5428230" y="0"/>
            <a:ext cx="5264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2"/>
              </a:rPr>
              <a:t>https://wandbox.org/permlink/rHWDQjFRIhIW4jKm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202B8-889E-9181-4B46-7EDD3873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1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24000" y="1992"/>
            <a:ext cx="9144000" cy="6422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20700"/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// Структуры в качестве параметров функций и возвращаемых значений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493713">
              <a:tabLst>
                <a:tab pos="506413" algn="l"/>
              </a:tabLst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double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CalculateDistance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const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Point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&amp;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, 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const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Point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&amp;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493713">
              <a:tabLst>
                <a:tab pos="506413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{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493713">
              <a:tabLst>
                <a:tab pos="506413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return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hypot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-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,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-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493713">
              <a:tabLst>
                <a:tab pos="506413" algn="l"/>
              </a:tabLst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}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Point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CalculateTriangleCenter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const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&amp;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{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return</a:t>
            </a:r>
            <a:r>
              <a:rPr lang="ru-RU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{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	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+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+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vertex3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 / 3,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	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+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+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vertex3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 / 3,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};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spcAft>
                <a:spcPts val="1000"/>
              </a:spcAft>
              <a:tabLst>
                <a:tab pos="457200" algn="l"/>
              </a:tabLst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}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300" i="1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ru-RU" sz="1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 {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	{ 0, 0 }, { 10, -20 }, {20, 20}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};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auto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 </a:t>
            </a:r>
            <a:r>
              <a:rPr lang="en-US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CalculateTriangleCenter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i="1" dirty="0">
                <a:solidFill>
                  <a:srgbClr val="6F008A"/>
                </a:solidFill>
                <a:latin typeface="Consolas" panose="020B0609020204030204" pitchFamily="49" charset="0"/>
                <a:ea typeface="Calibri"/>
                <a:cs typeface="Times New Roman"/>
              </a:rPr>
              <a:t>assert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== 10 &amp;&amp;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== 0);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 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// При передаче в функцию можно создать экземпляр структуры без объявления переменной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// В этом случае в функцию будет передана ссылка временный объект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 </a:t>
            </a:r>
            <a:r>
              <a:rPr lang="en-US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CalculateTriangleCenter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({ { 0, 0 }, { -20, 10 }, { 20, 20 } });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i="1" dirty="0">
                <a:solidFill>
                  <a:srgbClr val="6F008A"/>
                </a:solidFill>
                <a:latin typeface="Consolas" panose="020B0609020204030204" pitchFamily="49" charset="0"/>
                <a:ea typeface="Calibri"/>
                <a:cs typeface="Times New Roman"/>
              </a:rPr>
              <a:t>assert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== 0 &amp;&amp;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== 10);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 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Point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{ 1, 1 };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Point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{ 4, 5 };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double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distance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 </a:t>
            </a:r>
            <a:r>
              <a:rPr lang="en-US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CalculateDistance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,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// Проверка чисел с плавающей запятой на приблизительное равенство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i="1" dirty="0">
                <a:solidFill>
                  <a:srgbClr val="6F008A"/>
                </a:solidFill>
                <a:latin typeface="Consolas" panose="020B0609020204030204" pitchFamily="49" charset="0"/>
                <a:ea typeface="Calibri"/>
                <a:cs typeface="Times New Roman"/>
              </a:rPr>
              <a:t>assert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i="1" dirty="0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abs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distance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- 5.0) &lt;= 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::</a:t>
            </a:r>
            <a:r>
              <a:rPr lang="en-US" sz="1300" dirty="0" err="1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numeric_limits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&lt;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double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&gt;::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epsilon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());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>
              <a:spcAft>
                <a:spcPts val="1000"/>
              </a:spcAft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}</a:t>
            </a:r>
            <a:r>
              <a:rPr lang="ru-RU" sz="1300" dirty="0">
                <a:latin typeface="Consolas" panose="020B0609020204030204" pitchFamily="49" charset="0"/>
                <a:ea typeface="Calibri"/>
                <a:cs typeface="Times New Roman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4820E-6BD2-3EA0-1040-61FB9D9C0D41}"/>
              </a:ext>
            </a:extLst>
          </p:cNvPr>
          <p:cNvSpPr txBox="1"/>
          <p:nvPr/>
        </p:nvSpPr>
        <p:spPr>
          <a:xfrm>
            <a:off x="5400111" y="6486677"/>
            <a:ext cx="5232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2"/>
              </a:rPr>
              <a:t>https://wandbox.org/permlink/A1fCoKswoDUK62fv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F823D6-7543-DCB9-8430-2C34A144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07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0" y="0"/>
            <a:ext cx="892899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enum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Month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January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February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March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April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May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June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July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August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September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October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November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December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};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Date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day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year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};</a:t>
            </a:r>
          </a:p>
          <a:p>
            <a:pPr defTabSz="457200"/>
            <a:endParaRPr lang="en-US" dirty="0">
              <a:solidFill>
                <a:srgbClr val="000000"/>
              </a:solidFill>
              <a:latin typeface="Consolas"/>
              <a:ea typeface="Calibri"/>
              <a:cs typeface="Times New Roman"/>
            </a:endParaRPr>
          </a:p>
          <a:p>
            <a:pPr defTabSz="508000"/>
            <a:r>
              <a:rPr lang="ru-RU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</a:t>
            </a:r>
            <a:r>
              <a:rPr lang="ru-RU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ru-RU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- пример более сложной </a:t>
            </a:r>
            <a:r>
              <a:rPr lang="ru-RU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стуктуры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ru-RU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struct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address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Date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birthday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height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};</a:t>
            </a:r>
            <a:endParaRPr lang="ru-RU" dirty="0">
              <a:ea typeface="Calibri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15CC96-8BD5-5D4D-25E5-859FBD79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19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631504" y="44625"/>
            <a:ext cx="8424936" cy="67403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350838"/>
            <a:r>
              <a:rPr lang="ru-RU" sz="15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Проверка двух дат на равенство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bool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Date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&amp;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Date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&amp;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return</a:t>
            </a:r>
            <a:r>
              <a:rPr lang="ru-RU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day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day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 &amp;&amp;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 &amp;&amp;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year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year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Проверка двух людей на идентичность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bool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&amp;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&amp;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return</a:t>
            </a:r>
            <a:r>
              <a:rPr lang="ru-RU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name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name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 &amp;&amp;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address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address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 &amp;&amp;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500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birthday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birthday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 &amp;&amp;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p1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height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p2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height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</a:p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500" i="1" dirty="0">
                <a:solidFill>
                  <a:srgbClr val="880000"/>
                </a:solidFill>
                <a:highlight>
                  <a:srgbClr val="FFFFFF"/>
                </a:highlight>
                <a:latin typeface="Consolas"/>
              </a:rPr>
              <a:t>main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"Ivanov Ivan"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Suvorova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 Street, 17"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 10,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500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March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1975 }, 185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};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Sergeev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Egor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Sovetskaya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 Street, 24"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 11,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500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February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1990 }, 116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};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person3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"Ivanov Ivan"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Suvorova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 Street, 17"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 10,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500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March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1975 },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185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};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(!</a:t>
            </a:r>
            <a:r>
              <a:rPr lang="en-US" sz="1500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));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(!</a:t>
            </a:r>
            <a:r>
              <a:rPr lang="en-US" sz="1500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person3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));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500" i="1" dirty="0" err="1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ru-RU" sz="1500" dirty="0" err="1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person1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person3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));</a:t>
            </a:r>
            <a:endParaRPr lang="ru-RU" sz="1500" dirty="0">
              <a:ea typeface="Calibri"/>
              <a:cs typeface="Times New Roman"/>
            </a:endParaRPr>
          </a:p>
          <a:p>
            <a:pPr defTabSz="350838">
              <a:spcAft>
                <a:spcPts val="1000"/>
              </a:spcAft>
            </a:pP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endParaRPr lang="ru-RU" sz="1500" dirty="0">
              <a:ea typeface="Calibri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39E83-0AB2-93A3-3F7F-25C018EA21F6}"/>
              </a:ext>
            </a:extLst>
          </p:cNvPr>
          <p:cNvSpPr txBox="1"/>
          <p:nvPr/>
        </p:nvSpPr>
        <p:spPr>
          <a:xfrm>
            <a:off x="5308250" y="6471083"/>
            <a:ext cx="5359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3"/>
              </a:rPr>
              <a:t>https://wandbox.org/permlink/oJ626HXmxK29pvNv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5486FC-4EC2-6C5C-3C1B-A0C7BB969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06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68EB-3594-503F-26AE-2D5349A48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структур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9544-B98B-13C2-C51E-C724D96BE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FC608-E747-A2A2-2A72-BA775718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90424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CF84EB-3068-2149-D24E-08BB976E7178}"/>
              </a:ext>
            </a:extLst>
          </p:cNvPr>
          <p:cNvSpPr txBox="1"/>
          <p:nvPr/>
        </p:nvSpPr>
        <p:spPr>
          <a:xfrm>
            <a:off x="119336" y="0"/>
            <a:ext cx="1101722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MALE, FEMALE, 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name;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Имя.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Возраст.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Person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поля переменной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person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 предварительной инициализации.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Age: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Gender: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.gender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Gender::MALE)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.gender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Gender::FEMALE)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908DA-867E-9601-7AB2-00230DCBF555}"/>
              </a:ext>
            </a:extLst>
          </p:cNvPr>
          <p:cNvSpPr txBox="1"/>
          <p:nvPr/>
        </p:nvSpPr>
        <p:spPr>
          <a:xfrm>
            <a:off x="6888088" y="476672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выведет эта программа</a:t>
            </a:r>
            <a:r>
              <a:rPr lang="en-US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F3163-8A4A-7272-8227-F95E806110C6}"/>
              </a:ext>
            </a:extLst>
          </p:cNvPr>
          <p:cNvSpPr txBox="1"/>
          <p:nvPr/>
        </p:nvSpPr>
        <p:spPr>
          <a:xfrm>
            <a:off x="6968706" y="2271332"/>
            <a:ext cx="4560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MSVC: </a:t>
            </a:r>
            <a:r>
              <a:rPr lang="en-US" dirty="0">
                <a:hlinkClick r:id="rId2"/>
              </a:rPr>
              <a:t>https://godbolt.org/z/djfoczbh1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D8EE8-27C7-17F9-2A5B-15C0A4E83F85}"/>
              </a:ext>
            </a:extLst>
          </p:cNvPr>
          <p:cNvSpPr txBox="1"/>
          <p:nvPr/>
        </p:nvSpPr>
        <p:spPr>
          <a:xfrm>
            <a:off x="6968706" y="1376346"/>
            <a:ext cx="48969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GCC: </a:t>
            </a:r>
            <a:r>
              <a:rPr lang="en-US" dirty="0">
                <a:hlinkClick r:id="rId3"/>
              </a:rPr>
              <a:t>https://godbolt.org/z/jxGbM43sr</a:t>
            </a:r>
            <a:r>
              <a:rPr 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4CA56D-0362-B80A-C982-CF5012671751}"/>
              </a:ext>
            </a:extLst>
          </p:cNvPr>
          <p:cNvSpPr txBox="1"/>
          <p:nvPr/>
        </p:nvSpPr>
        <p:spPr>
          <a:xfrm>
            <a:off x="6997036" y="4869160"/>
            <a:ext cx="5075628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Name: </a:t>
            </a:r>
          </a:p>
          <a:p>
            <a:r>
              <a:rPr lang="en-US" dirty="0">
                <a:latin typeface="Consolas" panose="020B0609020204030204" pitchFamily="49" charset="0"/>
              </a:rPr>
              <a:t>Age: 0</a:t>
            </a:r>
          </a:p>
          <a:p>
            <a:r>
              <a:rPr lang="en-US" dirty="0">
                <a:latin typeface="Consolas" panose="020B0609020204030204" pitchFamily="49" charset="0"/>
              </a:rPr>
              <a:t>Gender: Male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7711BB-EBD0-FE36-1890-74753ECE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52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9E50D4-38F3-1613-2514-ADD61A1A1F55}"/>
              </a:ext>
            </a:extLst>
          </p:cNvPr>
          <p:cNvSpPr txBox="1"/>
          <p:nvPr/>
        </p:nvSpPr>
        <p:spPr>
          <a:xfrm>
            <a:off x="-32838" y="0"/>
            <a:ext cx="1063250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Gender { MALE, FEMALE, 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Person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name;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Имя.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age;    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Возраст.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Person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поля переменной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person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 предварительной инициализации.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person.name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"Gender: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Gender::MALE)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Gender::FEMALE)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"Unknown"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B399D2-55F8-4782-C1B8-ABB080DE1A5D}"/>
              </a:ext>
            </a:extLst>
          </p:cNvPr>
          <p:cNvSpPr txBox="1"/>
          <p:nvPr/>
        </p:nvSpPr>
        <p:spPr>
          <a:xfrm>
            <a:off x="6816080" y="961127"/>
            <a:ext cx="511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MSVC: </a:t>
            </a:r>
            <a:r>
              <a:rPr lang="en-US" dirty="0">
                <a:hlinkClick r:id="rId2"/>
              </a:rPr>
              <a:t>https://godbolt.org/z/a9Wbsva1q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133C8C-B16A-4A20-F8B7-98AC9ADF8442}"/>
              </a:ext>
            </a:extLst>
          </p:cNvPr>
          <p:cNvSpPr txBox="1"/>
          <p:nvPr/>
        </p:nvSpPr>
        <p:spPr>
          <a:xfrm>
            <a:off x="6575376" y="4581128"/>
            <a:ext cx="5353272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Name: </a:t>
            </a:r>
          </a:p>
          <a:p>
            <a:r>
              <a:rPr lang="en-US" dirty="0">
                <a:latin typeface="Consolas" panose="020B0609020204030204" pitchFamily="49" charset="0"/>
              </a:rPr>
              <a:t>Age: -263204376</a:t>
            </a:r>
          </a:p>
          <a:p>
            <a:r>
              <a:rPr lang="en-US" dirty="0">
                <a:latin typeface="Consolas" panose="020B0609020204030204" pitchFamily="49" charset="0"/>
              </a:rPr>
              <a:t>Gender: Unknown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43F6D1-8423-5E8D-71AD-5A13CDF2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825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2F6C8-B690-BC0E-4E5A-D1824538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8C62CA-5740-5657-0869-CCCF381FA575}"/>
              </a:ext>
            </a:extLst>
          </p:cNvPr>
          <p:cNvSpPr txBox="1"/>
          <p:nvPr/>
        </p:nvSpPr>
        <p:spPr>
          <a:xfrm>
            <a:off x="83333" y="0"/>
            <a:ext cx="1101722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MALE, FEMALE, 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name;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Имя.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age = 0;</a:t>
            </a:r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        // </a:t>
            </a:r>
            <a:r>
              <a:rPr lang="ru-RU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Возраст.</a:t>
            </a:r>
            <a:endParaRPr lang="ru-RU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Gender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gender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Gender::MALE;</a:t>
            </a:r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  // </a:t>
            </a:r>
            <a:r>
              <a:rPr lang="ru-RU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Пол.</a:t>
            </a:r>
            <a:endParaRPr lang="ru-RU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Person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поля переменной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person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 предварительной инициализации.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person.name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"Gender: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Gender::MALE)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Gender::FEMALE)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"Unknown"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B3E00-1100-9BD5-EDA7-F6EF01A043CA}"/>
              </a:ext>
            </a:extLst>
          </p:cNvPr>
          <p:cNvSpPr txBox="1"/>
          <p:nvPr/>
        </p:nvSpPr>
        <p:spPr>
          <a:xfrm>
            <a:off x="6888088" y="6381328"/>
            <a:ext cx="4929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Теперь всё </a:t>
            </a:r>
            <a:r>
              <a:rPr lang="en-US" dirty="0"/>
              <a:t>OK: </a:t>
            </a:r>
            <a:r>
              <a:rPr lang="en-US" dirty="0">
                <a:hlinkClick r:id="rId2"/>
              </a:rPr>
              <a:t>https://godbolt.org/z/1fxe66nGG</a:t>
            </a:r>
            <a:r>
              <a:rPr lang="en-US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C247C8-E2B4-A12D-1622-0D4993C5C602}"/>
              </a:ext>
            </a:extLst>
          </p:cNvPr>
          <p:cNvSpPr txBox="1"/>
          <p:nvPr/>
        </p:nvSpPr>
        <p:spPr>
          <a:xfrm>
            <a:off x="6997036" y="4869160"/>
            <a:ext cx="5075628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Name: </a:t>
            </a:r>
          </a:p>
          <a:p>
            <a:r>
              <a:rPr lang="en-US" dirty="0">
                <a:latin typeface="Consolas" panose="020B0609020204030204" pitchFamily="49" charset="0"/>
              </a:rPr>
              <a:t>Age: 0</a:t>
            </a:r>
          </a:p>
          <a:p>
            <a:r>
              <a:rPr lang="en-US" dirty="0">
                <a:latin typeface="Consolas" panose="020B0609020204030204" pitchFamily="49" charset="0"/>
              </a:rPr>
              <a:t>Gender: Male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5F1036-AD77-B9D2-74AD-EB025711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791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F5D5-6320-AAA3-4078-AF52B8269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Многофайловые</a:t>
            </a:r>
            <a:r>
              <a:rPr lang="ru-RU" dirty="0"/>
              <a:t> программы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FA182-779E-B77B-812C-35F9DAAA6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6503E-8427-41F7-EDBC-9A170CAB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21624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69520B-D0AD-8E1F-435B-4D19DFE34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Многофайловые</a:t>
            </a:r>
            <a:r>
              <a:rPr lang="ru-RU" dirty="0"/>
              <a:t> программы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67C7F8-F160-3993-B92D-15D7A1915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5952" cy="4351338"/>
          </a:xfrm>
        </p:spPr>
        <p:txBody>
          <a:bodyPr/>
          <a:lstStyle/>
          <a:p>
            <a:r>
              <a:rPr lang="ru-RU" b="1" dirty="0"/>
              <a:t>Зачем разделять программу на файлы</a:t>
            </a:r>
            <a:endParaRPr lang="ru-RU" dirty="0"/>
          </a:p>
          <a:p>
            <a:pPr lvl="1"/>
            <a:r>
              <a:rPr lang="ru-RU" dirty="0"/>
              <a:t>Упрощение структуры проекта</a:t>
            </a:r>
          </a:p>
          <a:p>
            <a:pPr lvl="1"/>
            <a:r>
              <a:rPr lang="ru-RU" dirty="0"/>
              <a:t>Повторное использование кода</a:t>
            </a:r>
          </a:p>
          <a:p>
            <a:pPr lvl="1"/>
            <a:r>
              <a:rPr lang="ru-RU" dirty="0"/>
              <a:t>Сокрытие деталей реализации</a:t>
            </a:r>
          </a:p>
          <a:p>
            <a:pPr lvl="1"/>
            <a:r>
              <a:rPr lang="ru-RU" dirty="0"/>
              <a:t>Ускорение компиляции</a:t>
            </a:r>
          </a:p>
          <a:p>
            <a:r>
              <a:rPr lang="ru-RU" b="1" dirty="0"/>
              <a:t>Типичная структура</a:t>
            </a:r>
            <a:endParaRPr lang="ru-RU" dirty="0"/>
          </a:p>
          <a:p>
            <a:pPr lvl="1"/>
            <a:r>
              <a:rPr lang="ru-RU" dirty="0"/>
              <a:t>Заголовочные файлы — .h / .</a:t>
            </a:r>
            <a:r>
              <a:rPr lang="ru-RU" dirty="0" err="1"/>
              <a:t>hpp</a:t>
            </a:r>
            <a:endParaRPr lang="ru-RU" dirty="0"/>
          </a:p>
          <a:p>
            <a:pPr lvl="1"/>
            <a:r>
              <a:rPr lang="ru-RU" dirty="0"/>
              <a:t>Файлы реализации — .</a:t>
            </a:r>
            <a:r>
              <a:rPr lang="ru-RU" dirty="0" err="1"/>
              <a:t>cpp</a:t>
            </a:r>
            <a:endParaRPr lang="ru-RU" dirty="0"/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D52A06-1962-8828-6179-893260AD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21388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71AD2B-FEB3-A819-D8E5-0834205A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Заголовочные файлы и файлы реализации</a:t>
            </a:r>
            <a:endParaRPr lang="en-US" dirty="0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A1C3EE3A-B7DD-D88F-0788-99497B31FC57}"/>
              </a:ext>
            </a:extLst>
          </p:cNvPr>
          <p:cNvSpPr/>
          <p:nvPr/>
        </p:nvSpPr>
        <p:spPr>
          <a:xfrm>
            <a:off x="1691681" y="1692626"/>
            <a:ext cx="2664296" cy="18002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en-US" dirty="0" err="1">
                <a:latin typeface="Consolas" panose="020B0609020204030204" pitchFamily="49" charset="0"/>
              </a:rPr>
              <a:t>sound.h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#pragma once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PlaySound</a:t>
            </a:r>
            <a:r>
              <a:rPr lang="en-US" dirty="0">
                <a:latin typeface="Consolas" panose="020B0609020204030204" pitchFamily="49" charset="0"/>
              </a:rPr>
              <a:t>(); 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7E646057-946A-C670-E5F2-58153BB99148}"/>
              </a:ext>
            </a:extLst>
          </p:cNvPr>
          <p:cNvSpPr/>
          <p:nvPr/>
        </p:nvSpPr>
        <p:spPr>
          <a:xfrm>
            <a:off x="1703513" y="4059425"/>
            <a:ext cx="2664296" cy="234888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// sound.cpp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#include "</a:t>
            </a:r>
            <a:r>
              <a:rPr lang="en-US" dirty="0" err="1">
                <a:latin typeface="Consolas" panose="020B0609020204030204" pitchFamily="49" charset="0"/>
              </a:rPr>
              <a:t>sound.h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PlaySound</a:t>
            </a:r>
            <a:r>
              <a:rPr lang="en-US" dirty="0"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latin typeface="Consolas" panose="020B0609020204030204" pitchFamily="49" charset="0"/>
              </a:rPr>
              <a:t>  …</a:t>
            </a:r>
          </a:p>
          <a:p>
            <a:r>
              <a:rPr lang="en-US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24DDA7FA-8DAF-CCBC-A7E9-E38A9AC25FA5}"/>
              </a:ext>
            </a:extLst>
          </p:cNvPr>
          <p:cNvSpPr/>
          <p:nvPr/>
        </p:nvSpPr>
        <p:spPr>
          <a:xfrm>
            <a:off x="4763852" y="4059425"/>
            <a:ext cx="2916324" cy="234888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// graphics.cpp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#include "</a:t>
            </a:r>
            <a:r>
              <a:rPr lang="en-US" dirty="0" err="1">
                <a:latin typeface="Consolas" panose="020B0609020204030204" pitchFamily="49" charset="0"/>
              </a:rPr>
              <a:t>graphics.h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DrawRect</a:t>
            </a:r>
            <a:r>
              <a:rPr lang="en-US" dirty="0"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latin typeface="Consolas" panose="020B0609020204030204" pitchFamily="49" charset="0"/>
              </a:rPr>
              <a:t>  …</a:t>
            </a:r>
          </a:p>
          <a:p>
            <a:r>
              <a:rPr lang="en-US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E00D7AFD-0FFB-AC3C-D59C-7917BE7F5FE1}"/>
              </a:ext>
            </a:extLst>
          </p:cNvPr>
          <p:cNvSpPr/>
          <p:nvPr/>
        </p:nvSpPr>
        <p:spPr>
          <a:xfrm>
            <a:off x="4763852" y="1692626"/>
            <a:ext cx="2664296" cy="18002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en-US" dirty="0" err="1">
                <a:latin typeface="Consolas" panose="020B0609020204030204" pitchFamily="49" charset="0"/>
              </a:rPr>
              <a:t>graphics.h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#pragma once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DrawRect</a:t>
            </a:r>
            <a:r>
              <a:rPr lang="en-US" dirty="0">
                <a:latin typeface="Consolas" panose="020B0609020204030204" pitchFamily="49" charset="0"/>
              </a:rPr>
              <a:t>(); 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3DA6B080-1DCC-3E5E-81C3-AA8E8300F83C}"/>
              </a:ext>
            </a:extLst>
          </p:cNvPr>
          <p:cNvSpPr/>
          <p:nvPr/>
        </p:nvSpPr>
        <p:spPr>
          <a:xfrm>
            <a:off x="8184232" y="3492826"/>
            <a:ext cx="3169568" cy="291547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// main.cpp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#include "</a:t>
            </a:r>
            <a:r>
              <a:rPr lang="en-US" dirty="0" err="1">
                <a:latin typeface="Consolas" panose="020B0609020204030204" pitchFamily="49" charset="0"/>
              </a:rPr>
              <a:t>sound.h</a:t>
            </a:r>
            <a:r>
              <a:rPr lang="en-US" dirty="0">
                <a:latin typeface="Consolas" panose="020B0609020204030204" pitchFamily="49" charset="0"/>
              </a:rPr>
              <a:t>“</a:t>
            </a:r>
          </a:p>
          <a:p>
            <a:r>
              <a:rPr lang="en-US" dirty="0">
                <a:latin typeface="Consolas" panose="020B0609020204030204" pitchFamily="49" charset="0"/>
              </a:rPr>
              <a:t>#include "</a:t>
            </a:r>
            <a:r>
              <a:rPr lang="en-US" dirty="0" err="1">
                <a:latin typeface="Consolas" panose="020B0609020204030204" pitchFamily="49" charset="0"/>
              </a:rPr>
              <a:t>graphics.h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PlaySound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DrawRect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30AA73F-6462-C5A0-2C50-8C0F9557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158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FCBF58-FADA-B706-AFAC-C8C65D69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Встраиваемые (</a:t>
            </a:r>
            <a:r>
              <a:rPr lang="en-US" dirty="0"/>
              <a:t>inline)</a:t>
            </a:r>
            <a:r>
              <a:rPr lang="ru-RU" dirty="0"/>
              <a:t> функции в заголовочных файлах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194A8-193C-123F-780D-A0C33BAC4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Функции можно определять прямо в заголовочном файле, если они объявлены как </a:t>
            </a:r>
            <a:r>
              <a:rPr lang="ru-RU" dirty="0" err="1"/>
              <a:t>inline</a:t>
            </a:r>
            <a:endParaRPr lang="ru-RU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en-US" dirty="0" err="1">
                <a:latin typeface="Consolas" panose="020B0609020204030204" pitchFamily="49" charset="0"/>
              </a:rPr>
              <a:t>math_utils.h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#pragma once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inline int Square(int x) 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x * x;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b="1" dirty="0"/>
              <a:t>Почему нужен </a:t>
            </a:r>
            <a:r>
              <a:rPr lang="ru-RU" b="1" dirty="0" err="1"/>
              <a:t>inline</a:t>
            </a:r>
            <a:endParaRPr lang="ru-RU" dirty="0"/>
          </a:p>
          <a:p>
            <a:pPr lvl="1"/>
            <a:r>
              <a:rPr lang="ru-RU" dirty="0"/>
              <a:t>Разрешает несколько одинаковых определений</a:t>
            </a:r>
          </a:p>
          <a:p>
            <a:pPr lvl="1"/>
            <a:r>
              <a:rPr lang="ru-RU" dirty="0"/>
              <a:t>Не нарушает ODR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7AD7B-5D4F-8978-9EF5-E757379E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5934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961988-34DA-B5CF-D9B4-3CC98F7F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6533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Массивы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/>
              <a:t>Массивы позволяют объявить несколько (один и более) последовательных объектов, объединенных под одним именем, и осуществлять к ним индексированный доступ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В качестве индексов используются целые числа, или типы, приводимые к целым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Размер массива задается статически на этапе компиляции и не может быть изменен в ходе работы программы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Индекс начального элемента массива равен </a:t>
            </a:r>
            <a:r>
              <a:rPr lang="ru-RU" b="1" dirty="0">
                <a:solidFill>
                  <a:srgbClr val="FF0000"/>
                </a:solidFill>
              </a:rPr>
              <a:t>нулю</a:t>
            </a:r>
            <a:endParaRPr lang="ru-RU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Есть возможность объявления многомерных массивов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CB652E-CA1D-F8A7-F5B6-F75E2602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147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839128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97608" y="0"/>
            <a:ext cx="9170392" cy="7094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#include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cassert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#include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&lt;string&gt;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g_globalArray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[3];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Глобальные переменные-массивы по умолчанию инициализируются </a:t>
            </a:r>
            <a:r>
              <a:rPr lang="ru-RU" sz="13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нуляем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g_globalArray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[0] == 0 &amp;&amp;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g_globalArray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[1] == 0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&amp;&amp;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g_globalArray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[2] == 0);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Массив из 3-х элементов. Элементы не проинициализированы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floatNumbers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[3];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floatNumbers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[0] = 1.0;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floatNumbers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[1] = 3.5;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floatNumbers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[2] = -4.5;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Массив при объявлении может быть проинициализирован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[[</a:t>
            </a:r>
            <a:r>
              <a:rPr lang="de-DE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maybe_unused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]]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doubleNumbers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[3] = { 3.8, 2.1, 3.53 };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Элементы массива, не указанные при инициализации, равны нулю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zeroFilledArray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[3] = { 3.5, 7.2 };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zeroFilledArray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[2] == 0.0);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Элементы проинициализированы нулями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[[</a:t>
            </a:r>
            <a:r>
              <a:rPr lang="de-DE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maybe_unused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]]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zeroInitializedArray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[3] = { };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Если не указать размер массива при инициализации, 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он будет определен автоматически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[[</a:t>
            </a:r>
            <a:r>
              <a:rPr lang="de-DE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maybe_unused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]]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arrayOf5Items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[] = { 3.5, 8.7, 2.3, -1.25, 0.0 };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3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"John"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surname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"Doe"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При инициализации элементов массив могут также использоваться выражения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3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[] = {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"Ivan"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"Sergey"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 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surname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};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Так можно определить количество элементов в массиве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3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3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size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== 3);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userNames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[2] </a:t>
            </a:r>
            <a:r>
              <a:rPr lang="ru-RU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==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John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Doe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F1684B-660D-F245-6166-C6F78B86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44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 символов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916832"/>
            <a:ext cx="9506272" cy="3577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ArrayOfChars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Константный массив из 5 элементов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[] = {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'\0'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};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Неконстантный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массив из 4 элементов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surname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[] =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Doe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Константный массив из 6 элементов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hello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[6] =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Hello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ECF3F-1832-8BC2-A974-40E078B2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63017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размера массива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844824"/>
            <a:ext cx="105156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cassert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&lt;string&gt;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userNames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= {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"Ivan"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"Sergey"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Stepan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userNames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== 3);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= {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'J'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'o'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'h'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'n'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'\0'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== 5);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arr2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"Doe"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arr2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== 4);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84111-576D-1C88-0346-40EA4C5B3F7E}"/>
              </a:ext>
            </a:extLst>
          </p:cNvPr>
          <p:cNvSpPr txBox="1"/>
          <p:nvPr/>
        </p:nvSpPr>
        <p:spPr>
          <a:xfrm>
            <a:off x="6312024" y="6123543"/>
            <a:ext cx="5544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https://godbolt.org/z/Ka548vKcn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FC3BD-B17A-6A5A-8A67-24CD7E0A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58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массивы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690689"/>
            <a:ext cx="94611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cassert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Matrix2x2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[2][2];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lang="ru-RU" sz="1600" dirty="0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Matrix2x2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{1.0, 2.5},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{4.5, 3.2}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== 1.0);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[0][1] == 2.5);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[1][0] == 4.5);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[1][1] == 3.2);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4A89C-CB0E-660D-95EC-C381DCDDA818}"/>
              </a:ext>
            </a:extLst>
          </p:cNvPr>
          <p:cNvSpPr txBox="1"/>
          <p:nvPr/>
        </p:nvSpPr>
        <p:spPr>
          <a:xfrm>
            <a:off x="6096000" y="58052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https://godbolt.org/z/dseoYPEMo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67DF1-76F5-1262-4038-D535EA0D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38377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массива в функцию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9336" y="1690688"/>
            <a:ext cx="424847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cassert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 Matrix2x2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[2][2];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Matrix2x2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mat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 3.0;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WrappedMatrix2x2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Matrix2x2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WrappedMatrix2x2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 3.0;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151784" y="1546634"/>
            <a:ext cx="756084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Matrix2x2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{1.0, 2.5},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{4.5, 3.2}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== 1.0);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При передаче массива в функцию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будет передан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оригинал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Модификация элементов массива внутри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изменит переданный массив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== 3.0);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WrappedMatrix2x2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{ 1.0, 2.5 },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{ 4.5, 3.2 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 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В функцию Fn2 будет передана копия структуры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Модификация элементов массива внутри Fn2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не изменит оригинал</a:t>
            </a:r>
            <a:endParaRPr lang="en-US" sz="1400" dirty="0">
              <a:solidFill>
                <a:srgbClr val="008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items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== 1.0);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1000"/>
              </a:spcAft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0F1E5-06BE-FA15-BE88-0EDA5E670679}"/>
              </a:ext>
            </a:extLst>
          </p:cNvPr>
          <p:cNvSpPr txBox="1"/>
          <p:nvPr/>
        </p:nvSpPr>
        <p:spPr>
          <a:xfrm>
            <a:off x="119337" y="6340238"/>
            <a:ext cx="3456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https://godbolt.org/z/Pd3Tns5js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82924-E00D-79B4-C107-B0B537E0E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93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99CCB-B27D-EBBF-08A1-56A486E9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83319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Ссылка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Ссылку можно рассматривать как еще одно имя объекта</a:t>
            </a:r>
            <a:endParaRPr lang="ru-RU" sz="2800" dirty="0"/>
          </a:p>
          <a:p>
            <a:pPr>
              <a:lnSpc>
                <a:spcPct val="90000"/>
              </a:lnSpc>
            </a:pPr>
            <a:r>
              <a:rPr lang="ru-RU" sz="2800" dirty="0"/>
              <a:t>При объявлении ссылка должна быть обязательно проинициализирована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Синтаксис</a:t>
            </a:r>
          </a:p>
          <a:p>
            <a:pPr lvl="2">
              <a:lnSpc>
                <a:spcPct val="90000"/>
              </a:lnSpc>
            </a:pPr>
            <a:r>
              <a:rPr lang="ru-RU" sz="2000" dirty="0"/>
              <a:t>Тип </a:t>
            </a:r>
            <a:r>
              <a:rPr lang="en-US" sz="2000" dirty="0"/>
              <a:t>&amp; </a:t>
            </a:r>
            <a:r>
              <a:rPr lang="ru-RU" sz="2000" dirty="0"/>
              <a:t>идентификатор = переменная</a:t>
            </a:r>
            <a:r>
              <a:rPr lang="en-US" sz="2000" dirty="0"/>
              <a:t>;</a:t>
            </a:r>
            <a:endParaRPr lang="ru-RU" sz="2000" dirty="0"/>
          </a:p>
          <a:p>
            <a:pPr>
              <a:lnSpc>
                <a:spcPct val="90000"/>
              </a:lnSpc>
            </a:pPr>
            <a:r>
              <a:rPr lang="ru-RU" sz="2800" dirty="0"/>
              <a:t>Объявление ссылки отличается от операции присваивания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Инициализация создаёт ссылку, которая ссылается на другой объект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Операция присваивания </a:t>
            </a:r>
            <a:r>
              <a:rPr lang="ru-RU" b="1" dirty="0"/>
              <a:t>изменяет значение объекта</a:t>
            </a:r>
            <a:r>
              <a:rPr lang="ru-RU" dirty="0"/>
              <a:t>, на который ссылается ссылка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60B15-67A0-F197-5DA8-E9B126ADE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154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873656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3090EF-DFCE-9A72-F5FD-D748E271C393}"/>
              </a:ext>
            </a:extLst>
          </p:cNvPr>
          <p:cNvSpPr txBox="1"/>
          <p:nvPr/>
        </p:nvSpPr>
        <p:spPr>
          <a:xfrm>
            <a:off x="0" y="0"/>
            <a:ext cx="1257672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Ivan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переменная типа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std::string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Ссылка на переменную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Ivanov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Изменяем переменную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используя ссылку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Ivan Ivanov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Ссылка на текущий элемент массива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Перебираем элементы по ссылке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13, 23, 33, 43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3285B8-19DC-DDCF-A2AE-E7168F21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65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Обмен значений переменных</a:t>
            </a: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838200" y="1786577"/>
            <a:ext cx="7831634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#include &lt;iostream&gt;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using namespace std;</a:t>
            </a:r>
            <a:endParaRPr lang="ru-RU" sz="1600" dirty="0">
              <a:latin typeface="Consolas" panose="020B0609020204030204" pitchFamily="49" charset="0"/>
            </a:endParaRPr>
          </a:p>
          <a:p>
            <a:pPr>
              <a:tabLst>
                <a:tab pos="446088" algn="l"/>
              </a:tabLst>
            </a:pPr>
            <a:endParaRPr lang="ru-RU" sz="1600" dirty="0">
              <a:latin typeface="Consolas" panose="020B0609020204030204" pitchFamily="49" charset="0"/>
            </a:endParaRP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// </a:t>
            </a:r>
            <a:r>
              <a:rPr lang="ru-RU" sz="1600" dirty="0">
                <a:latin typeface="Consolas" panose="020B0609020204030204" pitchFamily="49" charset="0"/>
              </a:rPr>
              <a:t>Обменивает значения своих параметров</a:t>
            </a:r>
          </a:p>
          <a:p>
            <a:pPr>
              <a:tabLst>
                <a:tab pos="446088" algn="l"/>
              </a:tabLst>
            </a:pPr>
            <a:r>
              <a:rPr lang="ru-RU" sz="1600" dirty="0" err="1">
                <a:latin typeface="Consolas" panose="020B0609020204030204" pitchFamily="49" charset="0"/>
              </a:rPr>
              <a:t>void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Swap</a:t>
            </a:r>
            <a:r>
              <a:rPr lang="ru-RU" sz="1600" dirty="0">
                <a:latin typeface="Consolas" panose="020B0609020204030204" pitchFamily="49" charset="0"/>
              </a:rPr>
              <a:t>(</a:t>
            </a:r>
            <a:r>
              <a:rPr lang="ru-RU" sz="1600" dirty="0" err="1">
                <a:latin typeface="Consolas" panose="020B0609020204030204" pitchFamily="49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</a:rPr>
              <a:t>&amp; a, </a:t>
            </a:r>
            <a:r>
              <a:rPr lang="ru-RU" sz="1600" dirty="0" err="1">
                <a:latin typeface="Consolas" panose="020B0609020204030204" pitchFamily="49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</a:rPr>
              <a:t>&amp; b)</a:t>
            </a:r>
          </a:p>
          <a:p>
            <a:pPr>
              <a:tabLst>
                <a:tab pos="446088" algn="l"/>
              </a:tabLst>
            </a:pPr>
            <a:r>
              <a:rPr lang="ru-RU" sz="1600" dirty="0">
                <a:latin typeface="Consolas" panose="020B0609020204030204" pitchFamily="49" charset="0"/>
              </a:rPr>
              <a:t>{</a:t>
            </a:r>
          </a:p>
          <a:p>
            <a:pPr>
              <a:tabLst>
                <a:tab pos="446088" algn="l"/>
              </a:tabLst>
            </a:pPr>
            <a:r>
              <a:rPr lang="ru-RU" sz="1600" dirty="0">
                <a:latin typeface="Consolas" panose="020B0609020204030204" pitchFamily="49" charset="0"/>
              </a:rPr>
              <a:t>	</a:t>
            </a:r>
            <a:r>
              <a:rPr lang="ru-RU" sz="1600" dirty="0" err="1">
                <a:latin typeface="Consolas" panose="020B0609020204030204" pitchFamily="49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tmp</a:t>
            </a:r>
            <a:r>
              <a:rPr lang="ru-RU" sz="1600" dirty="0">
                <a:latin typeface="Consolas" panose="020B0609020204030204" pitchFamily="49" charset="0"/>
              </a:rPr>
              <a:t> = a;</a:t>
            </a:r>
          </a:p>
          <a:p>
            <a:pPr>
              <a:tabLst>
                <a:tab pos="446088" algn="l"/>
              </a:tabLst>
            </a:pPr>
            <a:r>
              <a:rPr lang="ru-RU" sz="1600" dirty="0">
                <a:latin typeface="Consolas" panose="020B0609020204030204" pitchFamily="49" charset="0"/>
              </a:rPr>
              <a:t>	a = b;</a:t>
            </a:r>
          </a:p>
          <a:p>
            <a:pPr>
              <a:tabLst>
                <a:tab pos="446088" algn="l"/>
              </a:tabLst>
            </a:pPr>
            <a:r>
              <a:rPr lang="ru-RU" sz="1600" dirty="0">
                <a:latin typeface="Consolas" panose="020B0609020204030204" pitchFamily="49" charset="0"/>
              </a:rPr>
              <a:t>	b = </a:t>
            </a:r>
            <a:r>
              <a:rPr lang="ru-RU" sz="1600" dirty="0" err="1">
                <a:latin typeface="Consolas" panose="020B0609020204030204" pitchFamily="49" charset="0"/>
              </a:rPr>
              <a:t>tmp</a:t>
            </a:r>
            <a:r>
              <a:rPr lang="ru-RU" sz="1600" dirty="0">
                <a:latin typeface="Consolas" panose="020B0609020204030204" pitchFamily="49" charset="0"/>
              </a:rPr>
              <a:t>;</a:t>
            </a:r>
          </a:p>
          <a:p>
            <a:pPr>
              <a:tabLst>
                <a:tab pos="446088" algn="l"/>
              </a:tabLst>
            </a:pPr>
            <a:r>
              <a:rPr lang="ru-RU" sz="1600" dirty="0">
                <a:latin typeface="Consolas" panose="020B0609020204030204" pitchFamily="49" charset="0"/>
              </a:rPr>
              <a:t>}</a:t>
            </a:r>
          </a:p>
          <a:p>
            <a:pPr>
              <a:tabLst>
                <a:tab pos="446088" algn="l"/>
              </a:tabLst>
            </a:pPr>
            <a:endParaRPr lang="ru-RU" sz="1600" dirty="0">
              <a:latin typeface="Consolas" panose="020B0609020204030204" pitchFamily="49" charset="0"/>
            </a:endParaRP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int main()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int a = 1, b = 3;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"a=" &lt;&lt; a &lt;&lt; ", b=" &lt;&lt; b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Swap(a, b);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"a=" &lt;&lt; a &lt;&lt; ", b=" &lt;&lt; b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7949406" y="5756895"/>
            <a:ext cx="2592388" cy="1079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>
                <a:latin typeface="Courier New" pitchFamily="49" charset="0"/>
              </a:rPr>
              <a:t>OUTPUT</a:t>
            </a:r>
          </a:p>
          <a:p>
            <a:r>
              <a:rPr lang="en-US" dirty="0">
                <a:latin typeface="Courier New" pitchFamily="49" charset="0"/>
              </a:rPr>
              <a:t>a=1, b=3</a:t>
            </a:r>
          </a:p>
          <a:p>
            <a:r>
              <a:rPr lang="en-US" dirty="0">
                <a:latin typeface="Courier New" pitchFamily="49" charset="0"/>
              </a:rPr>
              <a:t>a=3, b=1</a:t>
            </a:r>
            <a:endParaRPr lang="ru-RU" dirty="0">
              <a:latin typeface="Courier New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B65DFA-2199-49FA-12FD-6CAA9A8A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156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655159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Константные ссылки в качестве параметров функций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Параметр, переданный в функцию по константной ссылке, доступен внутри нее только для чтения</a:t>
            </a:r>
          </a:p>
          <a:p>
            <a:r>
              <a:rPr lang="ru-RU" dirty="0"/>
              <a:t>Если функция не изменяет значение своего аргумента, то имеет смысл передавать его по </a:t>
            </a:r>
            <a:r>
              <a:rPr lang="ru-RU" b="1" dirty="0"/>
              <a:t>константной ссылке</a:t>
            </a:r>
          </a:p>
          <a:p>
            <a:pPr lvl="1"/>
            <a:r>
              <a:rPr lang="ru-RU" dirty="0"/>
              <a:t>Простые типы данных эффективнее передавать по значению</a:t>
            </a:r>
            <a:endParaRPr lang="en-US" dirty="0"/>
          </a:p>
          <a:p>
            <a:pPr lvl="2"/>
            <a:r>
              <a:rPr lang="en-US" dirty="0"/>
              <a:t>char, short, int, float, double</a:t>
            </a:r>
          </a:p>
          <a:p>
            <a:pPr lvl="2"/>
            <a:r>
              <a:rPr lang="ru-RU" dirty="0"/>
              <a:t>Простые структуры (3-4 примитивных поля)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F7D3E-177F-5B48-0311-5CFDB960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91207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Вывод структуры</a:t>
            </a:r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911425" y="1556792"/>
            <a:ext cx="8847742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20713"/>
            <a:r>
              <a:rPr lang="ru-RU" dirty="0" err="1">
                <a:latin typeface="Consolas" panose="020B0609020204030204" pitchFamily="49" charset="0"/>
              </a:rPr>
              <a:t>struct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Point</a:t>
            </a:r>
            <a:endParaRPr lang="ru-RU" dirty="0">
              <a:latin typeface="Consolas" panose="020B0609020204030204" pitchFamily="49" charset="0"/>
            </a:endParaRP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x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y</a:t>
            </a:r>
            <a:r>
              <a:rPr lang="ru-RU" dirty="0">
                <a:latin typeface="Consolas" panose="020B0609020204030204" pitchFamily="49" charset="0"/>
              </a:rPr>
              <a:t>;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};</a:t>
            </a:r>
          </a:p>
          <a:p>
            <a:pPr defTabSz="620713"/>
            <a:endParaRPr lang="ru-RU" dirty="0">
              <a:latin typeface="Consolas" panose="020B0609020204030204" pitchFamily="49" charset="0"/>
            </a:endParaRPr>
          </a:p>
          <a:p>
            <a:pPr defTabSz="620713"/>
            <a:r>
              <a:rPr lang="ru-RU" dirty="0" err="1">
                <a:latin typeface="Consolas" panose="020B0609020204030204" pitchFamily="49" charset="0"/>
              </a:rPr>
              <a:t>void</a:t>
            </a:r>
            <a:r>
              <a:rPr lang="ru-RU" dirty="0">
                <a:latin typeface="Consolas" panose="020B0609020204030204" pitchFamily="49" charset="0"/>
              </a:rPr>
              <a:t> Print(</a:t>
            </a:r>
            <a:r>
              <a:rPr lang="ru-RU" dirty="0" err="1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 Point&amp; </a:t>
            </a:r>
            <a:r>
              <a:rPr lang="ru-RU" dirty="0" err="1">
                <a:solidFill>
                  <a:srgbClr val="FF0000"/>
                </a:solidFill>
                <a:latin typeface="Consolas" panose="020B0609020204030204" pitchFamily="49" charset="0"/>
              </a:rPr>
              <a:t>pnt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</a:t>
            </a:r>
            <a:r>
              <a:rPr lang="ru-RU" dirty="0">
                <a:latin typeface="Consolas" panose="020B0609020204030204" pitchFamily="49" charset="0"/>
              </a:rPr>
              <a:t>"(x:</a:t>
            </a:r>
            <a:r>
              <a:rPr lang="en-US" dirty="0">
                <a:latin typeface="Consolas" panose="020B0609020204030204" pitchFamily="49" charset="0"/>
              </a:rPr>
              <a:t>" &lt;&lt; </a:t>
            </a:r>
            <a:r>
              <a:rPr lang="en-US" dirty="0" err="1">
                <a:latin typeface="Consolas" panose="020B0609020204030204" pitchFamily="49" charset="0"/>
              </a:rPr>
              <a:t>pnt.x</a:t>
            </a:r>
            <a:r>
              <a:rPr lang="en-US" dirty="0">
                <a:latin typeface="Consolas" panose="020B0609020204030204" pitchFamily="49" charset="0"/>
              </a:rPr>
              <a:t> &lt;&lt; "</a:t>
            </a:r>
            <a:r>
              <a:rPr lang="ru-RU" dirty="0">
                <a:latin typeface="Consolas" panose="020B0609020204030204" pitchFamily="49" charset="0"/>
              </a:rPr>
              <a:t>, y:</a:t>
            </a:r>
            <a:r>
              <a:rPr lang="en-US" dirty="0">
                <a:latin typeface="Consolas" panose="020B0609020204030204" pitchFamily="49" charset="0"/>
              </a:rPr>
              <a:t>" &lt;&lt; </a:t>
            </a:r>
            <a:r>
              <a:rPr lang="en-US" dirty="0" err="1">
                <a:latin typeface="Consolas" panose="020B0609020204030204" pitchFamily="49" charset="0"/>
              </a:rPr>
              <a:t>pnt.y</a:t>
            </a:r>
            <a:r>
              <a:rPr lang="en-US" dirty="0">
                <a:latin typeface="Consolas" panose="020B0609020204030204" pitchFamily="49" charset="0"/>
              </a:rPr>
              <a:t> &lt;&lt; "</a:t>
            </a:r>
            <a:r>
              <a:rPr lang="ru-RU" dirty="0">
                <a:latin typeface="Consolas" panose="020B0609020204030204" pitchFamily="49" charset="0"/>
              </a:rPr>
              <a:t>\n";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pPr defTabSz="620713"/>
            <a:endParaRPr lang="ru-RU" dirty="0">
              <a:latin typeface="Consolas" panose="020B0609020204030204" pitchFamily="49" charset="0"/>
            </a:endParaRPr>
          </a:p>
          <a:p>
            <a:pPr defTabSz="620713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main</a:t>
            </a:r>
            <a:r>
              <a:rPr lang="ru-RU" dirty="0">
                <a:latin typeface="Consolas" panose="020B0609020204030204" pitchFamily="49" charset="0"/>
              </a:rPr>
              <a:t>()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pPr defTabSz="620713"/>
            <a:r>
              <a:rPr lang="en-US" dirty="0">
                <a:latin typeface="Consolas" panose="020B0609020204030204" pitchFamily="49" charset="0"/>
              </a:rPr>
              <a:t>	Point </a:t>
            </a:r>
            <a:r>
              <a:rPr lang="en-US" dirty="0" err="1">
                <a:latin typeface="Consolas" panose="020B0609020204030204" pitchFamily="49" charset="0"/>
              </a:rPr>
              <a:t>pnt</a:t>
            </a:r>
            <a:r>
              <a:rPr lang="en-US" dirty="0">
                <a:latin typeface="Consolas" panose="020B0609020204030204" pitchFamily="49" charset="0"/>
              </a:rPr>
              <a:t> = {10, 20};</a:t>
            </a:r>
          </a:p>
          <a:p>
            <a:pPr defTabSz="620713"/>
            <a:r>
              <a:rPr lang="en-US" dirty="0">
                <a:latin typeface="Consolas" panose="020B0609020204030204" pitchFamily="49" charset="0"/>
              </a:rPr>
              <a:t>	Print(</a:t>
            </a:r>
            <a:r>
              <a:rPr lang="en-US" dirty="0" err="1">
                <a:latin typeface="Consolas" panose="020B0609020204030204" pitchFamily="49" charset="0"/>
              </a:rPr>
              <a:t>pnt</a:t>
            </a:r>
            <a:r>
              <a:rPr lang="en-US" dirty="0">
                <a:latin typeface="Consolas" panose="020B0609020204030204" pitchFamily="49" charset="0"/>
              </a:rPr>
              <a:t>);  // </a:t>
            </a:r>
            <a:r>
              <a:rPr lang="ru-RU" dirty="0">
                <a:latin typeface="Consolas" panose="020B0609020204030204" pitchFamily="49" charset="0"/>
              </a:rPr>
              <a:t>Выведет </a:t>
            </a:r>
            <a:r>
              <a:rPr lang="en-US" dirty="0">
                <a:latin typeface="Consolas" panose="020B0609020204030204" pitchFamily="49" charset="0"/>
              </a:rPr>
              <a:t>(x:10, y:20)</a:t>
            </a:r>
          </a:p>
          <a:p>
            <a:pPr defTabSz="620713"/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9FC0B-B905-0BC1-083B-2474C057127C}"/>
              </a:ext>
            </a:extLst>
          </p:cNvPr>
          <p:cNvSpPr txBox="1"/>
          <p:nvPr/>
        </p:nvSpPr>
        <p:spPr>
          <a:xfrm>
            <a:off x="5484318" y="6363646"/>
            <a:ext cx="5183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4"/>
              </a:rPr>
              <a:t>https://wandbox.org/permlink/QriyqMmk8blrmotj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8D73B0-BE38-C51E-C870-7D35E99C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669526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Ссылки на временные объекты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Если при инициализации ссылка и объект имеют разные типы, создается временная копия нужного типа. Ссылка ссылается на копию</a:t>
            </a:r>
          </a:p>
          <a:p>
            <a:pPr lvl="1"/>
            <a:r>
              <a:rPr lang="ru-RU" dirty="0"/>
              <a:t>Ссылка должна быть константной</a:t>
            </a:r>
          </a:p>
          <a:p>
            <a:pPr lvl="1"/>
            <a:r>
              <a:rPr lang="ru-RU" dirty="0"/>
              <a:t>То же самое происходит при инициализации ссылки значением константы</a:t>
            </a:r>
          </a:p>
          <a:p>
            <a:r>
              <a:rPr lang="ru-RU" dirty="0"/>
              <a:t>Изменение значения объекта не сказывается на значении временной копии</a:t>
            </a:r>
            <a:endParaRPr lang="en-US" dirty="0"/>
          </a:p>
          <a:p>
            <a:r>
              <a:rPr lang="ru-RU" dirty="0"/>
              <a:t>Время жизни временного объекта равно области видимости созданной ссылки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4F7C44-259A-ED96-FD16-1D4FF601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159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141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Пример</a:t>
            </a:r>
            <a:r>
              <a:rPr lang="en-US" dirty="0"/>
              <a:t> 1</a:t>
            </a:r>
            <a:endParaRPr lang="ru-RU" dirty="0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829273" y="1624144"/>
            <a:ext cx="8533455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1600" dirty="0" err="1">
                <a:latin typeface="Consolas" panose="020B0609020204030204" pitchFamily="49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a</a:t>
            </a:r>
            <a:r>
              <a:rPr lang="ru-RU" sz="1600" dirty="0">
                <a:latin typeface="Consolas" panose="020B0609020204030204" pitchFamily="49" charset="0"/>
              </a:rPr>
              <a:t> = 1;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</a:rPr>
              <a:t> &amp; </a:t>
            </a:r>
            <a:r>
              <a:rPr lang="ru-RU" sz="1600" dirty="0" err="1">
                <a:latin typeface="Consolas" panose="020B0609020204030204" pitchFamily="49" charset="0"/>
              </a:rPr>
              <a:t>refA</a:t>
            </a:r>
            <a:r>
              <a:rPr lang="ru-RU" sz="1600" dirty="0">
                <a:latin typeface="Consolas" panose="020B0609020204030204" pitchFamily="49" charset="0"/>
              </a:rPr>
              <a:t> = </a:t>
            </a:r>
            <a:r>
              <a:rPr lang="ru-RU" sz="1600" dirty="0" err="1">
                <a:latin typeface="Consolas" panose="020B0609020204030204" pitchFamily="49" charset="0"/>
              </a:rPr>
              <a:t>a</a:t>
            </a:r>
            <a:r>
              <a:rPr lang="ru-RU" sz="1600" dirty="0">
                <a:latin typeface="Consolas" panose="020B0609020204030204" pitchFamily="49" charset="0"/>
              </a:rPr>
              <a:t>;	</a:t>
            </a:r>
            <a:r>
              <a:rPr lang="en-US" sz="1600" dirty="0">
                <a:latin typeface="Consolas" panose="020B0609020204030204" pitchFamily="49" charset="0"/>
              </a:rPr>
              <a:t>		//</a:t>
            </a:r>
            <a:r>
              <a:rPr lang="ru-RU" sz="1600" dirty="0">
                <a:latin typeface="Consolas" panose="020B0609020204030204" pitchFamily="49" charset="0"/>
              </a:rPr>
              <a:t> ссылка на </a:t>
            </a:r>
            <a:r>
              <a:rPr lang="en-US" sz="1600" dirty="0">
                <a:latin typeface="Consolas" panose="020B0609020204030204" pitchFamily="49" charset="0"/>
              </a:rPr>
              <a:t>a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ru-RU" sz="1600" dirty="0">
                <a:latin typeface="Consolas" panose="020B0609020204030204" pitchFamily="49" charset="0"/>
              </a:rPr>
              <a:t>"a = </a:t>
            </a:r>
            <a:r>
              <a:rPr lang="en-US" sz="1600" dirty="0">
                <a:latin typeface="Consolas" panose="020B0609020204030204" pitchFamily="49" charset="0"/>
              </a:rPr>
              <a:t>" &lt;&lt; a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</a:rPr>
              <a:t>++</a:t>
            </a:r>
            <a:r>
              <a:rPr lang="ru-RU" sz="1600" dirty="0" err="1">
                <a:latin typeface="Consolas" panose="020B0609020204030204" pitchFamily="49" charset="0"/>
              </a:rPr>
              <a:t>refA</a:t>
            </a:r>
            <a:r>
              <a:rPr lang="ru-RU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ru-RU" sz="1600" dirty="0">
                <a:latin typeface="Consolas" panose="020B0609020204030204" pitchFamily="49" charset="0"/>
              </a:rPr>
              <a:t>"</a:t>
            </a:r>
            <a:r>
              <a:rPr lang="ru-RU" sz="1600" dirty="0" err="1">
                <a:latin typeface="Consolas" panose="020B0609020204030204" pitchFamily="49" charset="0"/>
              </a:rPr>
              <a:t>Now</a:t>
            </a:r>
            <a:r>
              <a:rPr lang="ru-RU" sz="1600" dirty="0">
                <a:latin typeface="Consolas" panose="020B0609020204030204" pitchFamily="49" charset="0"/>
              </a:rPr>
              <a:t> a = </a:t>
            </a:r>
            <a:r>
              <a:rPr lang="en-US" sz="1600" dirty="0">
                <a:latin typeface="Consolas" panose="020B0609020204030204" pitchFamily="49" charset="0"/>
              </a:rPr>
              <a:t>" &lt;&lt; a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 </a:t>
            </a:r>
            <a:endParaRPr lang="ru-RU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const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double</a:t>
            </a:r>
            <a:r>
              <a:rPr lang="ru-RU" sz="1600" dirty="0">
                <a:latin typeface="Consolas" panose="020B0609020204030204" pitchFamily="49" charset="0"/>
              </a:rPr>
              <a:t>&amp; </a:t>
            </a:r>
            <a:r>
              <a:rPr lang="ru-RU" sz="1600" dirty="0" err="1">
                <a:latin typeface="Consolas" panose="020B0609020204030204" pitchFamily="49" charset="0"/>
              </a:rPr>
              <a:t>refDoubleA</a:t>
            </a:r>
            <a:r>
              <a:rPr lang="ru-RU" sz="1600" dirty="0">
                <a:latin typeface="Consolas" panose="020B0609020204030204" pitchFamily="49" charset="0"/>
              </a:rPr>
              <a:t> = a;</a:t>
            </a:r>
            <a:r>
              <a:rPr lang="en-US" sz="1600" dirty="0">
                <a:latin typeface="Consolas" panose="020B0609020204030204" pitchFamily="49" charset="0"/>
              </a:rPr>
              <a:t>	// </a:t>
            </a:r>
            <a:r>
              <a:rPr lang="ru-RU" sz="1600" dirty="0">
                <a:latin typeface="Consolas" panose="020B0609020204030204" pitchFamily="49" charset="0"/>
              </a:rPr>
              <a:t>ссылка на временный объект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ru-RU" sz="1600" dirty="0">
                <a:latin typeface="Consolas" panose="020B0609020204030204" pitchFamily="49" charset="0"/>
              </a:rPr>
              <a:t>"</a:t>
            </a:r>
            <a:r>
              <a:rPr lang="ru-RU" sz="1600" dirty="0" err="1">
                <a:latin typeface="Consolas" panose="020B0609020204030204" pitchFamily="49" charset="0"/>
              </a:rPr>
              <a:t>refDoubleA</a:t>
            </a:r>
            <a:r>
              <a:rPr lang="ru-RU" sz="1600" dirty="0">
                <a:latin typeface="Consolas" panose="020B0609020204030204" pitchFamily="49" charset="0"/>
              </a:rPr>
              <a:t> = "</a:t>
            </a:r>
            <a:r>
              <a:rPr lang="en-US" sz="1600" dirty="0">
                <a:latin typeface="Consolas" panose="020B0609020204030204" pitchFamily="49" charset="0"/>
              </a:rPr>
              <a:t> &lt;&lt;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refDoubleA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ru-RU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</a:rPr>
              <a:t>// изменение</a:t>
            </a:r>
            <a:r>
              <a:rPr lang="en-US" sz="1600" dirty="0">
                <a:latin typeface="Consolas" panose="020B0609020204030204" pitchFamily="49" charset="0"/>
              </a:rPr>
              <a:t> a </a:t>
            </a:r>
            <a:r>
              <a:rPr lang="ru-RU" sz="1600" dirty="0">
                <a:latin typeface="Consolas" panose="020B0609020204030204" pitchFamily="49" charset="0"/>
              </a:rPr>
              <a:t>не оказывает влияния на </a:t>
            </a:r>
            <a:r>
              <a:rPr lang="en-US" sz="1600" dirty="0" err="1">
                <a:latin typeface="Consolas" panose="020B0609020204030204" pitchFamily="49" charset="0"/>
              </a:rPr>
              <a:t>refDoubleA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++a;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"Now a = " &lt;&lt; a &lt;&lt; “, </a:t>
            </a:r>
            <a:r>
              <a:rPr lang="en-US" sz="1600" dirty="0" err="1">
                <a:latin typeface="Consolas" panose="020B0609020204030204" pitchFamily="49" charset="0"/>
              </a:rPr>
              <a:t>refDoubleA</a:t>
            </a:r>
            <a:r>
              <a:rPr lang="en-US" sz="1600" dirty="0">
                <a:latin typeface="Consolas" panose="020B0609020204030204" pitchFamily="49" charset="0"/>
              </a:rPr>
              <a:t> = " &lt;&lt; </a:t>
            </a:r>
            <a:r>
              <a:rPr lang="en-US" sz="1600" dirty="0" err="1">
                <a:latin typeface="Consolas" panose="020B0609020204030204" pitchFamily="49" charset="0"/>
              </a:rPr>
              <a:t>refDoubleA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5015880" y="5138033"/>
            <a:ext cx="4824412" cy="17002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>
                <a:latin typeface="Courier New" pitchFamily="49" charset="0"/>
              </a:rPr>
              <a:t>OUTPUT:</a:t>
            </a:r>
          </a:p>
          <a:p>
            <a:r>
              <a:rPr lang="en-US" dirty="0">
                <a:latin typeface="Courier New" pitchFamily="49" charset="0"/>
              </a:rPr>
              <a:t>a = 1</a:t>
            </a:r>
          </a:p>
          <a:p>
            <a:r>
              <a:rPr lang="en-US" dirty="0">
                <a:latin typeface="Courier New" pitchFamily="49" charset="0"/>
              </a:rPr>
              <a:t>Now a = 2</a:t>
            </a:r>
          </a:p>
          <a:p>
            <a:endParaRPr lang="en-US" dirty="0">
              <a:latin typeface="Courier New" pitchFamily="49" charset="0"/>
            </a:endParaRPr>
          </a:p>
          <a:p>
            <a:r>
              <a:rPr lang="en-US" dirty="0" err="1">
                <a:latin typeface="Courier New" pitchFamily="49" charset="0"/>
              </a:rPr>
              <a:t>refDoubleA</a:t>
            </a:r>
            <a:r>
              <a:rPr lang="en-US" dirty="0">
                <a:latin typeface="Courier New" pitchFamily="49" charset="0"/>
              </a:rPr>
              <a:t> = 2.00000</a:t>
            </a:r>
          </a:p>
          <a:p>
            <a:r>
              <a:rPr lang="en-US" dirty="0">
                <a:latin typeface="Courier New" pitchFamily="49" charset="0"/>
              </a:rPr>
              <a:t>Now a = 3, </a:t>
            </a:r>
            <a:r>
              <a:rPr lang="en-US" dirty="0" err="1">
                <a:latin typeface="Courier New" pitchFamily="49" charset="0"/>
              </a:rPr>
              <a:t>refDoubleA</a:t>
            </a:r>
            <a:r>
              <a:rPr lang="en-US" dirty="0">
                <a:latin typeface="Courier New" pitchFamily="49" charset="0"/>
              </a:rPr>
              <a:t> = 2.00000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1B5C63-FF4D-460D-AB61-062E6D922E89}"/>
              </a:ext>
            </a:extLst>
          </p:cNvPr>
          <p:cNvSpPr/>
          <p:nvPr/>
        </p:nvSpPr>
        <p:spPr>
          <a:xfrm>
            <a:off x="1619655" y="5399375"/>
            <a:ext cx="5041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D0C6D-75EB-4D59-ADC0-ED361901601E}"/>
              </a:ext>
            </a:extLst>
          </p:cNvPr>
          <p:cNvSpPr txBox="1"/>
          <p:nvPr/>
        </p:nvSpPr>
        <p:spPr>
          <a:xfrm>
            <a:off x="1511643" y="5759416"/>
            <a:ext cx="7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 err="1"/>
              <a:t>refA</a:t>
            </a:r>
            <a:endParaRPr lang="ru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25DBA5-0E12-4FA5-9E3D-AD3C5C5BD880}"/>
              </a:ext>
            </a:extLst>
          </p:cNvPr>
          <p:cNvSpPr/>
          <p:nvPr/>
        </p:nvSpPr>
        <p:spPr>
          <a:xfrm>
            <a:off x="1608718" y="5399375"/>
            <a:ext cx="5041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854E4-5C65-420A-9BBB-4EE6CFDEA4D6}"/>
              </a:ext>
            </a:extLst>
          </p:cNvPr>
          <p:cNvSpPr/>
          <p:nvPr/>
        </p:nvSpPr>
        <p:spPr>
          <a:xfrm>
            <a:off x="3119683" y="5399375"/>
            <a:ext cx="5041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2.0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769C58-F950-4C7B-8D25-045C6BDBAD79}"/>
              </a:ext>
            </a:extLst>
          </p:cNvPr>
          <p:cNvSpPr txBox="1"/>
          <p:nvPr/>
        </p:nvSpPr>
        <p:spPr>
          <a:xfrm>
            <a:off x="2735778" y="5759415"/>
            <a:ext cx="1271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refDoubleA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47ACF-8FFB-4E1B-B86C-C1491CC8018F}"/>
              </a:ext>
            </a:extLst>
          </p:cNvPr>
          <p:cNvSpPr/>
          <p:nvPr/>
        </p:nvSpPr>
        <p:spPr>
          <a:xfrm>
            <a:off x="1619531" y="5399375"/>
            <a:ext cx="5041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7748B-ECE6-5515-5251-572AB31E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160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555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3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35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235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7" grpId="0" animBg="1"/>
      <p:bldP spid="8" grpId="0" animBg="1"/>
      <p:bldP spid="9" grpId="0"/>
      <p:bldP spid="10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916833"/>
            <a:ext cx="87861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7938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iostream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defTabSz="17938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17938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17938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defTabSz="17938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argv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[])</a:t>
            </a:r>
          </a:p>
          <a:p>
            <a:pPr defTabSz="17938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17938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int&amp; </a:t>
            </a:r>
            <a:r>
              <a:rPr lang="en-US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wontCompile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Add(10, 20);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Ошибка компиляции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endParaRPr lang="en-US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const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result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(10, 20);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OK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r>
              <a:rPr lang="en-US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result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17938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pPr defTabSz="17938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A6F8A-F8C0-A130-38DA-AB321332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90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Пространства имен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EC8B0-BD24-FAAF-B954-4573C35A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85416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Пространства имен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Логически сгруппируют классы, переменные и функции в именованные области</a:t>
            </a:r>
          </a:p>
          <a:p>
            <a:pPr lvl="1"/>
            <a:r>
              <a:rPr lang="ru-RU" dirty="0"/>
              <a:t>Позволяют избежать конфликта имен идентификаторов в различных модулях проекта</a:t>
            </a:r>
          </a:p>
          <a:p>
            <a:pPr lvl="1"/>
            <a:r>
              <a:rPr lang="ru-RU" dirty="0"/>
              <a:t>Разбивают программу на функциональные единицы</a:t>
            </a:r>
            <a:endParaRPr lang="en-US" dirty="0"/>
          </a:p>
          <a:p>
            <a:r>
              <a:rPr lang="ru-RU" dirty="0"/>
              <a:t>Доступ к идентификатору внутри пространства имен:</a:t>
            </a:r>
          </a:p>
          <a:p>
            <a:pPr lvl="1"/>
            <a:r>
              <a:rPr lang="en-US" dirty="0"/>
              <a:t>&lt;namespace&gt;::&lt;identifier&gt;</a:t>
            </a:r>
          </a:p>
          <a:p>
            <a:pPr lvl="1"/>
            <a:r>
              <a:rPr lang="ru-RU" dirty="0"/>
              <a:t>Либо:</a:t>
            </a:r>
          </a:p>
          <a:p>
            <a:pPr lvl="2"/>
            <a:r>
              <a:rPr lang="en-US" b="1" dirty="0">
                <a:latin typeface="Courier New" pitchFamily="49" charset="0"/>
                <a:cs typeface="Courier New" pitchFamily="49" charset="0"/>
              </a:rPr>
              <a:t>using namespace &lt;namespace&gt;; &lt;identifier&gt;;</a:t>
            </a:r>
          </a:p>
          <a:p>
            <a:pPr lvl="1"/>
            <a:r>
              <a:rPr lang="ru-RU" dirty="0"/>
              <a:t>Либо:</a:t>
            </a:r>
          </a:p>
          <a:p>
            <a:pPr lvl="2"/>
            <a:r>
              <a:rPr lang="en-US" b="1" dirty="0">
                <a:latin typeface="Courier New" pitchFamily="49" charset="0"/>
                <a:cs typeface="Courier New" pitchFamily="49" charset="0"/>
              </a:rPr>
              <a:t>using &lt;namespace&gt;::&lt;identifier&gt;; &lt;identifier&gt;;</a:t>
            </a:r>
          </a:p>
          <a:p>
            <a:pPr lvl="1"/>
            <a:r>
              <a:rPr lang="ru-RU" b="1" dirty="0">
                <a:solidFill>
                  <a:srgbClr val="FF0000"/>
                </a:solidFill>
              </a:rPr>
              <a:t>Не рекомендуется использовать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ru-RU" b="1" dirty="0">
                <a:solidFill>
                  <a:srgbClr val="FF0000"/>
                </a:solidFill>
              </a:rPr>
              <a:t>в заголовочных файлах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D2767E-28EB-5F0A-C9BB-7A09550B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163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256388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D0D00F-4FB3-14D4-826E-2565043E66B6}"/>
              </a:ext>
            </a:extLst>
          </p:cNvPr>
          <p:cNvSpPr txBox="1"/>
          <p:nvPr/>
        </p:nvSpPr>
        <p:spPr>
          <a:xfrm>
            <a:off x="0" y="0"/>
            <a:ext cx="12192000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graphics {</a:t>
            </a: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shapes {</a:t>
            </a: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shapes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(shapes::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...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graphics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graphics::shapes::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Print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найдена благодаря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ADL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graphics::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Надо указать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namespace,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т.к.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ADL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найдёт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Draw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graphics::shapes::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можно не указывать полное имя для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B3747C-4B6B-3E14-1EED-2FC2E6C3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31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DFBFA6-051A-9BB3-FF66-A9C0FE71D755}"/>
              </a:ext>
            </a:extLst>
          </p:cNvPr>
          <p:cNvSpPr txBox="1"/>
          <p:nvPr/>
        </p:nvSpPr>
        <p:spPr>
          <a:xfrm>
            <a:off x="479376" y="1916832"/>
            <a:ext cx="8664624" cy="3511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game::units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Monster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game::units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game::units;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Monster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1D0156-596E-9E6B-DCFF-BC34708B9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namespace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15ADED-65AA-2486-7E9D-B9A72FD9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45043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5103C-323E-8D76-71BF-5E65FF0F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Безымянное пространство имён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F53CF8-A13B-BDDA-01AA-AC8F3ABC0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Типы, функции и переменные, объявленные в безымянном пространстве имён видны только в текущей единице компиляции</a:t>
            </a:r>
          </a:p>
          <a:p>
            <a:r>
              <a:rPr lang="ru-RU" dirty="0"/>
              <a:t>Полезно для объявления внутренних функций</a:t>
            </a:r>
            <a:endParaRPr lang="en-US" dirty="0"/>
          </a:p>
          <a:p>
            <a:r>
              <a:rPr lang="ru-RU" dirty="0"/>
              <a:t>Может помочь</a:t>
            </a:r>
            <a:r>
              <a:rPr lang="en-US" dirty="0"/>
              <a:t> </a:t>
            </a:r>
            <a:r>
              <a:rPr lang="ru-RU" dirty="0"/>
              <a:t>компилятору сгенерировать более компактный код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D1519-B99D-2022-C87C-3165EE01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1641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460D70F-F6A2-EEC5-DE28-A547D0EA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Безымянное пространство имён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8E9FB-7B02-D86B-5D23-CAC2D7837A0C}"/>
              </a:ext>
            </a:extLst>
          </p:cNvPr>
          <p:cNvSpPr txBox="1"/>
          <p:nvPr/>
        </p:nvSpPr>
        <p:spPr>
          <a:xfrm>
            <a:off x="838200" y="1690688"/>
            <a:ext cx="662595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amespace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6CE745-52BB-5163-8442-AC235116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92529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7370F-25DC-48AA-E054-A2D73468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97F2B-2623-5F17-4AC4-AC4450879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41D854-6972-8CB6-04DB-0CC59BE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4419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c3a95a37d3a97989ff551949289caca977b538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0a06c30c-1a84-4c3c-88f2-52f8134e2fa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468b760-d21f-4b9a-b4bb-b9454236800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16a3d9b-9a9b-42fd-8d37-05d3a0dff17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03ca51e0-bee1-4945-8143-f70e9fe8c26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445f255-20b6-418f-a681-daf75d333e4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e7f39d22-865e-4622-9424-21203f10746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6c14351-203c-4bab-a64f-8db965375a9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a66f4e05-0c29-42fe-9510-8bcc1bb11f3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4e39d70-acf2-443e-bc74-543f339393e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792390c-0700-4d67-8db1-a8def57983e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376aa09-42f2-4146-9979-56f11bcc202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dd64c24-d77f-4179-a7e2-959a76fbfc5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bf111303-a328-420d-94dc-8146e91fb77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9a5b9c49-51d4-46fc-ad39-68579314f34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a5560c53-51da-4200-b7e0-063f216478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aabbabe-da9c-4bc7-b9f7-84e26f1d1e2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5202fc00-fdc4-4ac8-b1dc-727b60cfc0ef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63919f9-1628-465b-a9d9-8733a4d1da5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b3d50974-e8b4-4fd0-aa12-aa05a8c9bc1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a2a686c-65cf-4d27-9bec-b5d57179d50f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e0234f17-c664-4231-8e77-e6090b8c369c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c5e48b2-04f1-4b8c-b3ab-1ab34153803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5498dcb-2f53-492e-9b1c-b216ed11891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8b81ab7-c33a-4d75-8440-8219e5506a1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6360dc64-917d-47e5-a9df-c9eb864c9a3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5387d9a-cbe8-43ab-a887-ba836a76bbc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8b71a03-80df-4941-b333-6eafaf1cd6b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8a1e342-ab70-43c0-9792-e41d387c88c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499871ab-39d2-4b44-9892-af810a7fe3c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3e94e51-27a8-415a-8c3e-50bef722dfb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05a64ecc-9111-4351-b55d-b3dd4b0984d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7c6d9cc-71a8-4443-97c4-8238020b791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0e6de43-dba4-4dbc-b400-e715b96f98b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7088</TotalTime>
  <Words>22528</Words>
  <Application>Microsoft Office PowerPoint</Application>
  <PresentationFormat>Widescreen</PresentationFormat>
  <Paragraphs>3031</Paragraphs>
  <Slides>168</Slides>
  <Notes>102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168</vt:i4>
      </vt:variant>
    </vt:vector>
  </HeadingPairs>
  <TitlesOfParts>
    <vt:vector size="178" baseType="lpstr">
      <vt:lpstr>-apple-system</vt:lpstr>
      <vt:lpstr>Arial</vt:lpstr>
      <vt:lpstr>Arial Narrow</vt:lpstr>
      <vt:lpstr>Calibri</vt:lpstr>
      <vt:lpstr>Calibri Light</vt:lpstr>
      <vt:lpstr>Cambria Math</vt:lpstr>
      <vt:lpstr>Consolas</vt:lpstr>
      <vt:lpstr>Courier New</vt:lpstr>
      <vt:lpstr>Lucida Console</vt:lpstr>
      <vt:lpstr>Office Theme</vt:lpstr>
      <vt:lpstr>Синтаксис языка C++</vt:lpstr>
      <vt:lpstr>Язык С++</vt:lpstr>
      <vt:lpstr>Программа Hello, World!</vt:lpstr>
      <vt:lpstr>Встроенные типы данных</vt:lpstr>
      <vt:lpstr>Типы данных языка C++</vt:lpstr>
      <vt:lpstr>Числовые литералы</vt:lpstr>
      <vt:lpstr>Быстрый тест</vt:lpstr>
      <vt:lpstr>Пример – определение чётности числа</vt:lpstr>
      <vt:lpstr>Символьные константы</vt:lpstr>
      <vt:lpstr>Строковые константы (строковые литералы)</vt:lpstr>
      <vt:lpstr>PowerPoint Presentation</vt:lpstr>
      <vt:lpstr>Представление строкового литерала в памяти</vt:lpstr>
      <vt:lpstr>Подробнее о целых числах</vt:lpstr>
      <vt:lpstr>Знаковые и беззнаковые целые числа</vt:lpstr>
      <vt:lpstr>Прочие целые числа</vt:lpstr>
      <vt:lpstr>PowerPoint Presentation</vt:lpstr>
      <vt:lpstr>Числа с плавающей запятой</vt:lpstr>
      <vt:lpstr>Пример – вычисление площади окружности</vt:lpstr>
      <vt:lpstr>Объявление переменных</vt:lpstr>
      <vt:lpstr>Объявление локальных переменных и констант</vt:lpstr>
      <vt:lpstr>Автоматическое определение типа переменной</vt:lpstr>
      <vt:lpstr>Область видимости переменной</vt:lpstr>
      <vt:lpstr>Объявление глобальных переменных</vt:lpstr>
      <vt:lpstr>Стандартный ввод-вывод</vt:lpstr>
      <vt:lpstr>Ввод-вывод чисел</vt:lpstr>
      <vt:lpstr>Ввод-вывод строк</vt:lpstr>
      <vt:lpstr>Синонимы типов</vt:lpstr>
      <vt:lpstr>Синонимы типа</vt:lpstr>
      <vt:lpstr>PowerPoint Presentation</vt:lpstr>
      <vt:lpstr>PowerPoint Presentation</vt:lpstr>
      <vt:lpstr>Синонимы типов с стиле C</vt:lpstr>
      <vt:lpstr>PowerPoint Presentation</vt:lpstr>
      <vt:lpstr>Перечислимый тип данных</vt:lpstr>
      <vt:lpstr>Перечислимый тип данных</vt:lpstr>
      <vt:lpstr>Пример</vt:lpstr>
      <vt:lpstr>Проблема enum</vt:lpstr>
      <vt:lpstr>Scoped enum (enum class, C++11)</vt:lpstr>
      <vt:lpstr>PowerPoint Presentation</vt:lpstr>
      <vt:lpstr>Операторы</vt:lpstr>
      <vt:lpstr>Основные операторы</vt:lpstr>
      <vt:lpstr>Арифметические операторы</vt:lpstr>
      <vt:lpstr>Пример</vt:lpstr>
      <vt:lpstr>Операторы отношения </vt:lpstr>
      <vt:lpstr>Логические операторы</vt:lpstr>
      <vt:lpstr>Нахождение максимума 3-х чисел</vt:lpstr>
      <vt:lpstr>Определяем високосный год</vt:lpstr>
      <vt:lpstr>Альтернативные логические операторы</vt:lpstr>
      <vt:lpstr>Операторы инкремента и декремента</vt:lpstr>
      <vt:lpstr>PowerPoint Presentation</vt:lpstr>
      <vt:lpstr>Операторы обработки битов</vt:lpstr>
      <vt:lpstr>PowerPoint Presentation</vt:lpstr>
      <vt:lpstr>Операторы и выражения присваивания</vt:lpstr>
      <vt:lpstr>Наивный аналог std::popcount</vt:lpstr>
      <vt:lpstr>Чтение чисел до первого отрицательного</vt:lpstr>
      <vt:lpstr>Условное выражение</vt:lpstr>
      <vt:lpstr>Приоритет и ассоциативность операций</vt:lpstr>
      <vt:lpstr>Преобразование типов</vt:lpstr>
      <vt:lpstr>Преобразование типов</vt:lpstr>
      <vt:lpstr>Опасность неявного приведения типов</vt:lpstr>
      <vt:lpstr>Явное приведение типов (в стиле C)</vt:lpstr>
      <vt:lpstr>Недостатки оператора преобразования типов в стиле C</vt:lpstr>
      <vt:lpstr>Пример</vt:lpstr>
      <vt:lpstr>Преобразование типов в C++</vt:lpstr>
      <vt:lpstr>Оператор static_cast</vt:lpstr>
      <vt:lpstr>Пример</vt:lpstr>
      <vt:lpstr>Оператор const_cast</vt:lpstr>
      <vt:lpstr>Снятие константности с константного объекта вызывает UB</vt:lpstr>
      <vt:lpstr>Оператор reinterpret_cast</vt:lpstr>
      <vt:lpstr>PowerPoint Presentation</vt:lpstr>
      <vt:lpstr>Оператор dynamic_cast</vt:lpstr>
      <vt:lpstr>Управление выполнением программы</vt:lpstr>
      <vt:lpstr>Инструкции и блоки</vt:lpstr>
      <vt:lpstr>Блоки и область видимости</vt:lpstr>
      <vt:lpstr>Инструкция if-else</vt:lpstr>
      <vt:lpstr>Пример</vt:lpstr>
      <vt:lpstr>В выражении if можно объявлять переменные</vt:lpstr>
      <vt:lpstr>Значение объявленной переменной участвует в проверке условия</vt:lpstr>
      <vt:lpstr>Конструкция else-if</vt:lpstr>
      <vt:lpstr>Пример: выставление оценки в зависимости от баллов</vt:lpstr>
      <vt:lpstr>Пример, бинарный поиск</vt:lpstr>
      <vt:lpstr>Оператор switch</vt:lpstr>
      <vt:lpstr>PowerPoint Presentation</vt:lpstr>
      <vt:lpstr>PowerPoint Presentation</vt:lpstr>
      <vt:lpstr>Циклическое выполнение</vt:lpstr>
      <vt:lpstr>Циклы в C++</vt:lpstr>
      <vt:lpstr>Инструкция while</vt:lpstr>
      <vt:lpstr>Пример: нахождение наибольшего общего делителя</vt:lpstr>
      <vt:lpstr>Инструкция for</vt:lpstr>
      <vt:lpstr>Простой цикл for</vt:lpstr>
      <vt:lpstr>Range-based for</vt:lpstr>
      <vt:lpstr>Пример: обход элементов массива</vt:lpstr>
      <vt:lpstr>PowerPoint Presentation</vt:lpstr>
      <vt:lpstr>Цикл do-while</vt:lpstr>
      <vt:lpstr>Пример</vt:lpstr>
      <vt:lpstr>Бесконечные циклы for, while, do-while</vt:lpstr>
      <vt:lpstr>Инструкции break и continue</vt:lpstr>
      <vt:lpstr>Пример: поиск простых чисел</vt:lpstr>
      <vt:lpstr>Инструкция goto</vt:lpstr>
      <vt:lpstr>Пример</vt:lpstr>
      <vt:lpstr>Функции</vt:lpstr>
      <vt:lpstr>Функция</vt:lpstr>
      <vt:lpstr>Примеры функций</vt:lpstr>
      <vt:lpstr>Объявление и определение функции</vt:lpstr>
      <vt:lpstr>Тест</vt:lpstr>
      <vt:lpstr>Передача параметров по значению</vt:lpstr>
      <vt:lpstr>Передача аргумента по значению</vt:lpstr>
      <vt:lpstr>PowerPoint Presentation</vt:lpstr>
      <vt:lpstr>Передача аргумента по ссылке</vt:lpstr>
      <vt:lpstr>PowerPoint Presentation</vt:lpstr>
      <vt:lpstr>PowerPoint Presentation</vt:lpstr>
      <vt:lpstr>Что выведет программа, если ввести 4?</vt:lpstr>
      <vt:lpstr>Ограничения параметров по ссылке</vt:lpstr>
      <vt:lpstr>PowerPoint Presentation</vt:lpstr>
      <vt:lpstr>Передача по константной ссылке</vt:lpstr>
      <vt:lpstr>Передача по константной ссылке</vt:lpstr>
      <vt:lpstr>Простые типы передавайте по значению</vt:lpstr>
      <vt:lpstr>Выбора способа передачи параметра в функцию</vt:lpstr>
      <vt:lpstr>По ссылке или по значению?</vt:lpstr>
      <vt:lpstr>По ссылке или по значению?</vt:lpstr>
      <vt:lpstr>По ссылке или по значению?</vt:lpstr>
      <vt:lpstr>По ссылке или по значению?</vt:lpstr>
      <vt:lpstr>По ссылке или по значению?</vt:lpstr>
      <vt:lpstr>Выберите подходящий способ передачи параметра в функцию</vt:lpstr>
      <vt:lpstr>Выберите подходящий способ передачи параметра в функцию</vt:lpstr>
      <vt:lpstr>Выберите подходящий способ передачи параметра в функцию</vt:lpstr>
      <vt:lpstr>Выберите подходящий способ передачи параметра в функцию</vt:lpstr>
      <vt:lpstr>Выберите подходящий способ передачи параметра в функцию</vt:lpstr>
      <vt:lpstr>Перегрузка функций</vt:lpstr>
      <vt:lpstr>Структуры</vt:lpstr>
      <vt:lpstr>Пытаемся описать в программе человека</vt:lpstr>
      <vt:lpstr>Структуры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Инициализация структур</vt:lpstr>
      <vt:lpstr>PowerPoint Presentation</vt:lpstr>
      <vt:lpstr>PowerPoint Presentation</vt:lpstr>
      <vt:lpstr>PowerPoint Presentation</vt:lpstr>
      <vt:lpstr>Многофайловые программы</vt:lpstr>
      <vt:lpstr>Многофайловые программы</vt:lpstr>
      <vt:lpstr>Заголовочные файлы и файлы реализации</vt:lpstr>
      <vt:lpstr>Встраиваемые (inline) функции в заголовочных файлах</vt:lpstr>
      <vt:lpstr>Массивы</vt:lpstr>
      <vt:lpstr>Массивы</vt:lpstr>
      <vt:lpstr>PowerPoint Presentation</vt:lpstr>
      <vt:lpstr>Массивы символов</vt:lpstr>
      <vt:lpstr>Определение размера массива</vt:lpstr>
      <vt:lpstr>Многомерные массивы</vt:lpstr>
      <vt:lpstr>Передача массива в функцию</vt:lpstr>
      <vt:lpstr>Ссылки</vt:lpstr>
      <vt:lpstr>Ссылка</vt:lpstr>
      <vt:lpstr>PowerPoint Presentation</vt:lpstr>
      <vt:lpstr>Обмен значений переменных</vt:lpstr>
      <vt:lpstr>Константные ссылки в качестве параметров функций</vt:lpstr>
      <vt:lpstr>Вывод структуры</vt:lpstr>
      <vt:lpstr>Ссылки на временные объекты</vt:lpstr>
      <vt:lpstr>Пример 1</vt:lpstr>
      <vt:lpstr>Пример 2</vt:lpstr>
      <vt:lpstr>Пространства имен</vt:lpstr>
      <vt:lpstr>Пространства имен</vt:lpstr>
      <vt:lpstr>PowerPoint Presentation</vt:lpstr>
      <vt:lpstr>using namespace</vt:lpstr>
      <vt:lpstr>Безымянное пространство имён</vt:lpstr>
      <vt:lpstr>Безымянное пространство имён</vt:lpstr>
      <vt:lpstr>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Vivid</dc:creator>
  <cp:lastModifiedBy>Алексей Малов</cp:lastModifiedBy>
  <cp:revision>324</cp:revision>
  <dcterms:created xsi:type="dcterms:W3CDTF">2016-02-02T19:36:42Z</dcterms:created>
  <dcterms:modified xsi:type="dcterms:W3CDTF">2026-02-12T18:04:39Z</dcterms:modified>
</cp:coreProperties>
</file>